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b241d7e1f6140e4" /><Relationship Type="http://schemas.openxmlformats.org/officeDocument/2006/relationships/extended-properties" Target="/docProps/app.xml" Id="R7bd3e0c292fb4569" /><Relationship Type="http://schemas.openxmlformats.org/officeDocument/2006/relationships/officeDocument" Target="/ppt/presentation.xml" Id="Rbb50ec12279c4ac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29d2f2a0e854339"/>
  </p:sldMasterIdLst>
  <p:notesMasterIdLst>
    <p:notesMasterId xmlns:r="http://schemas.openxmlformats.org/officeDocument/2006/relationships" r:id="R034574403c854840"/>
  </p:notesMasterIdLst>
  <p:sldIdLst>
    <p:sldId xmlns:r="http://schemas.openxmlformats.org/officeDocument/2006/relationships" id="256" r:id="R01f5d319057e4965"/>
    <p:sldId xmlns:r="http://schemas.openxmlformats.org/officeDocument/2006/relationships" id="257" r:id="R38044172d95e4f65"/>
    <p:sldId xmlns:r="http://schemas.openxmlformats.org/officeDocument/2006/relationships" id="258" r:id="Rf35abbfa75244789"/>
    <p:sldId xmlns:r="http://schemas.openxmlformats.org/officeDocument/2006/relationships" id="259" r:id="R7fd31749d09649dc"/>
    <p:sldId xmlns:r="http://schemas.openxmlformats.org/officeDocument/2006/relationships" id="260" r:id="Re672cd3112ed4d29"/>
    <p:sldId xmlns:r="http://schemas.openxmlformats.org/officeDocument/2006/relationships" id="261" r:id="Re6f22b6bfc5f4a9a"/>
    <p:sldId xmlns:r="http://schemas.openxmlformats.org/officeDocument/2006/relationships" id="262" r:id="R7d82377fe12e43db"/>
    <p:sldId xmlns:r="http://schemas.openxmlformats.org/officeDocument/2006/relationships" id="263" r:id="R007cca64ec41427f"/>
    <p:sldId xmlns:r="http://schemas.openxmlformats.org/officeDocument/2006/relationships" id="264" r:id="R6e0e22b688b647a2"/>
    <p:sldId xmlns:r="http://schemas.openxmlformats.org/officeDocument/2006/relationships" id="265" r:id="R631fd9d5067b4598"/>
    <p:sldId xmlns:r="http://schemas.openxmlformats.org/officeDocument/2006/relationships" id="266" r:id="Rc0ff86b926f442c0"/>
    <p:sldId xmlns:r="http://schemas.openxmlformats.org/officeDocument/2006/relationships" id="267" r:id="R531b8f8a9ce348fb"/>
    <p:sldId xmlns:r="http://schemas.openxmlformats.org/officeDocument/2006/relationships" id="268" r:id="R440738f45a39419e"/>
    <p:sldId xmlns:r="http://schemas.openxmlformats.org/officeDocument/2006/relationships" id="269" r:id="R22ca599b206d4eab"/>
    <p:sldId xmlns:r="http://schemas.openxmlformats.org/officeDocument/2006/relationships" id="270" r:id="R8f2331a2311d4f98"/>
    <p:sldId xmlns:r="http://schemas.openxmlformats.org/officeDocument/2006/relationships" id="271" r:id="R91d7a111fbc84e7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b399086846846b8" /><Relationship Type="http://schemas.openxmlformats.org/officeDocument/2006/relationships/slideMaster" Target="/ppt/slideMasters/slideMaster1.xml" Id="R129d2f2a0e854339" /><Relationship Type="http://schemas.openxmlformats.org/officeDocument/2006/relationships/notesMaster" Target="/ppt/notesMasters/notesMaster1.xml" Id="R034574403c854840" /><Relationship Type="http://schemas.openxmlformats.org/officeDocument/2006/relationships/presProps" Target="/ppt/presProps.xml" Id="R70e28eaa87764fbf" /><Relationship Type="http://schemas.openxmlformats.org/officeDocument/2006/relationships/tableStyles" Target="/ppt/tableStyles.xml" Id="R5ddc57683b754e6a" /><Relationship Type="http://schemas.openxmlformats.org/officeDocument/2006/relationships/slide" Target="/ppt/slides/slide1.xml" Id="R01f5d319057e4965" /><Relationship Type="http://schemas.openxmlformats.org/officeDocument/2006/relationships/slide" Target="/ppt/slides/slide2.xml" Id="R38044172d95e4f65" /><Relationship Type="http://schemas.openxmlformats.org/officeDocument/2006/relationships/slide" Target="/ppt/slides/slide3.xml" Id="Rf35abbfa75244789" /><Relationship Type="http://schemas.openxmlformats.org/officeDocument/2006/relationships/slide" Target="/ppt/slides/slide4.xml" Id="R7fd31749d09649dc" /><Relationship Type="http://schemas.openxmlformats.org/officeDocument/2006/relationships/slide" Target="/ppt/slides/slide5.xml" Id="Re672cd3112ed4d29" /><Relationship Type="http://schemas.openxmlformats.org/officeDocument/2006/relationships/slide" Target="/ppt/slides/slide6.xml" Id="Re6f22b6bfc5f4a9a" /><Relationship Type="http://schemas.openxmlformats.org/officeDocument/2006/relationships/slide" Target="/ppt/slides/slide7.xml" Id="R7d82377fe12e43db" /><Relationship Type="http://schemas.openxmlformats.org/officeDocument/2006/relationships/slide" Target="/ppt/slides/slide8.xml" Id="R007cca64ec41427f" /><Relationship Type="http://schemas.openxmlformats.org/officeDocument/2006/relationships/slide" Target="/ppt/slides/slide9.xml" Id="R6e0e22b688b647a2" /><Relationship Type="http://schemas.openxmlformats.org/officeDocument/2006/relationships/slide" Target="/ppt/slides/slide10.xml" Id="R631fd9d5067b4598" /><Relationship Type="http://schemas.openxmlformats.org/officeDocument/2006/relationships/slide" Target="/ppt/slides/slide11.xml" Id="Rc0ff86b926f442c0" /><Relationship Type="http://schemas.openxmlformats.org/officeDocument/2006/relationships/slide" Target="/ppt/slides/slide12.xml" Id="R531b8f8a9ce348fb" /><Relationship Type="http://schemas.openxmlformats.org/officeDocument/2006/relationships/slide" Target="/ppt/slides/slide13.xml" Id="R440738f45a39419e" /><Relationship Type="http://schemas.openxmlformats.org/officeDocument/2006/relationships/slide" Target="/ppt/slides/slide14.xml" Id="R22ca599b206d4eab" /><Relationship Type="http://schemas.openxmlformats.org/officeDocument/2006/relationships/slide" Target="/ppt/slides/slide15.xml" Id="R8f2331a2311d4f98" /><Relationship Type="http://schemas.openxmlformats.org/officeDocument/2006/relationships/slide" Target="/ppt/slides/slide16.xml" Id="R91d7a111fbc84e7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37a3be10b0e4d9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2b8d76a9d844fc6" /><Relationship Type="http://schemas.openxmlformats.org/officeDocument/2006/relationships/notesMaster" Target="/ppt/notesMasters/notesMaster1.xml" Id="R18d1d0e6d7a948a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989f381ffa14afb" /><Relationship Type="http://schemas.openxmlformats.org/officeDocument/2006/relationships/notesMaster" Target="/ppt/notesMasters/notesMaster1.xml" Id="R0565d635469f4c3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bebddbcde494a42" /><Relationship Type="http://schemas.openxmlformats.org/officeDocument/2006/relationships/notesMaster" Target="/ppt/notesMasters/notesMaster1.xml" Id="Rd3378a895e4842f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eaa89cf7ae34357" /><Relationship Type="http://schemas.openxmlformats.org/officeDocument/2006/relationships/notesMaster" Target="/ppt/notesMasters/notesMaster1.xml" Id="Rff41158521a04f8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bfc20cd60c544c1" /><Relationship Type="http://schemas.openxmlformats.org/officeDocument/2006/relationships/notesMaster" Target="/ppt/notesMasters/notesMaster1.xml" Id="R783a6eca113a478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ebfa1edbe854191" /><Relationship Type="http://schemas.openxmlformats.org/officeDocument/2006/relationships/notesMaster" Target="/ppt/notesMasters/notesMaster1.xml" Id="R4ce289152d85475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786c3179c554c43" /><Relationship Type="http://schemas.openxmlformats.org/officeDocument/2006/relationships/notesMaster" Target="/ppt/notesMasters/notesMaster1.xml" Id="R6d10091455b54b9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3d3bd4bf95e40fd" /><Relationship Type="http://schemas.openxmlformats.org/officeDocument/2006/relationships/notesMaster" Target="/ppt/notesMasters/notesMaster1.xml" Id="Rf6c3e7e89285430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3a6c3edea8642cd" /><Relationship Type="http://schemas.openxmlformats.org/officeDocument/2006/relationships/notesMaster" Target="/ppt/notesMasters/notesMaster1.xml" Id="R0bd1cd43b187469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59968af232c4ca8" /><Relationship Type="http://schemas.openxmlformats.org/officeDocument/2006/relationships/notesMaster" Target="/ppt/notesMasters/notesMaster1.xml" Id="Rc96c9d535cac40b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442f2902d79458a" /><Relationship Type="http://schemas.openxmlformats.org/officeDocument/2006/relationships/notesMaster" Target="/ppt/notesMasters/notesMaster1.xml" Id="R01c962621948497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1f88c04081e4c4e" /><Relationship Type="http://schemas.openxmlformats.org/officeDocument/2006/relationships/notesMaster" Target="/ppt/notesMasters/notesMaster1.xml" Id="Rfbf65f03b63a478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b25c9b01aab4e1c" /><Relationship Type="http://schemas.openxmlformats.org/officeDocument/2006/relationships/notesMaster" Target="/ppt/notesMasters/notesMaster1.xml" Id="R653587b85f434c4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986cd810f2444ba" /><Relationship Type="http://schemas.openxmlformats.org/officeDocument/2006/relationships/notesMaster" Target="/ppt/notesMasters/notesMaster1.xml" Id="R48f1b1a0be5e492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d99c5ee21f24208" /><Relationship Type="http://schemas.openxmlformats.org/officeDocument/2006/relationships/notesMaster" Target="/ppt/notesMasters/notesMaster1.xml" Id="Rb82f3bc9801145c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c2d996e1edc404f" /><Relationship Type="http://schemas.openxmlformats.org/officeDocument/2006/relationships/notesMaster" Target="/ppt/notesMasters/notesMaster1.xml" Id="Rcb8159f2b1194cb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今天我会先讲空间转录组数据和常规分析流程，再介绍我如何把这个流程做成一个可交互、可追踪、可解释的 Agent。重点不是单个算法，而是把标准分析流程组织成一个可靠系统。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空间转录组的关键不是多一个坐标，而是让表达矩阵重新回到组织结构中。普通转录组回答表达了什么，单细胞回答有哪些状态，空间转录组进一步回答这些状态在哪里。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这里强调数据结构。X 是表达矩阵，obs 和 var 是 metadata，obsm spatial 存坐标，raw 和 layers 存不同表达层。这也是为什么 Agent 必须先检查数据。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不同平台的数据对象不完全一样。一个好的 Agent 不能只适配一种 toy data，要围绕表达矩阵加空间坐标这个共同结构设计，同时对平台差异保持谨慎。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这套流程继承了单细胞分析的一部分方法，同时加入空间坐标和组织结构信息。后面我的 Agent 就是把这些步骤拆成工具并组织成流程。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QC 不是形式步骤。后面所有聚类、marker、空间解释都依赖它。尤其是表达层判断，如果把 scaled matrix 当 counts 解释，就会产生伪结论。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UMAP 回答表达状态是否相似，Spatial 图回答这些状态在组织中在哪里。gene panel 再看目标基因是否具有空间区域性。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空间转录组的解释很容易讲过头。cluster 不是细胞类型，空间表达集中也不是因果机制。所以项目里每条解释都要有 evidence ID 和 caveat。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Agent 的价值不是替代 Scanpy 或 Squidpy，而是把分析流程组织起来。先检查数据，再生成计划，再执行工具，再根据证据解释。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这里 LLM 不是直接拿矩阵做计算，而是负责理解问题、补全计划、解释 evidence pack。数值计算交给工具层。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这页说明 Agent 不是空泛概念，而是把标准空间转录组流程拆成明确工具契约。每一步都有对应工具和可追踪输出。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四个页面对应用户真实分析顺序。Project 先理解数据，Run 看执行过程，Explore 看图和问 Copilot，Report 看 findings 和 caveats。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demo 时不要只说按钮怎么点。每一步都回到标准流程：检查数据、生成计划、执行工具、看 Spatial 和 UMAP、用 evidence IDs 解释。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真实数据验证不是为了给出完整生物学结论，而是证明系统能处理真实 AnnData、真实坐标字段和真实表达层状态。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这一页很重要：把项目拓展到真实科研。它可以用于发育、肿瘤微环境、病理切片探索和教学复现，但不能替代专家注释，也不能把 marker 当作机制证明。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最后总结三点：空间转录组数据和流程是基础；SpatialScope 把流程转成 LangGraph Agent；LLM 用于 evidence-grounded interpretation，不替代数值分析。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25d52014c9406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7195a36e890428a" /><Relationship Type="http://schemas.openxmlformats.org/officeDocument/2006/relationships/slideLayout" Target="/ppt/slideLayouts/slideLayout1.xml" Id="R82e5b3cb6b9046f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2e5b3cb6b9046f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a0285fb63d4e1f" /><Relationship Type="http://schemas.openxmlformats.org/officeDocument/2006/relationships/image" Target="/ppt/media/image.png" Id="R4884cdb692674071" /><Relationship Type="http://schemas.openxmlformats.org/officeDocument/2006/relationships/image" Target="/ppt/media/image2.png" Id="R7c755e7cb1334531" /><Relationship Type="http://schemas.openxmlformats.org/officeDocument/2006/relationships/notesSlide" Target="/ppt/notesSlides/notesSlide1.xml" Id="R4cfefc539413469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f8ff01668644ba" /><Relationship Type="http://schemas.openxmlformats.org/officeDocument/2006/relationships/notesSlide" Target="/ppt/notesSlides/notesSlide2.xml" Id="R75f43b98adfd4a2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9278324aa34289" /><Relationship Type="http://schemas.openxmlformats.org/officeDocument/2006/relationships/notesSlide" Target="/ppt/notesSlides/notesSlide3.xml" Id="R68cfef654f804bd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06217e39d24980" /><Relationship Type="http://schemas.openxmlformats.org/officeDocument/2006/relationships/notesSlide" Target="/ppt/notesSlides/notesSlide4.xml" Id="R05814e74229a40d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44442abc7340ab" /><Relationship Type="http://schemas.openxmlformats.org/officeDocument/2006/relationships/notesSlide" Target="/ppt/notesSlides/notesSlide5.xml" Id="Ree2523e671664ec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d9efcbe1424af5" /><Relationship Type="http://schemas.openxmlformats.org/officeDocument/2006/relationships/image" Target="/ppt/media/image3.png" Id="Racf0e9675636428d" /><Relationship Type="http://schemas.openxmlformats.org/officeDocument/2006/relationships/notesSlide" Target="/ppt/notesSlides/notesSlide6.xml" Id="Rd8ab86f5eaee445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dfa75660fb436e" /><Relationship Type="http://schemas.openxmlformats.org/officeDocument/2006/relationships/image" Target="/ppt/media/image4.png" Id="R75abcfed53d3431c" /><Relationship Type="http://schemas.openxmlformats.org/officeDocument/2006/relationships/image" Target="/ppt/media/image5.png" Id="R6a4d6daa3ea84c46" /><Relationship Type="http://schemas.openxmlformats.org/officeDocument/2006/relationships/image" Target="/ppt/media/image6.png" Id="R44c2ffdee3644fa5" /><Relationship Type="http://schemas.openxmlformats.org/officeDocument/2006/relationships/notesSlide" Target="/ppt/notesSlides/notesSlide7.xml" Id="R6258acb484f24f9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1c6732b7e84886" /><Relationship Type="http://schemas.openxmlformats.org/officeDocument/2006/relationships/notesSlide" Target="/ppt/notesSlides/notesSlide8.xml" Id="Rbd08fa53ba254f4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9e59457c8c4806" /><Relationship Type="http://schemas.openxmlformats.org/officeDocument/2006/relationships/notesSlide" Target="/ppt/notesSlides/notesSlide9.xml" Id="R3bddc7354b4c4f4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afca69af224ce9" /><Relationship Type="http://schemas.openxmlformats.org/officeDocument/2006/relationships/notesSlide" Target="/ppt/notesSlides/notesSlide10.xml" Id="R14ce41a197b64cb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0c2e38940f4e43" /><Relationship Type="http://schemas.openxmlformats.org/officeDocument/2006/relationships/notesSlide" Target="/ppt/notesSlides/notesSlide11.xml" Id="R814fb9bea97c44d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f8731a7d1f4a30" /><Relationship Type="http://schemas.openxmlformats.org/officeDocument/2006/relationships/image" Target="/ppt/media/image7.png" Id="R35c23fe2e59c41c1" /><Relationship Type="http://schemas.openxmlformats.org/officeDocument/2006/relationships/image" Target="/ppt/media/image8.png" Id="R91d05606baa04213" /><Relationship Type="http://schemas.openxmlformats.org/officeDocument/2006/relationships/image" Target="/ppt/media/image9.png" Id="R7bbddb49129045b5" /><Relationship Type="http://schemas.openxmlformats.org/officeDocument/2006/relationships/image" Target="/ppt/media/image10.png" Id="R6e1da1475bfd488a" /><Relationship Type="http://schemas.openxmlformats.org/officeDocument/2006/relationships/notesSlide" Target="/ppt/notesSlides/notesSlide12.xml" Id="R4817f86b6c0347b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7c58887c1f45ba" /><Relationship Type="http://schemas.openxmlformats.org/officeDocument/2006/relationships/notesSlide" Target="/ppt/notesSlides/notesSlide13.xml" Id="R5334197f1038424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1c6c5e47f447dd" /><Relationship Type="http://schemas.openxmlformats.org/officeDocument/2006/relationships/image" Target="/ppt/media/image11.png" Id="Re2d017d9f5784c7e" /><Relationship Type="http://schemas.openxmlformats.org/officeDocument/2006/relationships/image" Target="/ppt/media/image12.png" Id="R44f3583a99454a7f" /><Relationship Type="http://schemas.openxmlformats.org/officeDocument/2006/relationships/image" Target="/ppt/media/image13.png" Id="R4634bcda6c844bb9" /><Relationship Type="http://schemas.openxmlformats.org/officeDocument/2006/relationships/notesSlide" Target="/ppt/notesSlides/notesSlide14.xml" Id="Ra857de8c09ac423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9f070ef71147c0" /><Relationship Type="http://schemas.openxmlformats.org/officeDocument/2006/relationships/notesSlide" Target="/ppt/notesSlides/notesSlide15.xml" Id="R9cee6dbd95cd480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d295ce57844fce" /><Relationship Type="http://schemas.openxmlformats.org/officeDocument/2006/relationships/image" Target="/ppt/media/image14.png" Id="R4785c7b172d045d2" /><Relationship Type="http://schemas.openxmlformats.org/officeDocument/2006/relationships/notesSlide" Target="/ppt/notesSlides/notesSlide16.xml" Id="R708dbd068a65416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AEA463D-A8AA-4966-9094-FAD6B486E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4D6826-336A-4848-A737-5D1639A54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-1143000"/>
            <a:ext cx="3143250" cy="3143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E2CC"/>
          </a:solidFill>
          <a:ln xmlns:a="http://schemas.openxmlformats.org/drawingml/2006/main" w="0">
            <a:solidFill>
              <a:srgbClr val="EFE2CC"/>
            </a:solidFill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84cdb692674071"/>
          <a:stretch xmlns:a="http://schemas.openxmlformats.org/drawingml/2006/main"/>
        </p:blipFill>
        <p:spPr>
          <a:xfrm xmlns:a="http://schemas.openxmlformats.org/drawingml/2006/main">
            <a:off x="10525125" y="495300"/>
            <a:ext cx="781050" cy="781050"/>
          </a:xfrm>
          <a:prstGeom xmlns:a="http://schemas.openxmlformats.org/drawingml/2006/main" prst="roundRect">
            <a:avLst>
              <a:gd name="adj" fmla="val 9756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63933F-A892-48FA-84B5-E5CF7A963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42950"/>
            <a:ext cx="685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90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90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SpatialScope Agent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F31EB1-8D3F-459B-BEAF-11AAF844D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66850"/>
            <a:ext cx="590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基于 LangGraph 的空间转录组分析 Agent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20B27B-CA2A-4EF5-A20D-3ECB118C5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85950"/>
            <a:ext cx="647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D8F2E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D8F2ED"/>
                </a:solidFill>
                <a:latin typeface="PingFang SC"/>
                <a:ea typeface="PingFang SC"/>
                <a:cs typeface="PingFang SC"/>
              </a:rPr>
              <a:t>顾兴均  ·  11323112  ·  计算生物学期末大作业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755e7cb1334531"/>
          <a:srcRect xmlns:a="http://schemas.openxmlformats.org/drawingml/2006/main" l="0" t="10358" r="0" b="103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23950" y="2876550"/>
            <a:ext cx="6381750" cy="3162300"/>
          </a:xfrm>
          <a:prstGeom xmlns:a="http://schemas.openxmlformats.org/drawingml/2006/main" prst="roundRect">
            <a:avLst>
              <a:gd name="adj" fmla="val 3614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212B8E-9D9B-4B13-B6E4-49C23B2EE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000375"/>
            <a:ext cx="31432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680EF1-F864-47AE-9135-3EA8B3334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171825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汇报逻辑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295689-EAA2-4E72-B8FE-C9148F9A8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552825"/>
            <a:ext cx="276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先讲空间转录组数据结构与常规流程，再说明如何把这个流程做成可审阅、可追踪、证据约束的科研 Agent。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48D294-98D4-412E-8BEF-D9FC6CEBB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81550"/>
            <a:ext cx="8763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E9F5F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GitHub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00C9B3-7753-4B99-9930-24F49551F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781550"/>
            <a:ext cx="10668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E9F5F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Streamlit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A3EA39-97F8-43FB-AD6B-731D6B5D2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781550"/>
            <a:ext cx="12573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E9F5F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GitHub Pages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F91222-5ACC-4B09-ADC9-AC30EFDD5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200650"/>
            <a:ext cx="342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0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github.com/seu-yolo/spatialscope-agent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0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0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spatialscope-seu.streamlit.app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0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0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seu-yolo.github.io/spatialscope-agent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46EBE9-EEA3-4ADC-82EC-6572D0C99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089201-2E78-467D-8A77-72403FB1A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509ACC-CE00-4183-97A3-3635BCC55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48932071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3AF6D4B-E1E6-4F31-BBB5-76A3903B2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BACKGROUND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9CCBF7-159B-4EAE-8A5C-B6A79ED6A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空间转录组解决什么问题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92DC5E-12FE-4BF2-918A-DB1BE2165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从“表达了什么”到“在组织中哪里表达”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D3E2E2-8E7A-421E-9633-68C5B1163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0250"/>
            <a:ext cx="26670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D7D0A3-4591-4BBE-9756-8BC13B35E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1717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普通转录组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FD2588-6728-4AD4-A587-24CECBC6C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5270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哪些基因表达了？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表达量如何变化？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FA9A60-3A44-46F3-899E-9291D331C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00250"/>
            <a:ext cx="26670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A30C21-283A-473A-AAC1-5E3D4D1EC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1717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单细胞转录组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B5C2E5-8FB2-493F-AFC5-ED8353068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55270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有哪些细胞类型或状态？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细胞之间如何分群？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7C31B5-82A0-4491-A71D-3C3EA149A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000250"/>
            <a:ext cx="26670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0942D2-17F5-4A5A-8E72-AD38E78D6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1717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空间转录组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1F4991-22FD-4C70-B752-F473F7E8D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55270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这些表达和状态在组织中位于哪里？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是否形成空间区域和邻域？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626B61-2858-4FDC-96A2-83902FBFD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381250"/>
            <a:ext cx="6667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5B9778-818D-4CE0-96A3-5A2493987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381250"/>
            <a:ext cx="6667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E45B4F-4D88-4488-8934-5CB04831F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9624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F196A3-9843-47EB-9330-D7EDD9850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229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B9EE20-4763-4533-BD95-F4F9A8008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4524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BFBF10-0569-4410-8D6C-DD99D9CF3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8196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BD8289-8319-4DF6-A604-2AEAB4421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43148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00E495-0D6C-4F75-ABD7-923696F3A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610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5BA503-8C0E-4FEC-BBE3-B0E691803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905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FB4A55-309E-4BB1-9B14-19CF7CC97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4005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7050F05-CC68-42DC-8AD2-990231EE0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48006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102B85-812D-4960-AE91-14E32868D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295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851D597-7209-4BC0-8E88-98E2662D3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591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F829367-4CC1-4752-BF79-92C619C4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8863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45CEA4C-1F92-42F2-9B49-193FBCB42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43815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E2DF231-F279-495C-9267-7C5A5DE53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676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B58F7B9-4E86-4C1D-9B80-468C0540D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4972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5D49F10-BC8D-4478-AD61-63E143B7F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572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7E119E6-E820-4903-98EE-BF38CD6FF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48672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D81D723-5BCC-4EBE-AE36-D9EA93BF0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362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EFDF210-AF60-4EB3-98F7-100391D62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46577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9BAF738-A887-446A-A16D-EE84CB100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953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34786AC-5D1B-4860-A995-D56FB9142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4481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D7F0226-F499-4E61-95C2-46D965965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743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93A453E-FE33-44C0-AE8B-FF1D7D664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4343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8C67361-9E62-423D-BFF5-38BDF86B4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638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AA01AD3-E42E-449E-B48F-3AEB2F853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49339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401C537-E503-4233-B87A-557AB3F23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4291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F8AB221-3B79-4882-B5FD-66AE65C20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4724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DE86A6B-CBB2-4B42-A116-D0DB635C0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019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58E19F9-D2C8-4657-A60D-53CF6A839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45148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70B2B47-96E4-4E0B-85F1-E0E356C11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49149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08ACC43-CDFF-4CC7-9AA4-7859E082C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4410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595ACFA-5601-42E8-925D-3A77E6E1C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7053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A3F01ED-1324-490F-AAC9-9BC0DF850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50006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8293F27-A938-432C-815C-56ABD7D3C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4958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587EF34-DF83-4AB4-88B3-1831F764F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4791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3097285-F039-486C-99AE-46A2A971E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2862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7470BD2-5C1C-4DAE-8A4A-82BE797A1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46863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765B1F8-FD22-4B44-8CCF-4A5C55138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9815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7DB1FCC-B710-47DE-8507-D01798B5F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44767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97406F2-5C2E-4494-A802-D01AE634C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47720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2ADBA48-A1FC-4CC8-B78F-6C453D22D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42672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584A266-D46A-4B08-B652-0F47ECCEB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5624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93102CA-FD6D-4A81-B7B6-6E95EB77E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48577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F50716C-4451-4E69-9CA5-87BAD91D3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4577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5E4E58B-0D8A-4237-886A-5AC53DEFF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47529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6C92FC6-E5F1-4E4E-AE15-08DE97197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248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543CF84-18EE-4FE5-91FB-E2C55C953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5434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44F73A2-897A-47BD-89B6-63F764A56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8387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1E566AC2-B2D5-4AFD-8C64-116419568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1225" y="43338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D03E4747-1181-4667-A596-59329F32B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2702D50-61FC-4FF5-A0D1-F14ACCB51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4229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7A6121D-AB85-4499-BAD5-3737F4C91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524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11CADBB-A992-4F81-8397-B6A79845D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4075" y="48196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F70A9210-566E-4A41-BBFA-34D480D3C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3148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32E7D79D-0848-44AC-9DD8-9A49D262E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4610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0E7DE29E-FD44-4B67-9C2F-882540807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905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E054721A-26F2-42DF-8E58-0796AA2D8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4005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C43C8C67-69BD-4993-A050-C63A636A0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8006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2BDFB598-2D8F-4150-97F8-1DCDBF94E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4295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FED71792-D21D-4376-A55E-C60C2F559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91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40E43C90-0480-46B6-A8E7-0E357CBB2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48863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C12A4237-EC02-4B81-BFED-20C952CA3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3815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792B63DD-B238-42B4-869F-73DF3199C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4676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23C56A7A-F3D5-4135-A94F-B30E9C315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972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891845A6-096E-4A79-AA21-5D270BA3A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572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48C08537-B088-432A-884C-BBCAFD937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8672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F2F38F4E-12C9-4538-9DE2-C152F85A1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4362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A2D316AD-5839-4AEA-8A7E-1FB8294E9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6577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5B32C73D-9C81-4C2E-A413-62BD70356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4953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370A5A2A-C212-4BA3-BDB7-76DD02B0E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4481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039A4590-55B1-4596-B54F-4B7E9BA7C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4743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AA0A83CA-92BF-4189-A917-C96B632F4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343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FF18E2C3-97C1-436E-87D0-3C423113C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4638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2EA794C4-6832-48D2-AC36-194DFECFB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9339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85856471-EB9F-4D91-80E5-FE2AC910F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291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AA93A515-2FE1-4DAE-A2FF-9D24A4D90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724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3996E371-E887-4696-A62C-DD8D53008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5019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CD38E736-6556-42CA-9DAC-D7EFD64A8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5148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24DAD7EE-5034-4A0B-9F7B-61C4E7C6C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49149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F5309BB4-31FE-4F0F-BCE7-2FC64B828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410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45833D88-0C25-4768-BAF5-2D04140B3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47053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0AB45658-372E-4FA2-9049-550E9A229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50006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515562DD-4006-4C87-B2E9-30052689B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44958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CCEFBE00-911F-4186-A2DF-9B18B1472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791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22D3A926-A375-4516-B8C0-B9A7CC216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2862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3EA181EC-7480-4FF6-8585-3947DACBC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6863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0B26E6A8-12F5-405D-AAD4-2F0396209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49815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71B9D7FA-422E-4314-8465-8334831FC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4767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84B0D5E2-3DA9-4CF0-8846-73163D2FE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47720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83F36896-7138-44B8-A5E0-A94CF401F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2672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5430E45E-65EC-4B7C-8BC7-082D9F548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45624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48288DAB-9E2A-47AF-9735-95DD167DC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9624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ACBAB26B-315D-4DAE-BBE7-452606F22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229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161E2BF9-B051-4381-A4F5-596AB2678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4524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2504D1A0-7E65-4C30-9FC5-5B20713FA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8196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B051A9FF-4158-441B-B68C-C1687F920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3148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8974F98F-144F-42BF-83CC-CB37A37C9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610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8FE065CC-52E7-4C12-8204-136A43798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905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35E1BFB8-ECB8-4A03-A1EB-6B0F36D05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005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D2DAFD96-B1ED-4B91-9A79-D847DC0DB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48006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19E7E346-A054-450A-9924-459462E14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95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5F1CB0D2-5FBD-4BC8-9281-1150001A8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4591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E3A71A99-D19F-4A7B-AA7F-83F2B80BD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8863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278F1B7C-D4B7-4D81-888A-371F68AD5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43815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E774E1DA-AC55-457C-A2F1-D913D09BC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676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F6276C96-04B3-42A8-A4AB-8612958FF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7825" y="4972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3E1C7927-2D3B-45F3-96B7-B6F6CAC97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572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77CEE309-9831-435B-B8C9-251FF1E9D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8672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5DBE1CDA-4B57-4D40-81DE-2FD4E3E06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362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18B9363B-52E3-4DC4-B3EE-E1EB2E610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675" y="46577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A7A20125-6E36-4245-B5BF-9017804F1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4953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8B414AD1-B624-4707-8436-457CFCBA6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44481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21BD05B6-6ECE-4AB8-B62B-6D229B52A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743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42950F09-DA05-4EAA-B390-4B856355E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4343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0F04BAAC-77FB-48B1-8478-0F2F45739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638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39430D15-4E11-41D5-9126-77B2958AB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9339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0EC4C884-5A47-4380-9CBF-5E531E57F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4291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EF604CB9-DC24-4CA8-9798-ABE9218D2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724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A0F75C15-125B-47C5-8B49-624ACFD26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5019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665C9576-AC71-4219-B249-87AB44506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45148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7F1567A1-A408-425D-939C-37794676C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9149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AB871E72-34AC-42ED-BE9A-A217E13F6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9225" y="4410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1E2053EA-933E-4DBD-B7E0-0C05B64D6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7053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27E5F73A-F449-4F11-9DEE-EC40BF52E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50006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A429A392-1FCA-4124-80F1-48364994F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4958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AB946C17-10DD-48BE-9508-81E8301DB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4791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C9B39EB9-3840-4D74-8E2E-EDE81447B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2862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745B48A5-9B1A-4431-AF5B-3BE5512CE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46863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F5806372-A824-412D-99FC-33A035AA5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9815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59E26096-8B7A-432A-A85D-BAA0D75FB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44767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4CCA23DF-8F85-4B4F-832E-AE590385F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7720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0A858F4B-A93A-4583-9941-D55154072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2672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FA9A9B55-802D-4DA0-AC61-61E9E4E9F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5624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93ABF1CA-F130-476D-95AE-E280A5232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48577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CC65BDC5-7B3C-4F9A-BEF0-0B30A1092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4577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F5E0D425-92A4-46D0-B7B0-08BF89CCA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7529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7984CF20-5169-4DFB-805E-5AE911A39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248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F2798A45-C595-4504-A876-C9866D888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45434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6DF85AE9-CECC-4C5E-985E-CF122F131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48387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657245F5-9739-4B2D-803D-9FCBE1172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43338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FDBE1712-AF55-4FB4-B0B4-8CADADB62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FEEB8866-A289-4C8C-9DCF-9F50D6481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4229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6E3F8A0E-5D13-4BEB-ADFB-F2B1B46A1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4524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E24C7A30-5CDF-4094-8397-5DD748E48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48196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A08B8B95-602B-46E5-B7B8-2B1CB087F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3148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EFEA83B1-DCDB-4D15-AAA8-D4750C994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4610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9B472D18-13C7-4332-B97F-E8DB29D95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905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CE44CF04-5269-4750-A6EB-7CCAD514A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44005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E53B02F4-7E29-4E63-AC53-AE1C5A39B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8006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CA861D14-C41E-4332-88A6-A906354BF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4295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0C673C46-F89A-46FF-A249-94AF29524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591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4DD77488-0CDF-4318-B941-9E0EC9F5C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24525" y="48863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9CFBFCB5-723B-4EB7-9D28-36875B112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3815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F7D68A07-5BD1-4368-94B5-351B3300F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676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FD5EAC2F-0403-48FE-887A-94664A751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972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4A3B6DA2-52DC-4980-BCA7-1547A2C3D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4572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9B97935A-0A2A-441B-BC96-1D6291E56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8672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1816AFA2-5D9F-4294-975B-25D7A6CF0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4362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A1B2256D-C6BD-4531-9D54-C8CCF1868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6577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D9EC45AB-1033-4765-8F08-9A5A485AA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4953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9D701202-6CC8-4BFC-9F2B-AA619C70E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4481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4F3338EC-581D-4DEB-A5B7-F0413BE29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4743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A44DC192-A4C3-45B1-B664-8C3818B70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343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846F28D3-28E5-40A6-8C2A-88A6AB174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4638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D02A37B2-FA81-48C3-8A00-884134BAC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9339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0BBA02A2-452B-4549-A9C5-E55F333AB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44291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05ED0939-4246-4D45-9755-65A141EDA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724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82" name="">
            <a:extLst xmlns:a="http://schemas.openxmlformats.org/drawingml/2006/main">
              <a:ext uri="{FF2B5EF4-FFF2-40B4-BE49-F238E27FC236}">
                <a16:creationId xmlns:a16="http://schemas.microsoft.com/office/drawing/2014/main" id="{3D0F0F9A-65CB-4DEB-9CC7-6AC4F0146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5019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83" name="">
            <a:extLst xmlns:a="http://schemas.openxmlformats.org/drawingml/2006/main">
              <a:ext uri="{FF2B5EF4-FFF2-40B4-BE49-F238E27FC236}">
                <a16:creationId xmlns:a16="http://schemas.microsoft.com/office/drawing/2014/main" id="{AB01A334-7413-474E-890E-0172B7442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5148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84" name="">
            <a:extLst xmlns:a="http://schemas.openxmlformats.org/drawingml/2006/main">
              <a:ext uri="{FF2B5EF4-FFF2-40B4-BE49-F238E27FC236}">
                <a16:creationId xmlns:a16="http://schemas.microsoft.com/office/drawing/2014/main" id="{9DE7F5AF-9589-4022-BACD-AD8175C9B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9149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85" name="">
            <a:extLst xmlns:a="http://schemas.openxmlformats.org/drawingml/2006/main">
              <a:ext uri="{FF2B5EF4-FFF2-40B4-BE49-F238E27FC236}">
                <a16:creationId xmlns:a16="http://schemas.microsoft.com/office/drawing/2014/main" id="{A9015916-9C33-4F5D-9930-DED325EA0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410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86" name="">
            <a:extLst xmlns:a="http://schemas.openxmlformats.org/drawingml/2006/main">
              <a:ext uri="{FF2B5EF4-FFF2-40B4-BE49-F238E27FC236}">
                <a16:creationId xmlns:a16="http://schemas.microsoft.com/office/drawing/2014/main" id="{2CB13188-CAA7-401F-9CF4-1C4AF7F5D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47053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87" name="">
            <a:extLst xmlns:a="http://schemas.openxmlformats.org/drawingml/2006/main">
              <a:ext uri="{FF2B5EF4-FFF2-40B4-BE49-F238E27FC236}">
                <a16:creationId xmlns:a16="http://schemas.microsoft.com/office/drawing/2014/main" id="{17BF0A93-4BD5-45FB-B0F0-19ADD32CA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50006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88" name="">
            <a:extLst xmlns:a="http://schemas.openxmlformats.org/drawingml/2006/main">
              <a:ext uri="{FF2B5EF4-FFF2-40B4-BE49-F238E27FC236}">
                <a16:creationId xmlns:a16="http://schemas.microsoft.com/office/drawing/2014/main" id="{B1CB3D01-ACAE-4147-A3FF-0D1C84694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4958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89" name="">
            <a:extLst xmlns:a="http://schemas.openxmlformats.org/drawingml/2006/main">
              <a:ext uri="{FF2B5EF4-FFF2-40B4-BE49-F238E27FC236}">
                <a16:creationId xmlns:a16="http://schemas.microsoft.com/office/drawing/2014/main" id="{C841BF07-2BF7-440C-85C9-90D8106B1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791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90" name="">
            <a:extLst xmlns:a="http://schemas.openxmlformats.org/drawingml/2006/main">
              <a:ext uri="{FF2B5EF4-FFF2-40B4-BE49-F238E27FC236}">
                <a16:creationId xmlns:a16="http://schemas.microsoft.com/office/drawing/2014/main" id="{8BE02FD3-D942-47F2-AEAB-58309338E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42862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91" name="">
            <a:extLst xmlns:a="http://schemas.openxmlformats.org/drawingml/2006/main">
              <a:ext uri="{FF2B5EF4-FFF2-40B4-BE49-F238E27FC236}">
                <a16:creationId xmlns:a16="http://schemas.microsoft.com/office/drawing/2014/main" id="{79E6CF09-A665-428A-855E-2FCDE9FC6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46863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92" name="">
            <a:extLst xmlns:a="http://schemas.openxmlformats.org/drawingml/2006/main">
              <a:ext uri="{FF2B5EF4-FFF2-40B4-BE49-F238E27FC236}">
                <a16:creationId xmlns:a16="http://schemas.microsoft.com/office/drawing/2014/main" id="{7A62ED6D-460C-49EA-823F-AF9F7F6A6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49815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93" name="">
            <a:extLst xmlns:a="http://schemas.openxmlformats.org/drawingml/2006/main">
              <a:ext uri="{FF2B5EF4-FFF2-40B4-BE49-F238E27FC236}">
                <a16:creationId xmlns:a16="http://schemas.microsoft.com/office/drawing/2014/main" id="{38EC8293-64E4-4221-807A-5419466EA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4767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94" name="">
            <a:extLst xmlns:a="http://schemas.openxmlformats.org/drawingml/2006/main">
              <a:ext uri="{FF2B5EF4-FFF2-40B4-BE49-F238E27FC236}">
                <a16:creationId xmlns:a16="http://schemas.microsoft.com/office/drawing/2014/main" id="{15E8908B-538A-4C13-B421-BBEE4B4CC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47720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95" name="">
            <a:extLst xmlns:a="http://schemas.openxmlformats.org/drawingml/2006/main">
              <a:ext uri="{FF2B5EF4-FFF2-40B4-BE49-F238E27FC236}">
                <a16:creationId xmlns:a16="http://schemas.microsoft.com/office/drawing/2014/main" id="{B852802C-C597-442E-89AA-3F00076C5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2672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96" name="">
            <a:extLst xmlns:a="http://schemas.openxmlformats.org/drawingml/2006/main">
              <a:ext uri="{FF2B5EF4-FFF2-40B4-BE49-F238E27FC236}">
                <a16:creationId xmlns:a16="http://schemas.microsoft.com/office/drawing/2014/main" id="{EE3FA01B-53DE-4849-87EE-BE5EA7076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45624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97" name="">
            <a:extLst xmlns:a="http://schemas.openxmlformats.org/drawingml/2006/main">
              <a:ext uri="{FF2B5EF4-FFF2-40B4-BE49-F238E27FC236}">
                <a16:creationId xmlns:a16="http://schemas.microsoft.com/office/drawing/2014/main" id="{289C6D3D-1800-4912-8359-1234E20E2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9624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98" name="">
            <a:extLst xmlns:a="http://schemas.openxmlformats.org/drawingml/2006/main">
              <a:ext uri="{FF2B5EF4-FFF2-40B4-BE49-F238E27FC236}">
                <a16:creationId xmlns:a16="http://schemas.microsoft.com/office/drawing/2014/main" id="{9A473B46-4079-40AB-85CD-D43C0F947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229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199" name="">
            <a:extLst xmlns:a="http://schemas.openxmlformats.org/drawingml/2006/main">
              <a:ext uri="{FF2B5EF4-FFF2-40B4-BE49-F238E27FC236}">
                <a16:creationId xmlns:a16="http://schemas.microsoft.com/office/drawing/2014/main" id="{53050472-75D5-45F6-AB0D-C8CC90672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5243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00" name="">
            <a:extLst xmlns:a="http://schemas.openxmlformats.org/drawingml/2006/main">
              <a:ext uri="{FF2B5EF4-FFF2-40B4-BE49-F238E27FC236}">
                <a16:creationId xmlns:a16="http://schemas.microsoft.com/office/drawing/2014/main" id="{395FB7B3-AF6F-4344-8ADC-71B115067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48196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01" name="">
            <a:extLst xmlns:a="http://schemas.openxmlformats.org/drawingml/2006/main">
              <a:ext uri="{FF2B5EF4-FFF2-40B4-BE49-F238E27FC236}">
                <a16:creationId xmlns:a16="http://schemas.microsoft.com/office/drawing/2014/main" id="{E286F6BE-F250-491E-856C-FEB3C4CCB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43148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02" name="">
            <a:extLst xmlns:a="http://schemas.openxmlformats.org/drawingml/2006/main">
              <a:ext uri="{FF2B5EF4-FFF2-40B4-BE49-F238E27FC236}">
                <a16:creationId xmlns:a16="http://schemas.microsoft.com/office/drawing/2014/main" id="{019FC0F4-53EE-44A3-9721-013D5F5E5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4610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03" name="">
            <a:extLst xmlns:a="http://schemas.openxmlformats.org/drawingml/2006/main">
              <a:ext uri="{FF2B5EF4-FFF2-40B4-BE49-F238E27FC236}">
                <a16:creationId xmlns:a16="http://schemas.microsoft.com/office/drawing/2014/main" id="{5F24403F-4D99-4299-8912-822BFD458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49053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04" name="">
            <a:extLst xmlns:a="http://schemas.openxmlformats.org/drawingml/2006/main">
              <a:ext uri="{FF2B5EF4-FFF2-40B4-BE49-F238E27FC236}">
                <a16:creationId xmlns:a16="http://schemas.microsoft.com/office/drawing/2014/main" id="{E52C840B-8C23-4717-9B1A-2127C73E5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4005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05" name="">
            <a:extLst xmlns:a="http://schemas.openxmlformats.org/drawingml/2006/main">
              <a:ext uri="{FF2B5EF4-FFF2-40B4-BE49-F238E27FC236}">
                <a16:creationId xmlns:a16="http://schemas.microsoft.com/office/drawing/2014/main" id="{BC9DE8EB-97E3-4008-8FE6-56A8EA438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48006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06" name="">
            <a:extLst xmlns:a="http://schemas.openxmlformats.org/drawingml/2006/main">
              <a:ext uri="{FF2B5EF4-FFF2-40B4-BE49-F238E27FC236}">
                <a16:creationId xmlns:a16="http://schemas.microsoft.com/office/drawing/2014/main" id="{9227E514-8D01-49BB-A1B5-077FB2CF6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295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07" name="">
            <a:extLst xmlns:a="http://schemas.openxmlformats.org/drawingml/2006/main">
              <a:ext uri="{FF2B5EF4-FFF2-40B4-BE49-F238E27FC236}">
                <a16:creationId xmlns:a16="http://schemas.microsoft.com/office/drawing/2014/main" id="{61863447-5E8D-4C13-91F3-1EF12F333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45910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08" name="">
            <a:extLst xmlns:a="http://schemas.openxmlformats.org/drawingml/2006/main">
              <a:ext uri="{FF2B5EF4-FFF2-40B4-BE49-F238E27FC236}">
                <a16:creationId xmlns:a16="http://schemas.microsoft.com/office/drawing/2014/main" id="{9D275509-D0BF-45A6-82CA-A7F60B926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48863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09" name="">
            <a:extLst xmlns:a="http://schemas.openxmlformats.org/drawingml/2006/main">
              <a:ext uri="{FF2B5EF4-FFF2-40B4-BE49-F238E27FC236}">
                <a16:creationId xmlns:a16="http://schemas.microsoft.com/office/drawing/2014/main" id="{971CD723-C3B2-48C6-B6F8-6708B32B8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5575" y="43815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10" name="">
            <a:extLst xmlns:a="http://schemas.openxmlformats.org/drawingml/2006/main">
              <a:ext uri="{FF2B5EF4-FFF2-40B4-BE49-F238E27FC236}">
                <a16:creationId xmlns:a16="http://schemas.microsoft.com/office/drawing/2014/main" id="{CFF26273-4085-4AC5-95C1-E8EA8B8E6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676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11" name="">
            <a:extLst xmlns:a="http://schemas.openxmlformats.org/drawingml/2006/main">
              <a:ext uri="{FF2B5EF4-FFF2-40B4-BE49-F238E27FC236}">
                <a16:creationId xmlns:a16="http://schemas.microsoft.com/office/drawing/2014/main" id="{69CD4704-8032-4C23-AC9A-8586D27A6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49720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12" name="">
            <a:extLst xmlns:a="http://schemas.openxmlformats.org/drawingml/2006/main">
              <a:ext uri="{FF2B5EF4-FFF2-40B4-BE49-F238E27FC236}">
                <a16:creationId xmlns:a16="http://schemas.microsoft.com/office/drawing/2014/main" id="{691AE02C-5FEF-4DBB-98B4-769750576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5720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13" name="">
            <a:extLst xmlns:a="http://schemas.openxmlformats.org/drawingml/2006/main">
              <a:ext uri="{FF2B5EF4-FFF2-40B4-BE49-F238E27FC236}">
                <a16:creationId xmlns:a16="http://schemas.microsoft.com/office/drawing/2014/main" id="{1594D0A4-E091-453D-BAB2-9F9049858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8672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14" name="">
            <a:extLst xmlns:a="http://schemas.openxmlformats.org/drawingml/2006/main">
              <a:ext uri="{FF2B5EF4-FFF2-40B4-BE49-F238E27FC236}">
                <a16:creationId xmlns:a16="http://schemas.microsoft.com/office/drawing/2014/main" id="{85299766-9ED6-4C6E-B290-43FD6062B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4362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15" name="">
            <a:extLst xmlns:a="http://schemas.openxmlformats.org/drawingml/2006/main">
              <a:ext uri="{FF2B5EF4-FFF2-40B4-BE49-F238E27FC236}">
                <a16:creationId xmlns:a16="http://schemas.microsoft.com/office/drawing/2014/main" id="{D2D8B656-A3B5-4FED-B07A-0100A02C9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465772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16" name="">
            <a:extLst xmlns:a="http://schemas.openxmlformats.org/drawingml/2006/main">
              <a:ext uri="{FF2B5EF4-FFF2-40B4-BE49-F238E27FC236}">
                <a16:creationId xmlns:a16="http://schemas.microsoft.com/office/drawing/2014/main" id="{791E5861-B77E-4A2B-AAF0-FE368FD6C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49530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17" name="">
            <a:extLst xmlns:a="http://schemas.openxmlformats.org/drawingml/2006/main">
              <a:ext uri="{FF2B5EF4-FFF2-40B4-BE49-F238E27FC236}">
                <a16:creationId xmlns:a16="http://schemas.microsoft.com/office/drawing/2014/main" id="{A1F69E5D-5BA3-4BD6-A088-6A47EF33D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44481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18" name="">
            <a:extLst xmlns:a="http://schemas.openxmlformats.org/drawingml/2006/main">
              <a:ext uri="{FF2B5EF4-FFF2-40B4-BE49-F238E27FC236}">
                <a16:creationId xmlns:a16="http://schemas.microsoft.com/office/drawing/2014/main" id="{F27EC2C1-BC50-42BC-99D1-D1AB4DB6D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4743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19" name="">
            <a:extLst xmlns:a="http://schemas.openxmlformats.org/drawingml/2006/main">
              <a:ext uri="{FF2B5EF4-FFF2-40B4-BE49-F238E27FC236}">
                <a16:creationId xmlns:a16="http://schemas.microsoft.com/office/drawing/2014/main" id="{435FDC55-95BA-4B0D-8034-52820A09C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43434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20" name="">
            <a:extLst xmlns:a="http://schemas.openxmlformats.org/drawingml/2006/main">
              <a:ext uri="{FF2B5EF4-FFF2-40B4-BE49-F238E27FC236}">
                <a16:creationId xmlns:a16="http://schemas.microsoft.com/office/drawing/2014/main" id="{768348A7-C476-4056-9C72-E2B9DED56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6386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21" name="">
            <a:extLst xmlns:a="http://schemas.openxmlformats.org/drawingml/2006/main">
              <a:ext uri="{FF2B5EF4-FFF2-40B4-BE49-F238E27FC236}">
                <a16:creationId xmlns:a16="http://schemas.microsoft.com/office/drawing/2014/main" id="{E5C3CD8C-BC4B-4A1F-9E1D-B61C9A161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33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22" name="">
            <a:extLst xmlns:a="http://schemas.openxmlformats.org/drawingml/2006/main">
              <a:ext uri="{FF2B5EF4-FFF2-40B4-BE49-F238E27FC236}">
                <a16:creationId xmlns:a16="http://schemas.microsoft.com/office/drawing/2014/main" id="{0C76646E-7533-4321-B487-F662F7FB6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44291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23" name="">
            <a:extLst xmlns:a="http://schemas.openxmlformats.org/drawingml/2006/main">
              <a:ext uri="{FF2B5EF4-FFF2-40B4-BE49-F238E27FC236}">
                <a16:creationId xmlns:a16="http://schemas.microsoft.com/office/drawing/2014/main" id="{38B8ADC9-C9BD-40FE-BA12-BC79A62BF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7244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24" name="">
            <a:extLst xmlns:a="http://schemas.openxmlformats.org/drawingml/2006/main">
              <a:ext uri="{FF2B5EF4-FFF2-40B4-BE49-F238E27FC236}">
                <a16:creationId xmlns:a16="http://schemas.microsoft.com/office/drawing/2014/main" id="{06FEF4AF-ADFC-4F33-BE70-57DFF6099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50196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25" name="">
            <a:extLst xmlns:a="http://schemas.openxmlformats.org/drawingml/2006/main">
              <a:ext uri="{FF2B5EF4-FFF2-40B4-BE49-F238E27FC236}">
                <a16:creationId xmlns:a16="http://schemas.microsoft.com/office/drawing/2014/main" id="{07BC0169-3BF1-45C3-8DC0-C7C1AC25B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4514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26" name="">
            <a:extLst xmlns:a="http://schemas.openxmlformats.org/drawingml/2006/main">
              <a:ext uri="{FF2B5EF4-FFF2-40B4-BE49-F238E27FC236}">
                <a16:creationId xmlns:a16="http://schemas.microsoft.com/office/drawing/2014/main" id="{33A7DE86-94B6-4C75-AA52-6F89925D9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49149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27" name="">
            <a:extLst xmlns:a="http://schemas.openxmlformats.org/drawingml/2006/main">
              <a:ext uri="{FF2B5EF4-FFF2-40B4-BE49-F238E27FC236}">
                <a16:creationId xmlns:a16="http://schemas.microsoft.com/office/drawing/2014/main" id="{6F6EB432-0052-4C7E-8919-CF428D71E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44100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28" name="">
            <a:extLst xmlns:a="http://schemas.openxmlformats.org/drawingml/2006/main">
              <a:ext uri="{FF2B5EF4-FFF2-40B4-BE49-F238E27FC236}">
                <a16:creationId xmlns:a16="http://schemas.microsoft.com/office/drawing/2014/main" id="{C17D7CDB-5F73-4163-968E-C6154926B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7053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29" name="">
            <a:extLst xmlns:a="http://schemas.openxmlformats.org/drawingml/2006/main">
              <a:ext uri="{FF2B5EF4-FFF2-40B4-BE49-F238E27FC236}">
                <a16:creationId xmlns:a16="http://schemas.microsoft.com/office/drawing/2014/main" id="{D73EC225-4EEA-408B-B2D4-0DA6B87F3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50006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30" name="">
            <a:extLst xmlns:a="http://schemas.openxmlformats.org/drawingml/2006/main">
              <a:ext uri="{FF2B5EF4-FFF2-40B4-BE49-F238E27FC236}">
                <a16:creationId xmlns:a16="http://schemas.microsoft.com/office/drawing/2014/main" id="{121A9956-08BA-4443-9395-5226FC93F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44958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31" name="">
            <a:extLst xmlns:a="http://schemas.openxmlformats.org/drawingml/2006/main">
              <a:ext uri="{FF2B5EF4-FFF2-40B4-BE49-F238E27FC236}">
                <a16:creationId xmlns:a16="http://schemas.microsoft.com/office/drawing/2014/main" id="{30A90240-C75B-4EC7-80C1-B2D693A1B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5175" y="47910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32" name="">
            <a:extLst xmlns:a="http://schemas.openxmlformats.org/drawingml/2006/main">
              <a:ext uri="{FF2B5EF4-FFF2-40B4-BE49-F238E27FC236}">
                <a16:creationId xmlns:a16="http://schemas.microsoft.com/office/drawing/2014/main" id="{6BB7B0EF-0B7F-4CF7-9933-CA11578C9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2862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33" name="">
            <a:extLst xmlns:a="http://schemas.openxmlformats.org/drawingml/2006/main">
              <a:ext uri="{FF2B5EF4-FFF2-40B4-BE49-F238E27FC236}">
                <a16:creationId xmlns:a16="http://schemas.microsoft.com/office/drawing/2014/main" id="{838D852A-4467-4EE6-903C-0FEE19810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4686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34" name="">
            <a:extLst xmlns:a="http://schemas.openxmlformats.org/drawingml/2006/main">
              <a:ext uri="{FF2B5EF4-FFF2-40B4-BE49-F238E27FC236}">
                <a16:creationId xmlns:a16="http://schemas.microsoft.com/office/drawing/2014/main" id="{5FEEAFED-9DF1-47F3-83B6-E83DBFF50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49815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35" name="">
            <a:extLst xmlns:a="http://schemas.openxmlformats.org/drawingml/2006/main">
              <a:ext uri="{FF2B5EF4-FFF2-40B4-BE49-F238E27FC236}">
                <a16:creationId xmlns:a16="http://schemas.microsoft.com/office/drawing/2014/main" id="{1180A682-B969-4A8C-865C-304084718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68025" y="44767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36" name="">
            <a:extLst xmlns:a="http://schemas.openxmlformats.org/drawingml/2006/main">
              <a:ext uri="{FF2B5EF4-FFF2-40B4-BE49-F238E27FC236}">
                <a16:creationId xmlns:a16="http://schemas.microsoft.com/office/drawing/2014/main" id="{239616A1-EEC6-412C-836F-25043BDA6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7720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37" name="">
            <a:extLst xmlns:a="http://schemas.openxmlformats.org/drawingml/2006/main">
              <a:ext uri="{FF2B5EF4-FFF2-40B4-BE49-F238E27FC236}">
                <a16:creationId xmlns:a16="http://schemas.microsoft.com/office/drawing/2014/main" id="{79CB7A6A-1CA5-4E85-B37C-7C4FCF7FD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4267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38" name="">
            <a:extLst xmlns:a="http://schemas.openxmlformats.org/drawingml/2006/main">
              <a:ext uri="{FF2B5EF4-FFF2-40B4-BE49-F238E27FC236}">
                <a16:creationId xmlns:a16="http://schemas.microsoft.com/office/drawing/2014/main" id="{00F069F4-FAFF-4B15-8D90-E6E70E8D0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45624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39" name="">
            <a:extLst xmlns:a="http://schemas.openxmlformats.org/drawingml/2006/main">
              <a:ext uri="{FF2B5EF4-FFF2-40B4-BE49-F238E27FC236}">
                <a16:creationId xmlns:a16="http://schemas.microsoft.com/office/drawing/2014/main" id="{C383E664-83EC-42D7-BBE9-75E78DFC4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48577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40" name="">
            <a:extLst xmlns:a="http://schemas.openxmlformats.org/drawingml/2006/main">
              <a:ext uri="{FF2B5EF4-FFF2-40B4-BE49-F238E27FC236}">
                <a16:creationId xmlns:a16="http://schemas.microsoft.com/office/drawing/2014/main" id="{02A40E03-5EF2-4F7D-8CBA-D0CA75895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4577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41" name="">
            <a:extLst xmlns:a="http://schemas.openxmlformats.org/drawingml/2006/main">
              <a:ext uri="{FF2B5EF4-FFF2-40B4-BE49-F238E27FC236}">
                <a16:creationId xmlns:a16="http://schemas.microsoft.com/office/drawing/2014/main" id="{E1E9E183-1ABA-446C-AF80-CDD8BDD81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7529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42" name="">
            <a:extLst xmlns:a="http://schemas.openxmlformats.org/drawingml/2006/main">
              <a:ext uri="{FF2B5EF4-FFF2-40B4-BE49-F238E27FC236}">
                <a16:creationId xmlns:a16="http://schemas.microsoft.com/office/drawing/2014/main" id="{AED47518-9F05-451D-806E-F4DB6F28C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4248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43" name="">
            <a:extLst xmlns:a="http://schemas.openxmlformats.org/drawingml/2006/main">
              <a:ext uri="{FF2B5EF4-FFF2-40B4-BE49-F238E27FC236}">
                <a16:creationId xmlns:a16="http://schemas.microsoft.com/office/drawing/2014/main" id="{D4DDE3BC-EF9D-40D7-89FD-FA340068C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3725" y="454342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44" name="">
            <a:extLst xmlns:a="http://schemas.openxmlformats.org/drawingml/2006/main">
              <a:ext uri="{FF2B5EF4-FFF2-40B4-BE49-F238E27FC236}">
                <a16:creationId xmlns:a16="http://schemas.microsoft.com/office/drawing/2014/main" id="{602A1435-EFB4-4218-82D2-823DDCA05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8387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45" name="">
            <a:extLst xmlns:a="http://schemas.openxmlformats.org/drawingml/2006/main">
              <a:ext uri="{FF2B5EF4-FFF2-40B4-BE49-F238E27FC236}">
                <a16:creationId xmlns:a16="http://schemas.microsoft.com/office/drawing/2014/main" id="{AD31F298-2A9D-4646-87F0-92CAD6896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43338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46" name="">
            <a:extLst xmlns:a="http://schemas.openxmlformats.org/drawingml/2006/main">
              <a:ext uri="{FF2B5EF4-FFF2-40B4-BE49-F238E27FC236}">
                <a16:creationId xmlns:a16="http://schemas.microsoft.com/office/drawing/2014/main" id="{2FABA479-D4CD-482D-A833-57A724F82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47" name="">
            <a:extLst xmlns:a="http://schemas.openxmlformats.org/drawingml/2006/main">
              <a:ext uri="{FF2B5EF4-FFF2-40B4-BE49-F238E27FC236}">
                <a16:creationId xmlns:a16="http://schemas.microsoft.com/office/drawing/2014/main" id="{D65C70D0-5E49-4408-B981-CD0D768F9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6575" y="42291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48" name="">
            <a:extLst xmlns:a="http://schemas.openxmlformats.org/drawingml/2006/main">
              <a:ext uri="{FF2B5EF4-FFF2-40B4-BE49-F238E27FC236}">
                <a16:creationId xmlns:a16="http://schemas.microsoft.com/office/drawing/2014/main" id="{9B5EC0F6-FB34-4459-A8B3-88F9A11B3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5243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49" name="">
            <a:extLst xmlns:a="http://schemas.openxmlformats.org/drawingml/2006/main">
              <a:ext uri="{FF2B5EF4-FFF2-40B4-BE49-F238E27FC236}">
                <a16:creationId xmlns:a16="http://schemas.microsoft.com/office/drawing/2014/main" id="{8E578369-9918-4E74-9EEE-91BEDEE39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4819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50" name="">
            <a:extLst xmlns:a="http://schemas.openxmlformats.org/drawingml/2006/main">
              <a:ext uri="{FF2B5EF4-FFF2-40B4-BE49-F238E27FC236}">
                <a16:creationId xmlns:a16="http://schemas.microsoft.com/office/drawing/2014/main" id="{2EEC7D9B-D7B2-47DC-A166-B8784176E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3148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51" name="">
            <a:extLst xmlns:a="http://schemas.openxmlformats.org/drawingml/2006/main">
              <a:ext uri="{FF2B5EF4-FFF2-40B4-BE49-F238E27FC236}">
                <a16:creationId xmlns:a16="http://schemas.microsoft.com/office/drawing/2014/main" id="{F4E2073A-354D-4517-93B4-9824640B6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9425" y="46101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52" name="">
            <a:extLst xmlns:a="http://schemas.openxmlformats.org/drawingml/2006/main">
              <a:ext uri="{FF2B5EF4-FFF2-40B4-BE49-F238E27FC236}">
                <a16:creationId xmlns:a16="http://schemas.microsoft.com/office/drawing/2014/main" id="{700B9E2E-9E8D-47C9-AA8A-EC26E572A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9053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53" name="">
            <a:extLst xmlns:a="http://schemas.openxmlformats.org/drawingml/2006/main">
              <a:ext uri="{FF2B5EF4-FFF2-40B4-BE49-F238E27FC236}">
                <a16:creationId xmlns:a16="http://schemas.microsoft.com/office/drawing/2014/main" id="{500EC836-7F0C-4E6E-9E87-B5EBFB2A8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4400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54" name="">
            <a:extLst xmlns:a="http://schemas.openxmlformats.org/drawingml/2006/main">
              <a:ext uri="{FF2B5EF4-FFF2-40B4-BE49-F238E27FC236}">
                <a16:creationId xmlns:a16="http://schemas.microsoft.com/office/drawing/2014/main" id="{186F545E-779C-4EB1-B6A3-9C00F862C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8006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55" name="">
            <a:extLst xmlns:a="http://schemas.openxmlformats.org/drawingml/2006/main">
              <a:ext uri="{FF2B5EF4-FFF2-40B4-BE49-F238E27FC236}">
                <a16:creationId xmlns:a16="http://schemas.microsoft.com/office/drawing/2014/main" id="{E92CD7AA-285D-48BA-A03E-0A7B324CD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2957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56" name="">
            <a:extLst xmlns:a="http://schemas.openxmlformats.org/drawingml/2006/main">
              <a:ext uri="{FF2B5EF4-FFF2-40B4-BE49-F238E27FC236}">
                <a16:creationId xmlns:a16="http://schemas.microsoft.com/office/drawing/2014/main" id="{CDD4089B-2F90-427F-848F-C2C403B30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45910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57" name="">
            <a:extLst xmlns:a="http://schemas.openxmlformats.org/drawingml/2006/main">
              <a:ext uri="{FF2B5EF4-FFF2-40B4-BE49-F238E27FC236}">
                <a16:creationId xmlns:a16="http://schemas.microsoft.com/office/drawing/2014/main" id="{5E54196B-5139-4100-9D00-C47D4FE44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48863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58" name="">
            <a:extLst xmlns:a="http://schemas.openxmlformats.org/drawingml/2006/main">
              <a:ext uri="{FF2B5EF4-FFF2-40B4-BE49-F238E27FC236}">
                <a16:creationId xmlns:a16="http://schemas.microsoft.com/office/drawing/2014/main" id="{2E4B620C-251A-401F-8B11-746D4801A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43815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59" name="">
            <a:extLst xmlns:a="http://schemas.openxmlformats.org/drawingml/2006/main">
              <a:ext uri="{FF2B5EF4-FFF2-40B4-BE49-F238E27FC236}">
                <a16:creationId xmlns:a16="http://schemas.microsoft.com/office/drawing/2014/main" id="{FFA95835-24E9-435E-BCD2-1F38C1181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25" y="46767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60" name="">
            <a:extLst xmlns:a="http://schemas.openxmlformats.org/drawingml/2006/main">
              <a:ext uri="{FF2B5EF4-FFF2-40B4-BE49-F238E27FC236}">
                <a16:creationId xmlns:a16="http://schemas.microsoft.com/office/drawing/2014/main" id="{60359070-4B5C-4D51-B574-B5A9669FF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9720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61" name="">
            <a:extLst xmlns:a="http://schemas.openxmlformats.org/drawingml/2006/main">
              <a:ext uri="{FF2B5EF4-FFF2-40B4-BE49-F238E27FC236}">
                <a16:creationId xmlns:a16="http://schemas.microsoft.com/office/drawing/2014/main" id="{6D28FA4D-7235-417F-B9D5-64D9B4E1F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4572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62" name="">
            <a:extLst xmlns:a="http://schemas.openxmlformats.org/drawingml/2006/main">
              <a:ext uri="{FF2B5EF4-FFF2-40B4-BE49-F238E27FC236}">
                <a16:creationId xmlns:a16="http://schemas.microsoft.com/office/drawing/2014/main" id="{CE86C981-A410-40DC-AEE6-F5AC1A433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8672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63" name="">
            <a:extLst xmlns:a="http://schemas.openxmlformats.org/drawingml/2006/main">
              <a:ext uri="{FF2B5EF4-FFF2-40B4-BE49-F238E27FC236}">
                <a16:creationId xmlns:a16="http://schemas.microsoft.com/office/drawing/2014/main" id="{B9A1B18A-0F49-4928-9B70-68E4EA6D6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7975" y="43624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64" name="">
            <a:extLst xmlns:a="http://schemas.openxmlformats.org/drawingml/2006/main">
              <a:ext uri="{FF2B5EF4-FFF2-40B4-BE49-F238E27FC236}">
                <a16:creationId xmlns:a16="http://schemas.microsoft.com/office/drawing/2014/main" id="{8C30DE8C-E318-4B4B-B80D-6FD063C06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6577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65" name="">
            <a:extLst xmlns:a="http://schemas.openxmlformats.org/drawingml/2006/main">
              <a:ext uri="{FF2B5EF4-FFF2-40B4-BE49-F238E27FC236}">
                <a16:creationId xmlns:a16="http://schemas.microsoft.com/office/drawing/2014/main" id="{1283F2E1-6B03-4F36-ACEF-3B909E49D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4953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66" name="">
            <a:extLst xmlns:a="http://schemas.openxmlformats.org/drawingml/2006/main">
              <a:ext uri="{FF2B5EF4-FFF2-40B4-BE49-F238E27FC236}">
                <a16:creationId xmlns:a16="http://schemas.microsoft.com/office/drawing/2014/main" id="{966FAAC7-2493-4B6F-9315-66A5122E4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44481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67" name="">
            <a:extLst xmlns:a="http://schemas.openxmlformats.org/drawingml/2006/main">
              <a:ext uri="{FF2B5EF4-FFF2-40B4-BE49-F238E27FC236}">
                <a16:creationId xmlns:a16="http://schemas.microsoft.com/office/drawing/2014/main" id="{923D17B2-2E7C-4364-8661-577688899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47434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68" name="">
            <a:extLst xmlns:a="http://schemas.openxmlformats.org/drawingml/2006/main">
              <a:ext uri="{FF2B5EF4-FFF2-40B4-BE49-F238E27FC236}">
                <a16:creationId xmlns:a16="http://schemas.microsoft.com/office/drawing/2014/main" id="{0DAB37E9-9D07-482B-95CF-C6838326F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3434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69" name="">
            <a:extLst xmlns:a="http://schemas.openxmlformats.org/drawingml/2006/main">
              <a:ext uri="{FF2B5EF4-FFF2-40B4-BE49-F238E27FC236}">
                <a16:creationId xmlns:a16="http://schemas.microsoft.com/office/drawing/2014/main" id="{98561794-D570-401D-93CF-AD1BC9179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46386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70" name="">
            <a:extLst xmlns:a="http://schemas.openxmlformats.org/drawingml/2006/main">
              <a:ext uri="{FF2B5EF4-FFF2-40B4-BE49-F238E27FC236}">
                <a16:creationId xmlns:a16="http://schemas.microsoft.com/office/drawing/2014/main" id="{B98AEB6C-218C-4D66-8A20-85C524FFC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9339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71" name="">
            <a:extLst xmlns:a="http://schemas.openxmlformats.org/drawingml/2006/main">
              <a:ext uri="{FF2B5EF4-FFF2-40B4-BE49-F238E27FC236}">
                <a16:creationId xmlns:a16="http://schemas.microsoft.com/office/drawing/2014/main" id="{D96D7819-A40E-4A10-B22B-4FCEC587B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53675" y="442912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72" name="">
            <a:extLst xmlns:a="http://schemas.openxmlformats.org/drawingml/2006/main">
              <a:ext uri="{FF2B5EF4-FFF2-40B4-BE49-F238E27FC236}">
                <a16:creationId xmlns:a16="http://schemas.microsoft.com/office/drawing/2014/main" id="{D33D7058-61D3-40BD-A002-C22DD0FB2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47244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73" name="">
            <a:extLst xmlns:a="http://schemas.openxmlformats.org/drawingml/2006/main">
              <a:ext uri="{FF2B5EF4-FFF2-40B4-BE49-F238E27FC236}">
                <a16:creationId xmlns:a16="http://schemas.microsoft.com/office/drawing/2014/main" id="{614382F8-F3C8-4F6E-AD82-8DEEE848D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50196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74" name="">
            <a:extLst xmlns:a="http://schemas.openxmlformats.org/drawingml/2006/main">
              <a:ext uri="{FF2B5EF4-FFF2-40B4-BE49-F238E27FC236}">
                <a16:creationId xmlns:a16="http://schemas.microsoft.com/office/drawing/2014/main" id="{3A7222FF-1135-4D1F-9153-5F014F0E7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45148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75" name="">
            <a:extLst xmlns:a="http://schemas.openxmlformats.org/drawingml/2006/main">
              <a:ext uri="{FF2B5EF4-FFF2-40B4-BE49-F238E27FC236}">
                <a16:creationId xmlns:a16="http://schemas.microsoft.com/office/drawing/2014/main" id="{105E678E-ECEC-4812-A1B9-65308475A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9149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76" name="">
            <a:extLst xmlns:a="http://schemas.openxmlformats.org/drawingml/2006/main">
              <a:ext uri="{FF2B5EF4-FFF2-40B4-BE49-F238E27FC236}">
                <a16:creationId xmlns:a16="http://schemas.microsoft.com/office/drawing/2014/main" id="{1456882F-D9A6-4019-85DD-C5A30BD47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44100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77" name="">
            <a:extLst xmlns:a="http://schemas.openxmlformats.org/drawingml/2006/main">
              <a:ext uri="{FF2B5EF4-FFF2-40B4-BE49-F238E27FC236}">
                <a16:creationId xmlns:a16="http://schemas.microsoft.com/office/drawing/2014/main" id="{EE321FAB-89E6-4C68-BF5F-5083A7032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47053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78" name="">
            <a:extLst xmlns:a="http://schemas.openxmlformats.org/drawingml/2006/main">
              <a:ext uri="{FF2B5EF4-FFF2-40B4-BE49-F238E27FC236}">
                <a16:creationId xmlns:a16="http://schemas.microsoft.com/office/drawing/2014/main" id="{726E13C8-1459-4D5F-A645-4B20EBC41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50006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79" name="">
            <a:extLst xmlns:a="http://schemas.openxmlformats.org/drawingml/2006/main">
              <a:ext uri="{FF2B5EF4-FFF2-40B4-BE49-F238E27FC236}">
                <a16:creationId xmlns:a16="http://schemas.microsoft.com/office/drawing/2014/main" id="{DC3FF4AB-F679-47EF-9203-ADA7C522D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44958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80" name="">
            <a:extLst xmlns:a="http://schemas.openxmlformats.org/drawingml/2006/main">
              <a:ext uri="{FF2B5EF4-FFF2-40B4-BE49-F238E27FC236}">
                <a16:creationId xmlns:a16="http://schemas.microsoft.com/office/drawing/2014/main" id="{0175B834-A236-4B43-916E-B4DEF6BC6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47910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81" name="">
            <a:extLst xmlns:a="http://schemas.openxmlformats.org/drawingml/2006/main">
              <a:ext uri="{FF2B5EF4-FFF2-40B4-BE49-F238E27FC236}">
                <a16:creationId xmlns:a16="http://schemas.microsoft.com/office/drawing/2014/main" id="{58CA5746-C1BD-4C8E-A4E5-4BD6E2829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42862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82" name="">
            <a:extLst xmlns:a="http://schemas.openxmlformats.org/drawingml/2006/main">
              <a:ext uri="{FF2B5EF4-FFF2-40B4-BE49-F238E27FC236}">
                <a16:creationId xmlns:a16="http://schemas.microsoft.com/office/drawing/2014/main" id="{23F11A97-BE92-497A-885C-62CF32893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6863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83" name="">
            <a:extLst xmlns:a="http://schemas.openxmlformats.org/drawingml/2006/main">
              <a:ext uri="{FF2B5EF4-FFF2-40B4-BE49-F238E27FC236}">
                <a16:creationId xmlns:a16="http://schemas.microsoft.com/office/drawing/2014/main" id="{8A7CC890-4C0C-4260-A87E-5B5F33EB3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2225" y="49815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84" name="">
            <a:extLst xmlns:a="http://schemas.openxmlformats.org/drawingml/2006/main">
              <a:ext uri="{FF2B5EF4-FFF2-40B4-BE49-F238E27FC236}">
                <a16:creationId xmlns:a16="http://schemas.microsoft.com/office/drawing/2014/main" id="{92374292-CC81-412A-B42F-F601E9FB6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44767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85" name="">
            <a:extLst xmlns:a="http://schemas.openxmlformats.org/drawingml/2006/main">
              <a:ext uri="{FF2B5EF4-FFF2-40B4-BE49-F238E27FC236}">
                <a16:creationId xmlns:a16="http://schemas.microsoft.com/office/drawing/2014/main" id="{18F22BB8-A437-4F11-B2F6-5F0850AC2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47720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86" name="">
            <a:extLst xmlns:a="http://schemas.openxmlformats.org/drawingml/2006/main">
              <a:ext uri="{FF2B5EF4-FFF2-40B4-BE49-F238E27FC236}">
                <a16:creationId xmlns:a16="http://schemas.microsoft.com/office/drawing/2014/main" id="{4FD3EF6D-8D55-4D0B-A9DD-B475FC1B2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2672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87" name="">
            <a:extLst xmlns:a="http://schemas.openxmlformats.org/drawingml/2006/main">
              <a:ext uri="{FF2B5EF4-FFF2-40B4-BE49-F238E27FC236}">
                <a16:creationId xmlns:a16="http://schemas.microsoft.com/office/drawing/2014/main" id="{B3741CB9-CB9C-4F53-BEC7-15778AA34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45624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88" name="">
            <a:extLst xmlns:a="http://schemas.openxmlformats.org/drawingml/2006/main">
              <a:ext uri="{FF2B5EF4-FFF2-40B4-BE49-F238E27FC236}">
                <a16:creationId xmlns:a16="http://schemas.microsoft.com/office/drawing/2014/main" id="{76237029-DA61-47BC-A211-70FF80A51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505450"/>
            <a:ext cx="1524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289" name="">
            <a:extLst xmlns:a="http://schemas.openxmlformats.org/drawingml/2006/main">
              <a:ext uri="{FF2B5EF4-FFF2-40B4-BE49-F238E27FC236}">
                <a16:creationId xmlns:a16="http://schemas.microsoft.com/office/drawing/2014/main" id="{2E92567A-5267-4723-A749-DC9E34029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7690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空间信息让表达矩阵重新回到组织结构中</a:t>
            </a:r>
          </a:p>
        </p:txBody>
      </p:sp>
      <p:sp>
        <p:nvSpPr>
          <p:cNvPr id="290" name="">
            <a:extLst xmlns:a="http://schemas.openxmlformats.org/drawingml/2006/main">
              <a:ext uri="{FF2B5EF4-FFF2-40B4-BE49-F238E27FC236}">
                <a16:creationId xmlns:a16="http://schemas.microsoft.com/office/drawing/2014/main" id="{575FB72A-DAA2-4E8F-86E7-9DE276D5E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291" name="">
            <a:extLst xmlns:a="http://schemas.openxmlformats.org/drawingml/2006/main">
              <a:ext uri="{FF2B5EF4-FFF2-40B4-BE49-F238E27FC236}">
                <a16:creationId xmlns:a16="http://schemas.microsoft.com/office/drawing/2014/main" id="{097A4CD5-AB4E-43D1-873A-48337BEFE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Conceptual framing based on spatial omics workflows; Squidpy, Nature Methods 2022.</a:t>
            </a:r>
          </a:p>
        </p:txBody>
      </p:sp>
      <p:sp>
        <p:nvSpPr>
          <p:cNvPr id="292" name="">
            <a:extLst xmlns:a="http://schemas.openxmlformats.org/drawingml/2006/main">
              <a:ext uri="{FF2B5EF4-FFF2-40B4-BE49-F238E27FC236}">
                <a16:creationId xmlns:a16="http://schemas.microsoft.com/office/drawing/2014/main" id="{4376DD80-5B95-40FA-A182-BB05E1BB7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08787454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203EC7C-8513-44B0-98F7-EC4E35A87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DATA STRUCTURE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72ACAA-DCD0-4845-851E-6EAA5658E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空间转录组数据长什么样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274A47-2829-440D-8E27-61CCA94FA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典型对象同时包含表达矩阵、空间坐标、metadata、raw/layers 与可选组织图像。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F58F3D-3C5E-4CAA-9ECB-97A33AD62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00250"/>
            <a:ext cx="3524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FA4EA7-7E8D-465F-A155-80F8BCD22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00300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314DFE-6CBC-433C-8471-794CF01E9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2400300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A8CE74-B9B8-483D-912B-C695FC48C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7950" y="2400300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3D323E-0EBF-4CE7-8295-3A603AE44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400300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F300A8-1BF5-446D-AC66-EAD169AB7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050" y="2400300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79773B-7406-40B7-9CB4-AB1E642A4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2400300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BE1949-81D8-4E31-8489-2E9243B4D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400300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AE9E0B-BC48-4261-B48A-AD8DBA1B2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0700" y="2400300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ADA835-9B86-4C20-BB2B-3BC3930A5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7250" y="2400300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BACF90-32ED-4F91-8BA7-57661FEEB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645229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FFFAF1-5F18-4B9C-97C5-05E340A5E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2645229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1FAA2B-7E77-4E9C-A6B6-B439B74FD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7950" y="2645229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AF3516-DC45-4548-BCAC-B95C96F64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645229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9F7790-9E9A-404B-8D6C-F53A993DE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050" y="2645229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38F948-0375-4380-8923-0F51AA22E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2645229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EBA2130-EBDB-42DB-A5F7-296992CB2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645229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C52D463-84DC-446F-8340-E6790796E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0700" y="2645229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7306797-6217-4445-BDB6-9CB5D0534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7250" y="2645229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8D8E87-F03B-4750-8E5B-61DFD77F2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890157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406CB84-056F-45C5-93AE-510688138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2890157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680C99A-6344-4C5D-9ED3-1665C2A9C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7950" y="2890157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E6ABC0E-090D-409D-9E63-2C4D54558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890157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D6BD64A-6726-4703-9465-32781DD53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050" y="2890157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7209D74-23F7-4473-B3F6-2BF878C26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2890157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57E8247-CDF3-4BB8-8449-F87447542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890157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F505424-7EB1-4276-8E73-3D9872304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0700" y="2890157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51BD1F7-42F8-4967-AE34-DB341CE5E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7250" y="2890157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72D81C1-A779-4D79-85FD-FC15E67A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135086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938BB03-BC1D-4D4D-A0B6-83746B026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3135086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046412D-B7EB-414B-BCC3-8C04682C7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7950" y="3135086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B901380-FD25-48C6-9B7F-D458AE3C5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135086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2FECA2B-D510-4EA8-8C08-BF8793B5D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050" y="3135086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4C392D7-C62E-49BE-A737-EC6C0D7E5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3135086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FABFE69-B82F-404E-9661-E96C68981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135086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0B26910-BFCD-496A-99B1-07AC1CCFE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0700" y="3135086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099F4F7-73C2-4AAD-B4E0-AA56AE121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7250" y="3135086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E551308-7571-4542-88D3-86428755D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380014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7BCEEC4-7A46-4F5C-8CD7-70668B9C7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3380014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CD0873E-2553-4DD6-BAA7-9272276FB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7950" y="3380014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5D57E9E-2FBE-4A05-B50D-C01D2B835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380014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1B1DC38-0F33-4A00-B0AD-20E588121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050" y="3380014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EB72244-EA1A-4CF8-836B-200B4D800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3380014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635CC96-3FA9-453E-98C4-039D8599B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380014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B5FAE41-1BC0-4FB3-B6DE-391738C48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0700" y="3380014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D5145B0-ACC4-435C-AF1E-603FF9C5D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7250" y="3380014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98B1803-38D5-49CE-9F12-B66B6E4CB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624943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DF37A96-61C4-4C26-948A-95474BD55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3624943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B8A7204-AC72-4517-AAD0-D662C809A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7950" y="3624943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0A0EC0C-E2BF-490B-A538-F4828EB70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624943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1F2D7A0-AD7F-4206-8F63-A193B9F96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050" y="3624943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289C746-ADF0-43AF-A755-6B2EA12BC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3624943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4A57959-EA5B-4FD3-A2CA-6A2586688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624943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E5344CB-994C-4E72-A11B-DC06024E6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0700" y="3624943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C88A282-8D5F-4195-B314-E4153FF17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7250" y="3624943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9A3AE52-6D3B-435F-89A8-4FE70A159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869871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01F9821-C165-4E3C-A433-8901E6CCA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3869871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6BE0602-BE5F-47B9-9B21-DFFAFB855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7950" y="3869871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A47DF08-0A14-49FA-BB7F-B0CF9BE8C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869871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CC8EC20-D4F9-4395-86B2-11AAAF0E4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050" y="3869871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DEADE4E-9879-4710-9E9A-077CE20BC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3869871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D352B2ED-21B5-40DA-8836-5BA3CA3C3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869871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D4434C3-A9C9-4232-8852-B82721CEB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0700" y="3869871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B1F9514E-C658-47D1-8D3B-A919AE656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7250" y="3869871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3E0C976-3E0C-447F-92FF-D0C587C82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09550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1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01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genes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80A13361-B2FC-4D59-80D9-7DA71E062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8384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01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spots / cells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1FFF1648-3570-494C-8582-269D2FCA2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457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X: spots/cells × genes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F30C045A-BD0F-4902-932D-4855FBD93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38350"/>
            <a:ext cx="23812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E13AB954-9F5E-494B-AFAB-A0BC02047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098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obs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73CA987C-E4D2-4734-8283-5A08A6A70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90800"/>
            <a:ext cx="2000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spot/cell metadata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total counts, cluster, cell type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5E1AAD55-19AA-4414-A7E1-7551FA663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43300"/>
            <a:ext cx="23812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0B58C4F8-E4B0-4FA4-9B52-A144201C4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147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var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9064F2B2-783C-44C0-8FAB-A1285E631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95750"/>
            <a:ext cx="2000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gene metadata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symbols, IDs, features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60BA88AD-D935-4711-A80F-08E699796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38350"/>
            <a:ext cx="25717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D8A4F061-3E36-4E51-A3CE-9851F2E09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2098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obsm["spatial"]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F9E98B99-11D5-4E42-823C-9FC1211C7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590800"/>
            <a:ext cx="2190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二维空间坐标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x / y positions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92E46456-186F-4398-88D6-AA876E83E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543300"/>
            <a:ext cx="25717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38BF4C46-DC76-4C88-AD4F-E1407DF3D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7147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rPr>
              <a:t>raw / layers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538B2FE4-D8BE-4B5B-84FD-D25673E03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095750"/>
            <a:ext cx="2190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counts, normalized,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log-transformed, scaled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3D69EBE5-3AE9-472C-9C81-A1538AB12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004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175" name=""/>
          <p:cNvCxnSpPr>
            <a:stCxn xmlns:a="http://schemas.openxmlformats.org/drawingml/2006/main" id="71" idx="3"/>
            <a:endCxn xmlns:a="http://schemas.openxmlformats.org/drawingml/2006/main" id="83" idx="1"/>
          </p:cNvCxnSpPr>
          <p:nvPr/>
        </p:nvCxnSpPr>
        <p:spPr>
          <a:xfrm xmlns:a="http://schemas.openxmlformats.org/drawingml/2006/main">
            <a:off x="3257550" y="2600325"/>
            <a:ext cx="2076450" cy="604838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75569"/>
            </a:solidFill>
            <a:prstDash val="dash"/>
            <a:tailEnd type="arrow" w="med" len="med"/>
          </a:ln>
        </p:spPr>
      </p:cxnSp>
      <p:cxnSp>
        <p:nvCxnSpPr>
          <p:cNvPr id="176" name=""/>
          <p:cNvCxnSpPr>
            <a:stCxn xmlns:a="http://schemas.openxmlformats.org/drawingml/2006/main" id="74" idx="3"/>
            <a:endCxn xmlns:a="http://schemas.openxmlformats.org/drawingml/2006/main" id="83" idx="1"/>
          </p:cNvCxnSpPr>
          <p:nvPr/>
        </p:nvCxnSpPr>
        <p:spPr>
          <a:xfrm xmlns:a="http://schemas.openxmlformats.org/drawingml/2006/main" flipV="1">
            <a:off x="3257550" y="3205163"/>
            <a:ext cx="2076450" cy="90011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75569"/>
            </a:solidFill>
            <a:prstDash val="dash"/>
            <a:tailEnd type="arrow" w="med" len="med"/>
          </a:ln>
        </p:spPr>
      </p:cxnSp>
      <p:cxnSp>
        <p:nvCxnSpPr>
          <p:cNvPr id="177" name=""/>
          <p:cNvCxnSpPr>
            <a:stCxn xmlns:a="http://schemas.openxmlformats.org/drawingml/2006/main" id="83" idx="3"/>
            <a:endCxn xmlns:a="http://schemas.openxmlformats.org/drawingml/2006/main" id="77" idx="1"/>
          </p:cNvCxnSpPr>
          <p:nvPr/>
        </p:nvCxnSpPr>
        <p:spPr>
          <a:xfrm xmlns:a="http://schemas.openxmlformats.org/drawingml/2006/main" flipV="1">
            <a:off x="5343525" y="2600325"/>
            <a:ext cx="3228975" cy="604838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75569"/>
            </a:solidFill>
            <a:prstDash val="dash"/>
            <a:tailEnd type="arrow" w="med" len="med"/>
          </a:ln>
        </p:spPr>
      </p:cxnSp>
      <p:cxnSp>
        <p:nvCxnSpPr>
          <p:cNvPr id="178" name=""/>
          <p:cNvCxnSpPr>
            <a:stCxn xmlns:a="http://schemas.openxmlformats.org/drawingml/2006/main" id="83" idx="3"/>
            <a:endCxn xmlns:a="http://schemas.openxmlformats.org/drawingml/2006/main" id="80" idx="1"/>
          </p:cNvCxnSpPr>
          <p:nvPr/>
        </p:nvCxnSpPr>
        <p:spPr>
          <a:xfrm xmlns:a="http://schemas.openxmlformats.org/drawingml/2006/main">
            <a:off x="5343525" y="3205163"/>
            <a:ext cx="3228975" cy="90011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75569"/>
            </a:solidFill>
            <a:prstDash val="dash"/>
            <a:tailEnd type="arrow" w="med" len="med"/>
          </a:ln>
        </p:spPr>
      </p:cxn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B6C42510-6DF7-42C4-B856-CA5A24F9E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34000"/>
            <a:ext cx="914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Agent 必须先 inspect dataset，因为不同数据的坐标字段、表达层和 metadata 可能完全不同。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281BA36E-3FBF-4F59-AC88-B14784D00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E934C3AD-92E7-4DB2-A2DC-E91631177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AnnData / SpatialExperiment data structures; SpatialExperiment, 2022.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6E54C9D7-FFEE-4DAF-9C5F-686FF334B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87815330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3766104-5337-485B-888B-394BC610B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DATA PLATFORMS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73DD89-1791-4AFD-A594-28560CE3F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不同技术平台的数据差异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280D35-5659-441E-B23D-D62FBFCF9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28750"/>
            <a:ext cx="247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Platform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003D9E-C6FC-4672-9598-DF1A432A1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42875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Resolution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0A4FCE-2F3B-4346-9096-109BFD894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42875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Data object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1EE80B-37ED-4116-917B-DC6B588F0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428750"/>
            <a:ext cx="3524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Analysis challenge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F74DAD-04B8-4002-A71A-2FBB97C09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28800"/>
            <a:ext cx="2476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10x Visium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EB5AC0-67B8-494D-AFF9-11E3C594A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828800"/>
            <a:ext cx="2286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spot-based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2F432B-DC35-4351-8513-664ACBE8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828800"/>
            <a:ext cx="2381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组织图像 + spots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DC11AF-AE67-47F2-944E-B0F9521DB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828800"/>
            <a:ext cx="3524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分辨率较粗，spot 混合多个细胞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797D80-7249-4AEA-8C3A-21C275476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43200"/>
            <a:ext cx="2476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Stereo-seq / Slide-seq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43FCDA-93FE-4A64-8266-E03F7CA9D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743200"/>
            <a:ext cx="2286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high-resolution spots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C39187-2A83-4CB4-B8F4-6B32C993F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743200"/>
            <a:ext cx="2381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大量 spots + 坐标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79F836-FE51-4ABF-8083-481B870E4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743200"/>
            <a:ext cx="3524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数据规模更大，坐标字段差异明显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912E50-D748-4E2D-B198-C056D6705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2476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MERFISH / Xenium / CosMx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5DA329-92BB-490A-BB38-3CD1E397A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657600"/>
            <a:ext cx="2286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imaging-based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769786-7685-446C-A321-1263674C2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657600"/>
            <a:ext cx="2381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cell-level + fixed panel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A0EF08-D9C4-4C37-A7D4-4619C8C53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657600"/>
            <a:ext cx="3524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基因 panel 固定，QC 指标不同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6B08A8B-A1A9-4E07-88FE-4C1F02AC7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10150"/>
            <a:ext cx="41910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48A875-80C7-48DB-BD3B-50D06D6D9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105400"/>
            <a:ext cx="3886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共同抽象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4554FC-B849-4DAD-BA32-FC5358927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381625"/>
            <a:ext cx="3886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表达矩阵 + 空间坐标 + metadata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7C1384-C849-4523-92AF-4DFE760B7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5010150"/>
            <a:ext cx="47625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ED7F18-B8EB-4250-B1B3-ADBF0CBC6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105400"/>
            <a:ext cx="445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rPr>
              <a:t>谨慎边界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4DEF3BB-94F7-41DC-A9D8-E9A7B4F4D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381625"/>
            <a:ext cx="445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坐标字段、表达层、QC 指标和图像信息因平台而异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30CEC0E-404A-4728-B35D-58C51DD62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C8EE1BA-E5C2-41FD-AE4F-7ECFCF310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Platform categories summarized from spatial transcriptomics literature and OSTA workflows.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68EE491-6554-4634-BABD-00BBA9806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4417119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81E87B2-1DBF-487A-A8AA-56DFD9229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STANDARD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FE91C9-8E8E-44A7-8B31-94795B501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常规空间转录组处理流程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9DFDFA-90D6-46DC-8343-0ED07B4BE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1269206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0F766E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读取与检查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5F6BEB-FE8E-4BAD-A676-D6F2C10D7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0256" y="1714500"/>
            <a:ext cx="1269206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0F766E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QC 与过滤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18DF5A-534F-4131-B830-0BFAAD366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4713" y="1714500"/>
            <a:ext cx="1269206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0F766E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归一化</a:t>
            </a:r>
          </a:p>
          <a:p xmlns:a="http://schemas.openxmlformats.org/drawingml/2006/main">
            <a:pPr algn="ctr">
              <a:defRPr sz="1125" b="1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log1p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B86AD9-ED62-4032-85E2-D2B039AE9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9169" y="1714500"/>
            <a:ext cx="1269206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0F766E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特征选择</a:t>
            </a:r>
          </a:p>
          <a:p xmlns:a="http://schemas.openxmlformats.org/drawingml/2006/main">
            <a:pPr algn="ctr">
              <a:defRPr sz="1125" b="1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PCA/UMAP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5494B7-2C77-45FD-AE2D-6B1B39BA6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714500"/>
            <a:ext cx="1269206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0F766E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Leiden</a:t>
            </a:r>
          </a:p>
          <a:p xmlns:a="http://schemas.openxmlformats.org/drawingml/2006/main">
            <a:pPr algn="ctr">
              <a:defRPr sz="1125" b="1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聚类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922C8E-5325-43BD-BB3A-16E87163C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8081" y="1714500"/>
            <a:ext cx="1269206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0F766E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空间可视化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3D508A-941D-41E5-9767-7E4DD5AFD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2538" y="1714500"/>
            <a:ext cx="1269206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0F766E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marker/SVG</a:t>
            </a:r>
          </a:p>
          <a:p xmlns:a="http://schemas.openxmlformats.org/drawingml/2006/main">
            <a:pPr algn="ctr">
              <a:defRPr sz="1125" b="1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邻域分析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98F751-8BFB-433B-8849-5AC3A07C6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6994" y="1714500"/>
            <a:ext cx="1269206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0F766E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解释 + caveats</a:t>
            </a:r>
          </a:p>
        </p:txBody>
      </p:sp>
      <p:cxnSp>
        <p:nvCxnSpPr>
          <p:cNvPr id="38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1955006" y="212407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39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319462" y="2124075"/>
            <a:ext cx="95251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40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4683919" y="212407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41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6048375" y="212407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42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7412831" y="212407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43" name="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8777287" y="2124075"/>
            <a:ext cx="95251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44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10141744" y="212407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0F766E"/>
            </a:solidFill>
            <a:prstDash val="solid"/>
            <a:tailEnd type="arrow" w="med" len="med"/>
          </a:ln>
        </p:spPr>
      </p:cxn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37FDBE-2DBA-40D0-BDEB-5146D12B8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14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120B3A1-1B50-4F1F-8BEB-103F239B9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238500"/>
            <a:ext cx="914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继承单细胞分析的预处理、降维、聚类和 marker gene 思路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277BE20-CC30-4C62-AAC8-0D77A83B3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52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1ACA8C-254C-4EDD-BB18-670985228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676650"/>
            <a:ext cx="914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加入空间坐标后，需要观察 cluster 和基因表达是否对应组织空间结构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9F01FF-8A62-4A5B-AD35-1EAEE072A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91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96F776-2241-4372-8646-9D6C57ECA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114800"/>
            <a:ext cx="914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解释阶段必须回到图表、统计摘要和数据质量边界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831B62B-59FA-478E-A966-B55FC392F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19700"/>
            <a:ext cx="9334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Scanpy 提供 preprocessing / visualization / clustering；Squidpy 在此基础上扩展空间统计与空间可视化；OSTA 系统整理了 QC、normalization、feature selection 和 downstream workflow。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A51D83-9C8D-4AE8-90E7-73AB8AECC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55DA790-355B-42F5-BD83-2332503BD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Sources: Scanpy (Genome Biology 2018), Squidpy (Nature Methods 2022), Bioconductor OSTA.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EE1E069-A95C-4FF3-BE80-02CEFA4E0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33423791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6A57F4A-FAF2-4AC6-A83B-2983D4AFD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QUALITY CONTROL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8250BA-A197-4D10-B108-3D275887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QC 为什么重要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f0e9675636428d"/>
          <a:stretch xmlns:a="http://schemas.openxmlformats.org/drawingml/2006/main"/>
        </p:blipFill>
        <p:spPr>
          <a:xfrm xmlns:a="http://schemas.openxmlformats.org/drawingml/2006/main">
            <a:off x="723900" y="2378726"/>
            <a:ext cx="4514850" cy="1509998"/>
          </a:xfrm>
          <a:prstGeom xmlns:a="http://schemas.openxmlformats.org/drawingml/2006/main" prst="roundRect">
            <a:avLst>
              <a:gd name="adj" fmla="val 3871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6AE1F0-097C-4101-AC40-203850B55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19250"/>
            <a:ext cx="447675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E9068C-4A0B-459B-BB76-A34229EB4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907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QC 检查对象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38BF1B-9377-4B7B-B563-70BA8E387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71700"/>
            <a:ext cx="4095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• total counts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• detected genes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• mitochondrial fraction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• spatial coordinates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• expression matrix state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C0E611-4837-481E-9641-811FE3707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114800"/>
            <a:ext cx="447675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3C8CFB-77BE-4624-B914-322AC319D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862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rPr>
              <a:t>表达层安全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8D64D0-6366-4948-92FC-C623D1C28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667250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count-like / normalized / scaled / unknown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先判定来源，再解释 marker / gene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28403F-65F1-4996-B3CB-00B3A8938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381625"/>
            <a:ext cx="933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如果把 scaled matrix 当作 raw counts 解释，后续 marker gene 和空间表达结论可能出现系统性偏差。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3C92A4-234C-41E4-AC50-38572E63C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7AAE91-98AD-4577-ACBC-2043FB1A2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Source: OSTA Quality Control chapter; SpatialScope expression-source guardrails.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6F4BCF-316D-409A-9359-DD6D909B3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15828127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AD21397-45F8-4378-BBB8-7C1C0553A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VISUAL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2B0DAE-FD77-4CE5-AC1F-17B29F1CB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降维、聚类和空间可视化如何配合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abcfed53d3431c"/>
          <a:stretch xmlns:a="http://schemas.openxmlformats.org/drawingml/2006/main"/>
        </p:blipFill>
        <p:spPr>
          <a:xfrm xmlns:a="http://schemas.openxmlformats.org/drawingml/2006/main">
            <a:off x="819150" y="1818738"/>
            <a:ext cx="3143250" cy="1944174"/>
          </a:xfrm>
          <a:prstGeom xmlns:a="http://schemas.openxmlformats.org/drawingml/2006/main" prst="roundRect">
            <a:avLst>
              <a:gd name="adj" fmla="val 4800"/>
            </a:avLst>
          </a:prstGeom>
        </p:spPr>
      </p:pic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4d6daa3ea84c46"/>
          <a:stretch xmlns:a="http://schemas.openxmlformats.org/drawingml/2006/main"/>
        </p:blipFill>
        <p:spPr>
          <a:xfrm xmlns:a="http://schemas.openxmlformats.org/drawingml/2006/main">
            <a:off x="4514850" y="1893420"/>
            <a:ext cx="3143250" cy="1794810"/>
          </a:xfrm>
          <a:prstGeom xmlns:a="http://schemas.openxmlformats.org/drawingml/2006/main" prst="roundRect">
            <a:avLst>
              <a:gd name="adj" fmla="val 4800"/>
            </a:avLst>
          </a:prstGeom>
        </p:spPr>
      </p:pic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c2ffdee3644fa5"/>
          <a:stretch xmlns:a="http://schemas.openxmlformats.org/drawingml/2006/main"/>
        </p:blipFill>
        <p:spPr>
          <a:xfrm xmlns:a="http://schemas.openxmlformats.org/drawingml/2006/main">
            <a:off x="8210550" y="1751809"/>
            <a:ext cx="3143250" cy="2078032"/>
          </a:xfrm>
          <a:prstGeom xmlns:a="http://schemas.openxmlformats.org/drawingml/2006/main" prst="roundRect">
            <a:avLst>
              <a:gd name="adj" fmla="val 4800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0B10C0-E964-4449-A377-3E7D005F9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362450"/>
            <a:ext cx="27241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DBB583-CF49-45E0-BBF1-9408B6770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457700"/>
            <a:ext cx="2419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UMAP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A87790-1E86-4654-8742-BD0E99698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733925"/>
            <a:ext cx="2419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表达空间相似性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A86F32-B1FB-485F-8FAC-407D5BC88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362450"/>
            <a:ext cx="27241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A8C96F-0276-49A5-B6BC-8A16A82BD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457700"/>
            <a:ext cx="2419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Spatial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E1D601-CF2F-4ACA-81CD-02E53D53A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733925"/>
            <a:ext cx="2419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组织空间位置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A5A518-3116-4669-B008-8409EC85D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362450"/>
            <a:ext cx="27241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CB45E9-0F50-41FF-A7F7-030F95DF4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457700"/>
            <a:ext cx="2419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Gene panel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315690-E19D-40FC-A8E4-F1D28CC70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733925"/>
            <a:ext cx="2419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目标基因空间分布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D0EDBE-BFD1-4B17-9235-BD73FD01D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46735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UMAP 回答“表达状态是否相似”；Spatial 图回答“这些状态在组织中在哪里”。两者必须一起看。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7E1476-92CB-4B84-8071-EE1124D62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685E67-7A08-4C65-BBD2-0694259FB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Demo embryo dataset generated for SpatialScope smoke tests.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798C33-C527-4227-BEFE-8AA930FAA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33011256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BB3B886-FABB-44F8-A463-4D0A0E103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INTERPRETATION RISK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2F9841-B22F-421C-B579-A5B255532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从图到生物学解释的风险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D7099F-E0D6-4F54-B82A-7653827DC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133600"/>
            <a:ext cx="17907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7791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图表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A8CFF1-4E24-42EB-A493-86FC98483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133600"/>
            <a:ext cx="17907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7791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统计摘要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04E5F7-BA8E-4CED-9D1F-4A9E9EEBD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133600"/>
            <a:ext cx="17907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7791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Evidence ID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BF1AC5-EB67-43E2-A028-F84A81DFD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133600"/>
            <a:ext cx="17907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7791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谨慎解释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9673B2-15FD-494A-AA10-16694D330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133600"/>
            <a:ext cx="17907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7791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Caveat</a:t>
            </a:r>
          </a:p>
        </p:txBody>
      </p:sp>
      <p:cxnSp>
        <p:nvCxnSpPr>
          <p:cNvPr id="33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3219450" y="25241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B7791F"/>
            </a:solidFill>
            <a:prstDash val="solid"/>
            <a:tailEnd type="arrow" w="med" len="med"/>
          </a:ln>
        </p:spPr>
      </p:cxnSp>
      <p:cxnSp>
        <p:nvCxnSpPr>
          <p:cNvPr id="34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5105400" y="25241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B7791F"/>
            </a:solidFill>
            <a:prstDash val="solid"/>
            <a:tailEnd type="arrow" w="med" len="med"/>
          </a:ln>
        </p:spPr>
      </p:cxnSp>
      <p:cxnSp>
        <p:nvCxnSpPr>
          <p:cNvPr id="35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6991350" y="25241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B7791F"/>
            </a:solidFill>
            <a:prstDash val="solid"/>
            <a:tailEnd type="arrow" w="med" len="med"/>
          </a:ln>
        </p:spPr>
      </p:cxnSp>
      <p:cxnSp>
        <p:nvCxnSpPr>
          <p:cNvPr id="36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8877300" y="25241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B7791F"/>
            </a:solidFill>
            <a:prstDash val="solid"/>
            <a:tailEnd type="arrow" w="med" len="med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31CE6B-7B6A-4DEA-932F-C19641C9E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676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3A4B"/>
          </a:solidFill>
          <a:ln xmlns:a="http://schemas.openxmlformats.org/drawingml/2006/main" w="0">
            <a:solidFill>
              <a:srgbClr val="B83A4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B30556-1B45-4AA5-9FEF-07291A82E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600450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cluster 不等于细胞类型，需要 marker 和外部知识支撑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A99AE7-4F66-4A5D-8563-6D452A790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076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3A4B"/>
          </a:solidFill>
          <a:ln xmlns:a="http://schemas.openxmlformats.org/drawingml/2006/main" w="0">
            <a:solidFill>
              <a:srgbClr val="B83A4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E7D297-A0F0-409A-9203-F6F7B1D87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00500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marker gene ranking 是候选证据，不是最终注释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1FA2A3-E951-4D26-9151-CEDED2048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476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3A4B"/>
          </a:solidFill>
          <a:ln xmlns:a="http://schemas.openxmlformats.org/drawingml/2006/main" w="0">
            <a:solidFill>
              <a:srgbClr val="B83A4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1384A0-2CE6-498B-9B4E-0BCF457D1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400550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空间表达集中不等于因果机制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47BB76-68D3-4FB4-B38E-2B438B615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876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3A4B"/>
          </a:solidFill>
          <a:ln xmlns:a="http://schemas.openxmlformats.org/drawingml/2006/main" w="0">
            <a:solidFill>
              <a:srgbClr val="B83A4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8660908-A079-40B4-A2A4-2C5EA8CCF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00600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LLM 必须被 evidence pack 限制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65B5D6-DC15-437B-A740-859B0B0A8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5238750"/>
            <a:ext cx="720090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CECE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3D6F8D4-CE2C-45CB-A526-1E41701D9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334000"/>
            <a:ext cx="689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B83A4B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B83A4B"/>
                </a:solidFill>
                <a:latin typeface="PingFang SC"/>
                <a:ea typeface="PingFang SC"/>
                <a:cs typeface="PingFang SC"/>
              </a:rPr>
              <a:t>SpatialScope 的处理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2A2545-698C-4563-A342-EE4127404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610225"/>
            <a:ext cx="689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每条 finding 绑定 evidence IDs、quantitative support 与 caveats。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58D3656-E812-45E5-8E64-949888A4E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F50A52-0DB8-48D2-8CB6-23293B783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Scientific interpretation principle: figures are evidence, not conclusions by themselves.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B4980E5-3DB9-4EDF-B687-C7722292F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42129321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6DB70B2-8497-4428-8B42-AFE59D2C2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FROM WORKFLOW TO AGENT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B4724D-2E9D-4E2D-983D-4553B1DBC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为什么把流程做成 Agent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34EA74-E4C5-4A89-A34A-B664E5765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57350"/>
            <a:ext cx="409575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216B36-4751-4067-BBC9-BEE5D8F7D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288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传统 notebook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8373BF-CFB6-488B-A149-EC99CBBE1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09800"/>
            <a:ext cx="3714750" cy="2457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研究问题需要手动翻译成代码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字段和表达层容易误用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失败后需要人工排查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解释容易脱离证据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46DC60-DD44-4321-81E7-5D80B2503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657350"/>
            <a:ext cx="409575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A79490-1D59-491C-82D2-A88BB1615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8288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SpatialScope Agent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C4608E-DEF6-4494-A952-AADE5CD5B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209800"/>
            <a:ext cx="3714750" cy="2457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先检查数据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生成可审阅计划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用确定性工具执行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校验结果和表达层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基于 evidence pack 解释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C60AC0-5C55-4637-8CFD-4D560F548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2857500"/>
            <a:ext cx="1143000" cy="666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CF7540-EDE5-433E-8AFE-790158856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448300"/>
            <a:ext cx="9105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Agent 的价值不是替代分析方法，而是把分析方法组织成可审阅、可追踪、可复现的流程。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434F09-7FEF-4F20-8506-974520C54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922B3E-FA8E-4C32-81D7-248E3D3DA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Design goal of SpatialScope Agent.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E51A46-A912-4F2C-95BB-3E22BDA94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66702254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B0D6528-02AE-4678-A6AB-A3DBA1B1D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LANGGRAPH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FD6100-FC8C-4DA6-9CF6-AF905871E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SpatialScope Agent 架构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642629-57C5-493D-B6AD-3E8E3F7AE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81250"/>
            <a:ext cx="1603375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0F766E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输入与检查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D115C4-F2ED-435C-856E-1D4F92D94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6375" y="2381250"/>
            <a:ext cx="1603375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0F766E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任务解析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A3993D-6C80-4D94-BC39-97642EB1C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2381250"/>
            <a:ext cx="1603375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0F766E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方案审阅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4FB7E4-4EFF-49C6-BA71-5206D5089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381250"/>
            <a:ext cx="1603375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0F766E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工具执行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F03F91-94DE-41E6-8A7C-E6A487FD7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2250" y="2381250"/>
            <a:ext cx="1603375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0F766E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校验修复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E8F36E-CFDA-4CB5-BD51-939D92191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0875" y="2381250"/>
            <a:ext cx="1603375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0F766E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证据报告</a:t>
            </a:r>
          </a:p>
        </p:txBody>
      </p:sp>
      <p:cxnSp>
        <p:nvCxnSpPr>
          <p:cNvPr id="35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2651125" y="2743200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36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4349750" y="2743200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37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6048375" y="2743200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38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7747000" y="2743200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39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9445625" y="2743200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0F766E"/>
            </a:solidFill>
            <a:prstDash val="solid"/>
            <a:tailEnd type="arrow" w="med" len="med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730DDC-E73B-471F-8D5D-9F8648AD0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409700"/>
            <a:ext cx="40005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EAF3FA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2B9EF6-CC91-4575-AA55-F3F0281AE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504950"/>
            <a:ext cx="3695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276C9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276C9E"/>
                </a:solidFill>
                <a:latin typeface="PingFang SC"/>
                <a:ea typeface="PingFang SC"/>
                <a:cs typeface="PingFang SC"/>
              </a:rPr>
              <a:t>LLM sidecar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CD8BDF-D6BE-4505-9397-4E1540377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781175"/>
            <a:ext cx="3695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理解问题、补全计划、解释 evidence pack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B2971C-0152-4033-B642-3CC5DF0E0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409700"/>
            <a:ext cx="40005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8097BF-1D07-40CE-8430-D3FDB510A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504950"/>
            <a:ext cx="3695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状态与证据层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6E32FA-6E54-4735-A0AF-1CE3546C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781175"/>
            <a:ext cx="3695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trace、metadata、parameters、evidence IDs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EF1DED-8373-4226-9A0A-A2A3FF781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733800"/>
            <a:ext cx="40005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773875B-A639-4D58-9BA6-A7207F405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829050"/>
            <a:ext cx="3695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rPr>
              <a:t>确定性工具层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7113CCC-9FB3-4D73-BA9F-47D8C37F2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105275"/>
            <a:ext cx="3695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Scanpy / AnnData / figures / tables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54F783-BB00-4774-B9C2-9A5E93979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200650"/>
            <a:ext cx="941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LLM 不直接读取完整表达矩阵；数值计算由工具层完成；解释必须回到 evidence pack。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3946806-FB3B-49D8-9AD9-5875EC4B5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E034D6B-651A-4ADA-8F12-08E7E4D4E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SpatialScope architecture implemented with LangGraph state machine.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E3A608A-54C3-47B3-92AC-E5C11B0EA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60910881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D6C9610-70C6-4D84-BEB5-AC4EA7B25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TOOL CONTRACTS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6C34EF-2308-41AD-B899-42A1B0572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Agent 如何映射常规流程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3654A3-885A-4140-8119-48025B031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1430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Standard workflow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C8DDCC-12FE-40BF-B942-5B484114E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1430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Agent tool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EF1A3E-F2A7-4568-92C6-9ABA92ADE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4287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数据结构检查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3F6F56-C783-4579-90AD-4F286BB20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4287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inspect_dataset</a:t>
            </a:r>
          </a:p>
        </p:txBody>
      </p:sp>
      <p:cxnSp>
        <p:nvCxnSpPr>
          <p:cNvPr id="38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5048250" y="16002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2DEC3C-477F-4CB6-938C-1BF349508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9240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QC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FD6609-3347-429F-BF50-8E28D81DC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9240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quality_control</a:t>
            </a:r>
          </a:p>
        </p:txBody>
      </p:sp>
      <p:cxnSp>
        <p:nvCxnSpPr>
          <p:cNvPr id="41" name="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5048250" y="20955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8EBC76-1B9E-42B4-8A32-662584687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4193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normalization / log1p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50E0B5-02AA-4354-ACB2-49C1F25F0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4193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preprocess</a:t>
            </a:r>
          </a:p>
        </p:txBody>
      </p:sp>
      <p:cxnSp>
        <p:nvCxnSpPr>
          <p:cNvPr id="44" name=""/>
          <p:cNvCxnSpPr>
            <a:stCxn xmlns:a="http://schemas.openxmlformats.org/drawingml/2006/main" id="11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5048250" y="25908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1D93F2-5303-47CE-8AEC-B20F89AE6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146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PCA / UMAP / Leiden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1A120A-54E8-4717-A4F6-E63B1ECED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9146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cluster</a:t>
            </a:r>
          </a:p>
        </p:txBody>
      </p:sp>
      <p:cxnSp>
        <p:nvCxnSpPr>
          <p:cNvPr id="47" name=""/>
          <p:cNvCxnSpPr>
            <a:stCxn xmlns:a="http://schemas.openxmlformats.org/drawingml/2006/main" id="14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5048250" y="30861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9BB1E9-143E-4BE4-82FF-B5143ABB1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4099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空间结构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1A8F56-D42E-492B-82BC-77FFD3BE5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4099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spatial_plot</a:t>
            </a:r>
          </a:p>
        </p:txBody>
      </p:sp>
      <p:cxnSp>
        <p:nvCxnSpPr>
          <p:cNvPr id="50" name=""/>
          <p:cNvCxnSpPr>
            <a:stCxn xmlns:a="http://schemas.openxmlformats.org/drawingml/2006/main" id="17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5048250" y="35814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9E82BD-14A7-4E74-A270-4DAFE2C83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052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基因空间表达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D1F53B8-3813-44AF-91DC-9AE949E42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9052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gene_panel</a:t>
            </a:r>
          </a:p>
        </p:txBody>
      </p:sp>
      <p:cxnSp>
        <p:nvCxnSpPr>
          <p:cNvPr id="53" name=""/>
          <p:cNvCxnSpPr>
            <a:stCxn xmlns:a="http://schemas.openxmlformats.org/drawingml/2006/main" id="20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5048250" y="40767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387DF8D-FBCA-4E95-89BC-6A0F2A113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005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marker gene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84D649-9224-42FC-A6C3-497ABA3B5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005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rank_markers</a:t>
            </a:r>
          </a:p>
        </p:txBody>
      </p:sp>
      <p:cxnSp>
        <p:nvCxnSpPr>
          <p:cNvPr id="56" name=""/>
          <p:cNvCxnSpPr>
            <a:stCxn xmlns:a="http://schemas.openxmlformats.org/drawingml/2006/main" id="23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5048250" y="45720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DA03C88-CF2D-42A6-9918-7F8F89D72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958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证据报告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B735C3C-1B2B-477E-AEFB-292541FFB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8958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interpret / report</a:t>
            </a:r>
          </a:p>
        </p:txBody>
      </p:sp>
      <p:cxnSp>
        <p:nvCxnSpPr>
          <p:cNvPr id="59" name=""/>
          <p:cNvCxnSpPr>
            <a:stCxn xmlns:a="http://schemas.openxmlformats.org/drawingml/2006/main" id="26" idx="3"/>
            <a:endCxn xmlns:a="http://schemas.openxmlformats.org/drawingml/2006/main" id="27" idx="1"/>
          </p:cNvCxnSpPr>
          <p:nvPr/>
        </p:nvCxnSpPr>
        <p:spPr>
          <a:xfrm xmlns:a="http://schemas.openxmlformats.org/drawingml/2006/main">
            <a:off x="5048250" y="50673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A410677-615B-43F9-AE16-46979DA1F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F658213-31DE-4D39-87E5-D61812E78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SpatialScope tool contracts map standard workflow steps into executable nodes.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93A057B-543B-4740-86CD-C58D9DBE9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97156762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F538B4B-8F02-4AD1-B7FB-22CD2A4FC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PRODUCT 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7BE0CC-CD30-4195-B552-8626BAFD5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浏览器产品流程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c23fe2e59c41c1"/>
          <a:srcRect xmlns:a="http://schemas.openxmlformats.org/drawingml/2006/main" l="0" t="17059" r="0" b="170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0100" y="1447800"/>
            <a:ext cx="4857750" cy="2000250"/>
          </a:xfrm>
          <a:prstGeom xmlns:a="http://schemas.openxmlformats.org/drawingml/2006/main" prst="roundRect">
            <a:avLst>
              <a:gd name="adj" fmla="val 5714"/>
            </a:avLst>
          </a:prstGeom>
        </p:spPr>
      </p:pic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d05606baa04213"/>
          <a:srcRect xmlns:a="http://schemas.openxmlformats.org/drawingml/2006/main" l="0" t="17059" r="0" b="170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34150" y="1447800"/>
            <a:ext cx="4857750" cy="2000250"/>
          </a:xfrm>
          <a:prstGeom xmlns:a="http://schemas.openxmlformats.org/drawingml/2006/main" prst="roundRect">
            <a:avLst>
              <a:gd name="adj" fmla="val 5714"/>
            </a:avLst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bddb49129045b5"/>
          <a:srcRect xmlns:a="http://schemas.openxmlformats.org/drawingml/2006/main" l="0" t="17059" r="0" b="170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0100" y="3905250"/>
            <a:ext cx="4857750" cy="2000250"/>
          </a:xfrm>
          <a:prstGeom xmlns:a="http://schemas.openxmlformats.org/drawingml/2006/main" prst="roundRect">
            <a:avLst>
              <a:gd name="adj" fmla="val 5714"/>
            </a:avLst>
          </a:prstGeom>
        </p:spPr>
      </p:pic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1da1475bfd488a"/>
          <a:srcRect xmlns:a="http://schemas.openxmlformats.org/drawingml/2006/main" l="0" t="17059" r="0" b="170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34150" y="3905250"/>
            <a:ext cx="4857750" cy="2000250"/>
          </a:xfrm>
          <a:prstGeom xmlns:a="http://schemas.openxmlformats.org/drawingml/2006/main" prst="roundRect">
            <a:avLst>
              <a:gd name="adj" fmla="val 5714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744D6F-FFA0-4F32-81FF-6E15E7B8D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200150"/>
            <a:ext cx="16192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E9F5F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Project: 数据 + 问题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2905F0-2797-473A-A15B-4EA71F91E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200150"/>
            <a:ext cx="14287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E9F5F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Run: live events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345B1A-F3AE-4544-AED2-6D1132AAE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657600"/>
            <a:ext cx="18097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E9F5F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Explore: Spatial + UMAP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E0BE4F-4324-4421-8BF9-63D09291F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657600"/>
            <a:ext cx="20002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E9F5F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Report: evidence + caveats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7AB34C-D4FD-4724-83B7-635673466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9F1A83-745B-413F-8018-C32D86D00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Browser-visible workflow in Streamlit.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72DE83-8A49-418D-8FD7-EC42DE64F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14114206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21471E6-3EE1-45BA-9095-EFE6F52BC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LIVE DEMO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87F250-DD26-4EA5-A93B-A2B629DA3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课堂 demo 怎么讲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5BB55C-AF74-43D0-90A7-ED4F01D21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85900"/>
            <a:ext cx="1666875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13335">
            <a:solidFill>
              <a:srgbClr val="0F766E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63" b="1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打开 app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E98B5C-2F82-454A-A34D-596438872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485900"/>
            <a:ext cx="1666875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13335">
            <a:solidFill>
              <a:srgbClr val="0F766E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63" b="1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使用胚胎 Demo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B32BA2-15E6-4997-A4A8-F42CC5C61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485900"/>
            <a:ext cx="1666875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13335">
            <a:solidFill>
              <a:srgbClr val="0F766E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63" b="1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生成方案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F57A9B-B3D1-4550-B2E5-8AFA97A83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485900"/>
            <a:ext cx="1666875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13335">
            <a:solidFill>
              <a:srgbClr val="0F766E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63" b="1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批准运行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5A2357-067F-4A8B-AB7A-947E644B3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485900"/>
            <a:ext cx="1666875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13335">
            <a:solidFill>
              <a:srgbClr val="0F766E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63" b="1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Explore 提问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C7083F-2BD6-4FF8-80B0-9E6C2C5D4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1485900"/>
            <a:ext cx="1666875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13335">
            <a:solidFill>
              <a:srgbClr val="0F766E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63" b="1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Report 复核</a:t>
            </a:r>
          </a:p>
        </p:txBody>
      </p:sp>
      <p:cxnSp>
        <p:nvCxnSpPr>
          <p:cNvPr id="38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2524125" y="1828800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39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4286250" y="1828800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40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6048375" y="1828800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41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7810500" y="1828800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42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9572625" y="1828800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0F766E"/>
            </a:solidFill>
            <a:prstDash val="solid"/>
            <a:tailEnd type="arrow" w="med" len="med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176014-6685-489D-BBC0-1F58128E9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6050"/>
            <a:ext cx="478155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41FD8F-0C5B-432E-B025-CEE2DA64F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78130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讲数据卡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7BD23E-F31A-4730-A05E-32CE93FCF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57525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240 spots · 80 genes · spatial coordinates · count-like expression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970DC3-92F2-46DA-9C08-09751D269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686050"/>
            <a:ext cx="478155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758502-696C-4687-963B-84E34916B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78130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讲计划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FCE353-37CF-4229-A88D-AD1F5F951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57525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QC -&gt; preprocess -&gt; PCA/UMAP/Leiden -&gt; spatial plot -&gt; gene panel -&gt; marker ranking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782B65-5B01-469F-9407-035B2413D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19550"/>
            <a:ext cx="47815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5DD198-45D2-4A42-B41B-290DB2508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1480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276C9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276C9E"/>
                </a:solidFill>
                <a:latin typeface="PingFang SC"/>
                <a:ea typeface="PingFang SC"/>
                <a:cs typeface="PingFang SC"/>
              </a:rPr>
              <a:t>Copilot question 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DA1E0C2-3AE8-40DA-B755-C06FFFB52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91025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哪个 cluster 的 Sox17 平均表达最高？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3D284E1-99B3-42C8-B82E-C93A3C0BE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19550"/>
            <a:ext cx="47815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AD2641C-C86D-4921-ACF8-20540AED3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1480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276C9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276C9E"/>
                </a:solidFill>
                <a:latin typeface="PingFang SC"/>
                <a:ea typeface="PingFang SC"/>
                <a:cs typeface="PingFang SC"/>
              </a:rPr>
              <a:t>Copilot question 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BC7A2C3-65B5-4981-A5FB-444D1DCBF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391025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Pou5f1 的表达是否更像集中在某些 cluster？请给出证据和局限。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87643FA-4AAB-42CA-AEE9-8FD501C82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391150"/>
            <a:ext cx="948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每一步都对应前面讲过的标准分析流程，而不是只演示按钮。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8B955DE-5D19-49BE-A8B6-2F474B03C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4C9C704-6BB2-4891-8F48-CFB4FFC02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Live app: https://spatialscope-seu.streamlit.app/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63DE6BD-E291-47CA-BA74-3CD980847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76000265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7CCFA87-F636-4E32-A115-BB6C7CF86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REAL DATA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E12AEA-7092-4BA0-87C0-60C173A52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真实数据验证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34CAC3-56E4-407B-B62F-CC19BFEB8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3619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225ABE-0641-4B76-8DBC-348B408E1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95450"/>
            <a:ext cx="323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GSE278603 E7.5 mouse embryo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A43914-79B3-4844-A77F-B82B3D137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76450"/>
            <a:ext cx="32385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GSM9046244_Embryo_E7.5_stereo_rep2.h5ad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8190 spots · 16364 genes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X_spatial -&gt; spatial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7 Leiden clusters · 0 warnings · 0 errors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d017d9f5784c7e"/>
          <a:stretch xmlns:a="http://schemas.openxmlformats.org/drawingml/2006/main"/>
        </p:blipFill>
        <p:spPr>
          <a:xfrm xmlns:a="http://schemas.openxmlformats.org/drawingml/2006/main">
            <a:off x="4868130" y="1428750"/>
            <a:ext cx="2741490" cy="2190750"/>
          </a:xfrm>
          <a:prstGeom xmlns:a="http://schemas.openxmlformats.org/drawingml/2006/main" prst="roundRect">
            <a:avLst>
              <a:gd name="adj" fmla="val 5217"/>
            </a:avLst>
          </a:prstGeom>
        </p:spPr>
      </p:pic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f3583a99454a7f"/>
          <a:stretch xmlns:a="http://schemas.openxmlformats.org/drawingml/2006/main"/>
        </p:blipFill>
        <p:spPr>
          <a:xfrm xmlns:a="http://schemas.openxmlformats.org/drawingml/2006/main">
            <a:off x="8096250" y="1612983"/>
            <a:ext cx="2952750" cy="1822284"/>
          </a:xfrm>
          <a:prstGeom xmlns:a="http://schemas.openxmlformats.org/drawingml/2006/main" prst="roundRect">
            <a:avLst>
              <a:gd name="adj" fmla="val 5217"/>
            </a:avLst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34bcda6c844bb9"/>
          <a:stretch xmlns:a="http://schemas.openxmlformats.org/drawingml/2006/main"/>
        </p:blipFill>
        <p:spPr>
          <a:xfrm xmlns:a="http://schemas.openxmlformats.org/drawingml/2006/main">
            <a:off x="6652289" y="4000500"/>
            <a:ext cx="2506922" cy="1657350"/>
          </a:xfrm>
          <a:prstGeom xmlns:a="http://schemas.openxmlformats.org/drawingml/2006/main" prst="roundRect">
            <a:avLst>
              <a:gd name="adj" fmla="val 6897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41CBCA-A139-472E-AE5A-D365FDD95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53000"/>
            <a:ext cx="3238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真实数据验证证明系统能处理真实 AnnData、真实坐标字段和更复杂的表达层状态。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DB9F73-8A43-4002-8CF3-75BB9FF28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C79668-43B3-4942-8529-3DEAF7D69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Real data source: NCBI GEO GSE278603; quick run generated locally.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E33963-7C51-4CC2-BC0E-E3CF46575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19418281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EAAB8C1-8EBE-4FE6-A60F-392A9F62E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RESEARCH USE CASES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921ED5-A045-4B50-B657-41929C842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面向真实科研场景的应用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B7BC19-15DD-4160-A7F1-C7269E91D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81150"/>
            <a:ext cx="247650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84F434-0372-437A-87D9-26C6AE98E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7526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发育生物学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467DD4-D971-407E-A0C2-F881F073B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133600"/>
            <a:ext cx="2095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比较胚胎阶段空间区域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查看 Sox17、T、Mesp1 等基因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DBA533-F458-43D4-B6AC-37FDDB4DE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1581150"/>
            <a:ext cx="247650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F4A702-F0A4-4A89-A79A-F06BFC6CC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17526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肿瘤微环境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DA9551-C0AA-44C4-920F-9F1B71442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133600"/>
            <a:ext cx="2095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识别 tumor / immune / stromal regions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分析 marker 与邻域富集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9EDB3D-B4A6-4792-ACAF-BED86A4FD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581150"/>
            <a:ext cx="247650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52F536-A10D-4A7B-B62B-90DD224C3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7526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病理切片探索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AA7348-05FA-4267-93E6-13CCE96E5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133600"/>
            <a:ext cx="2095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整合组织结构、空间表达和 cluster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支持初步探索与复核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2B5BEE-5B25-4213-BC7B-F3F25D940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581150"/>
            <a:ext cx="228600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7CC1DF-AA7D-486C-9AE9-E917A6205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7526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教学与复现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CB7870-2896-4BE4-91CB-51FD98A76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133600"/>
            <a:ext cx="1905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自然语言提出问题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自动生成计划、图表、报告和 trace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CB6406-1B5A-4964-A64F-2CA6013B3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810000"/>
            <a:ext cx="7810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AB810B-53D7-4165-BDE7-80D1AF592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981450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rPr>
              <a:t>边界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940880-E330-433E-B072-8E57F495D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362450"/>
            <a:ext cx="742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不能替代专家注释；不能把 marker ranking 当作机制证明；大型真实数据需要更强计算后端。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00A36F-052A-4FB9-ABE6-9B240CB9D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334000"/>
            <a:ext cx="941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定位：真实科研中的 exploratory analysis workspace，让研究者更快进入问题，同时保留证据和可复核性。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A1A1B2-7457-4B8D-B209-B6FDBCB10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1AD89E-2BFE-40EE-AF29-565925175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Application scenarios derived from common spatial transcriptomics research use cases.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98B89B-A709-4DEA-B2B7-71C9018A3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41499556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6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85c7b172d045d2"/>
          <a:stretch xmlns:a="http://schemas.openxmlformats.org/drawingml/2006/main"/>
        </p:blipFill>
        <p:spPr>
          <a:xfrm xmlns:a="http://schemas.openxmlformats.org/drawingml/2006/main">
            <a:off x="742950" y="533400"/>
            <a:ext cx="666750" cy="666750"/>
          </a:xfrm>
          <a:prstGeom xmlns:a="http://schemas.openxmlformats.org/drawingml/2006/main" prst="roundRect">
            <a:avLst>
              <a:gd name="adj" fmla="val 11429"/>
            </a:avLst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98D0B5-0969-4B53-9E7E-CF0F29539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90550"/>
            <a:ext cx="266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总结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93FB6E-33DA-46D5-BF7A-BF6CD977C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695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E51E98-96EC-4298-8134-249A61ACD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619250"/>
            <a:ext cx="8667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理解数据结构和标准流程，是项目基础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5E9A51-C76D-4DA3-91E3-F7215C7AC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362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EE65C9-1499-46FE-B4E7-9FB15E86F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286000"/>
            <a:ext cx="8667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SpatialScope 用 LangGraph 组织计划、执行、校验、修复和报告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9109CA-923F-46EB-A935-C6009BF56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28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20E6FF-CE0A-46C0-80C1-53D4D35DA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52750"/>
            <a:ext cx="8667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LLM 只解释 evidence pack，不替代数值分析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7B40E0-1319-470E-8CDF-3016E1F84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943350"/>
            <a:ext cx="80962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093311-48A8-4888-BEBF-20CF0003C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038600"/>
            <a:ext cx="779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交付与验证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A484A8-9BB8-4ED7-A1D9-C88CA1ACB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314825"/>
            <a:ext cx="7791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GitHub repo · Streamlit app · GitHub Pages · final PDF report · 99 passed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9CF6D0-8775-4403-94BB-309F0BE4C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5200650"/>
            <a:ext cx="6057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github.com/seu-yolo/spatialscope-agent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spatialscope-seu.streamlit.app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D321C4-2258-4606-A87C-53C95DCEA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E4F2FA-46EA-4320-9EC9-A7B34B8BD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EED884-C859-4B4B-BCC9-6FDD107BD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12405958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2026-06-25T14:58:35.4120000Z</dcterms:created>
  <dcterms:modified xsi:type="dcterms:W3CDTF">2026-06-25T14:58:35.4120000Z</dcterms:modified>
</coreProperties>
</file>