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594c5e49004754" /><Relationship Type="http://schemas.openxmlformats.org/officeDocument/2006/relationships/extended-properties" Target="/docProps/app.xml" Id="Rf8a91d4445f9460a" /><Relationship Type="http://schemas.openxmlformats.org/officeDocument/2006/relationships/officeDocument" Target="/ppt/presentation.xml" Id="R157c9a1299594f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b79985de1446fb"/>
  </p:sldMasterIdLst>
  <p:notesMasterIdLst>
    <p:notesMasterId xmlns:r="http://schemas.openxmlformats.org/officeDocument/2006/relationships" r:id="Rbb5a039dc3c64d4d"/>
  </p:notesMasterIdLst>
  <p:sldIdLst>
    <p:sldId xmlns:r="http://schemas.openxmlformats.org/officeDocument/2006/relationships" id="256" r:id="R31d91689df2d46de"/>
    <p:sldId xmlns:r="http://schemas.openxmlformats.org/officeDocument/2006/relationships" id="257" r:id="R6677fc7150f34ccb"/>
    <p:sldId xmlns:r="http://schemas.openxmlformats.org/officeDocument/2006/relationships" id="258" r:id="R1eb287a4f15844d5"/>
    <p:sldId xmlns:r="http://schemas.openxmlformats.org/officeDocument/2006/relationships" id="259" r:id="R4f3ff564842e487a"/>
    <p:sldId xmlns:r="http://schemas.openxmlformats.org/officeDocument/2006/relationships" id="260" r:id="R67ca5a4fb3e94516"/>
    <p:sldId xmlns:r="http://schemas.openxmlformats.org/officeDocument/2006/relationships" id="261" r:id="Rc0f7936399cb4e43"/>
    <p:sldId xmlns:r="http://schemas.openxmlformats.org/officeDocument/2006/relationships" id="262" r:id="R807d8324cdbd46b5"/>
    <p:sldId xmlns:r="http://schemas.openxmlformats.org/officeDocument/2006/relationships" id="263" r:id="R91526c673e6d437e"/>
    <p:sldId xmlns:r="http://schemas.openxmlformats.org/officeDocument/2006/relationships" id="264" r:id="R3d367536246a40f8"/>
    <p:sldId xmlns:r="http://schemas.openxmlformats.org/officeDocument/2006/relationships" id="265" r:id="R6b567d1e1e834bbc"/>
    <p:sldId xmlns:r="http://schemas.openxmlformats.org/officeDocument/2006/relationships" id="266" r:id="R14515d7b56d945b6"/>
    <p:sldId xmlns:r="http://schemas.openxmlformats.org/officeDocument/2006/relationships" id="267" r:id="Rc9282df482a2483f"/>
    <p:sldId xmlns:r="http://schemas.openxmlformats.org/officeDocument/2006/relationships" id="268" r:id="R8cba8ec9c12c4112"/>
    <p:sldId xmlns:r="http://schemas.openxmlformats.org/officeDocument/2006/relationships" id="269" r:id="R892c9640163a4030"/>
    <p:sldId xmlns:r="http://schemas.openxmlformats.org/officeDocument/2006/relationships" id="270" r:id="Rad8e58ff90314c45"/>
    <p:sldId xmlns:r="http://schemas.openxmlformats.org/officeDocument/2006/relationships" id="271" r:id="Rcfef8330d8b8415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15c134062a34a12" /><Relationship Type="http://schemas.openxmlformats.org/officeDocument/2006/relationships/slideMaster" Target="/ppt/slideMasters/slideMaster1.xml" Id="R94b79985de1446fb" /><Relationship Type="http://schemas.openxmlformats.org/officeDocument/2006/relationships/notesMaster" Target="/ppt/notesMasters/notesMaster1.xml" Id="Rbb5a039dc3c64d4d" /><Relationship Type="http://schemas.openxmlformats.org/officeDocument/2006/relationships/presProps" Target="/ppt/presProps.xml" Id="Rf4aa727c822c494d" /><Relationship Type="http://schemas.openxmlformats.org/officeDocument/2006/relationships/tableStyles" Target="/ppt/tableStyles.xml" Id="R5db2810e8ab4483d" /><Relationship Type="http://schemas.openxmlformats.org/officeDocument/2006/relationships/slide" Target="/ppt/slides/slide1.xml" Id="R31d91689df2d46de" /><Relationship Type="http://schemas.openxmlformats.org/officeDocument/2006/relationships/slide" Target="/ppt/slides/slide2.xml" Id="R6677fc7150f34ccb" /><Relationship Type="http://schemas.openxmlformats.org/officeDocument/2006/relationships/slide" Target="/ppt/slides/slide3.xml" Id="R1eb287a4f15844d5" /><Relationship Type="http://schemas.openxmlformats.org/officeDocument/2006/relationships/slide" Target="/ppt/slides/slide4.xml" Id="R4f3ff564842e487a" /><Relationship Type="http://schemas.openxmlformats.org/officeDocument/2006/relationships/slide" Target="/ppt/slides/slide5.xml" Id="R67ca5a4fb3e94516" /><Relationship Type="http://schemas.openxmlformats.org/officeDocument/2006/relationships/slide" Target="/ppt/slides/slide6.xml" Id="Rc0f7936399cb4e43" /><Relationship Type="http://schemas.openxmlformats.org/officeDocument/2006/relationships/slide" Target="/ppt/slides/slide7.xml" Id="R807d8324cdbd46b5" /><Relationship Type="http://schemas.openxmlformats.org/officeDocument/2006/relationships/slide" Target="/ppt/slides/slide8.xml" Id="R91526c673e6d437e" /><Relationship Type="http://schemas.openxmlformats.org/officeDocument/2006/relationships/slide" Target="/ppt/slides/slide9.xml" Id="R3d367536246a40f8" /><Relationship Type="http://schemas.openxmlformats.org/officeDocument/2006/relationships/slide" Target="/ppt/slides/slide10.xml" Id="R6b567d1e1e834bbc" /><Relationship Type="http://schemas.openxmlformats.org/officeDocument/2006/relationships/slide" Target="/ppt/slides/slide11.xml" Id="R14515d7b56d945b6" /><Relationship Type="http://schemas.openxmlformats.org/officeDocument/2006/relationships/slide" Target="/ppt/slides/slide12.xml" Id="Rc9282df482a2483f" /><Relationship Type="http://schemas.openxmlformats.org/officeDocument/2006/relationships/slide" Target="/ppt/slides/slide13.xml" Id="R8cba8ec9c12c4112" /><Relationship Type="http://schemas.openxmlformats.org/officeDocument/2006/relationships/slide" Target="/ppt/slides/slide14.xml" Id="R892c9640163a4030" /><Relationship Type="http://schemas.openxmlformats.org/officeDocument/2006/relationships/slide" Target="/ppt/slides/slide15.xml" Id="Rad8e58ff90314c45" /><Relationship Type="http://schemas.openxmlformats.org/officeDocument/2006/relationships/slide" Target="/ppt/slides/slide16.xml" Id="Rcfef8330d8b841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498234374648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c8397041fe4454" /><Relationship Type="http://schemas.openxmlformats.org/officeDocument/2006/relationships/notesMaster" Target="/ppt/notesMasters/notesMaster1.xml" Id="Rd82f2005812045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8da722cf354fb7" /><Relationship Type="http://schemas.openxmlformats.org/officeDocument/2006/relationships/notesMaster" Target="/ppt/notesMasters/notesMaster1.xml" Id="R4d34aa3d21594d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ff57098bb048b4" /><Relationship Type="http://schemas.openxmlformats.org/officeDocument/2006/relationships/notesMaster" Target="/ppt/notesMasters/notesMaster1.xml" Id="Rc6069384ff6b4b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b354ffb9c94e3a" /><Relationship Type="http://schemas.openxmlformats.org/officeDocument/2006/relationships/notesMaster" Target="/ppt/notesMasters/notesMaster1.xml" Id="R490ddf8a15a349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bf460be3c24714" /><Relationship Type="http://schemas.openxmlformats.org/officeDocument/2006/relationships/notesMaster" Target="/ppt/notesMasters/notesMaster1.xml" Id="R6330441b622549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23ef1d25524951" /><Relationship Type="http://schemas.openxmlformats.org/officeDocument/2006/relationships/notesMaster" Target="/ppt/notesMasters/notesMaster1.xml" Id="R579cf74620894c4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61e472449e746e7" /><Relationship Type="http://schemas.openxmlformats.org/officeDocument/2006/relationships/notesMaster" Target="/ppt/notesMasters/notesMaster1.xml" Id="R8e424a53d7bc4c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24133599fb4615" /><Relationship Type="http://schemas.openxmlformats.org/officeDocument/2006/relationships/notesMaster" Target="/ppt/notesMasters/notesMaster1.xml" Id="R3c6fc6f9eecf4d9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4b82a6ffcf147c1" /><Relationship Type="http://schemas.openxmlformats.org/officeDocument/2006/relationships/notesMaster" Target="/ppt/notesMasters/notesMaster1.xml" Id="R0590a0dd5fef461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f8ccd18c5f645f7" /><Relationship Type="http://schemas.openxmlformats.org/officeDocument/2006/relationships/notesMaster" Target="/ppt/notesMasters/notesMaster1.xml" Id="R624ecd5641514f8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6c87de8cef4167" /><Relationship Type="http://schemas.openxmlformats.org/officeDocument/2006/relationships/notesMaster" Target="/ppt/notesMasters/notesMaster1.xml" Id="Rfcf70a81fa7e4d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6f453655cb24ea5" /><Relationship Type="http://schemas.openxmlformats.org/officeDocument/2006/relationships/notesMaster" Target="/ppt/notesMasters/notesMaster1.xml" Id="Raa572d46af8f4a2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158a2d71f034c7a" /><Relationship Type="http://schemas.openxmlformats.org/officeDocument/2006/relationships/notesMaster" Target="/ppt/notesMasters/notesMaster1.xml" Id="R980bb3960ea44fc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250adae212b4ed8" /><Relationship Type="http://schemas.openxmlformats.org/officeDocument/2006/relationships/notesMaster" Target="/ppt/notesMasters/notesMaster1.xml" Id="R61c3f0cadbb349c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528138434164b67" /><Relationship Type="http://schemas.openxmlformats.org/officeDocument/2006/relationships/notesMaster" Target="/ppt/notesMasters/notesMaster1.xml" Id="Rf88b1000c50c492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72ba4b0575c42ed" /><Relationship Type="http://schemas.openxmlformats.org/officeDocument/2006/relationships/notesMaster" Target="/ppt/notesMasters/notesMaster1.xml" Id="R18a1e9098ccf4f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讲稿：SpatialScope Agent 是一个面向空间转录组的交互式分析 Agent。我的讲解会先从空间转录组数据本身出发，说明标准分析流程是什么；然后介绍如何把这套流程做成一个可计划、可执行、可追踪、可解释的科研 Agent。中间会切到网站，展示这个流程在真实交互界面里如何运行。</a:t>
            </a:r>
          </a:p>
          <a:p xmlns:a="http://schemas.openxmlformats.org/drawingml/2006/main">
            <a:r>
              <a:t>操作：此页停留在 PPT，不切网站。用右侧主线卡片告诉听众：先方法背景，再 Agent，再 live demo。</a:t>
            </a:r>
          </a:p>
          <a:p xmlns:a="http://schemas.openxmlformats.org/drawingml/2006/main">
            <a:r>
              <a:t>过渡：先从最基础的问题开始：空间转录组到底比普通转录组和单细胞转录组多回答了什么？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空间转录组的关键不是简单多一个坐标，而是让表达矩阵重新回到组织结构中。普通转录组回答哪些基因表达了，单细胞转录组回答有哪些细胞状态，空间转录组进一步回答这些表达和状态在组织中位于哪里。</a:t>
            </a:r>
          </a:p>
          <a:p xmlns:a="http://schemas.openxmlformats.org/drawingml/2006/main">
            <a:r>
              <a:t>操作：此页不切网站。按左到右三张卡讲，最后强调右侧空间转录组：位置和邻域是它的核心增量。</a:t>
            </a:r>
          </a:p>
          <a:p xmlns:a="http://schemas.openxmlformats.org/drawingml/2006/main">
            <a:r>
              <a:t>过渡：既然空间转录组把表达和位置结合起来，那么它的数据对象通常长什么样？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讲稿：一个典型空间转录组对象包含表达矩阵 X、样本或 spot 的 metadata、基因 metadata、空间坐标 obsm['spatial']，以及 raw/layers 里的不同表达层。raw counts、normalized、log-transformed、scaled 的含义不同，不能混着解释。</a:t>
            </a:r>
          </a:p>
          <a:p xmlns:a="http://schemas.openxmlformats.org/drawingml/2006/main">
            <a:r>
              <a:t>操作：此页不切网站。用中间矩阵作为视觉中心，依次指向 obs、var、spatial、raw/layers。最后点出底部句子：Agent 必须先 inspect dataset。</a:t>
            </a:r>
          </a:p>
          <a:p xmlns:a="http://schemas.openxmlformats.org/drawingml/2006/main">
            <a:r>
              <a:t>过渡：不同平台虽然都可以抽象成表达矩阵加空间坐标，但实际分辨率和 metadata 差异很大。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讲稿：10x Visium 是 spot-based，通常有组织图像但分辨率较粗；Stereo-seq 和 Slide-seq 分辨率更高，数据规模也更大；MERFISH、Xenium、CosMx 更接近成像式 cell-level panel。共同点是表达矩阵和空间坐标，差异在分辨率、坐标字段、图像信息、gene coverage 和 QC 指标。</a:t>
            </a:r>
          </a:p>
          <a:p xmlns:a="http://schemas.openxmlformats.org/drawingml/2006/main">
            <a:r>
              <a:t>操作：此页不切网站。讲表格时只抓共同抽象和谨慎边界，不需要展开所有平台技术细节。</a:t>
            </a:r>
          </a:p>
          <a:p xmlns:a="http://schemas.openxmlformats.org/drawingml/2006/main">
            <a:r>
              <a:t>过渡：有了这些数据结构之后，常规空间转录组分析通常按什么流程走？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讲稿：常规流程从读取和结构检查开始，然后做 QC、过滤、归一化和 log1p，再进行特征选择、PCA/UMAP、Leiden 聚类，最后看空间图、基因图、marker/SVG/邻域分析，并在解释阶段加入 caveats。</a:t>
            </a:r>
          </a:p>
          <a:p xmlns:a="http://schemas.openxmlformats.org/drawingml/2006/main">
            <a:r>
              <a:t>操作：此页不切网站。沿着流程图从左到右讲，强调这套流程不是 SpatialScope 自己发明的，而是来自 Scanpy、Squidpy 和 OSTA 等常规分析思路。</a:t>
            </a:r>
          </a:p>
          <a:p xmlns:a="http://schemas.openxmlformats.org/drawingml/2006/main">
            <a:r>
              <a:t>过渡：在这套流程里，QC 是第一道关口，因为后面所有结论都依赖输入是否可靠。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讲稿：QC 不是形式步骤。我们需要看 total counts、detected genes、mitochondrial fraction、空间坐标是否存在，以及表达矩阵到底是 count-like、normalized、scaled 还是 unknown。尤其是表达层安全，如果把 scaled matrix 当 raw counts 来解释，marker gene 和空间表达结论都可能出现偏差。</a:t>
            </a:r>
          </a:p>
          <a:p xmlns:a="http://schemas.openxmlformats.org/drawingml/2006/main">
            <a:r>
              <a:t>操作：此页不切网站。先指左侧 QC 图，再讲右侧两张卡片。重点落在黄色卡片：先判定表达来源，再解释 marker 或 gene。</a:t>
            </a:r>
          </a:p>
          <a:p xmlns:a="http://schemas.openxmlformats.org/drawingml/2006/main">
            <a:r>
              <a:t>过渡：QC 之后，最常看的就是 UMAP、cluster 和空间图。它们回答的问题不同。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讲稿：UMAP 回答的是表达状态是否相似，Spatial 图回答这些状态在组织中处于什么位置，gene panel 则看目标基因是否具有空间区域性。空间转录组不能只看 UMAP，也不能只看组织坐标，两者必须一起读。</a:t>
            </a:r>
          </a:p>
          <a:p xmlns:a="http://schemas.openxmlformats.org/drawingml/2006/main">
            <a:r>
              <a:t>操作：此页不切网站。先讲左图 UMAP，再讲中间 Spatial，最后讲右侧 gene panel。为后面网站 Explore 页面做铺垫：那里会把 Spatial 和 UMAP 放在一起看。</a:t>
            </a:r>
          </a:p>
          <a:p xmlns:a="http://schemas.openxmlformats.org/drawingml/2006/main">
            <a:r>
              <a:t>过渡：但是看到图之后还不能直接下生物学结论，因为图只是证据的一部分。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讲稿：空间转录组解释很容易讲过头。cluster 不等于细胞类型，marker ranking 是候选证据，不是最终注释；空间表达集中也不等于因果机制。所以从图到解释之间需要统计摘要、evidence ID、谨慎解释和 caveat。</a:t>
            </a:r>
          </a:p>
          <a:p xmlns:a="http://schemas.openxmlformats.org/drawingml/2006/main">
            <a:r>
              <a:t>操作：此页不切网站。沿着上方证据链从左到右讲。强调 SpatialScope 的处理方式：每条 finding 都绑定 evidence IDs，并显示 quantitative support 和 caveats。</a:t>
            </a:r>
          </a:p>
          <a:p xmlns:a="http://schemas.openxmlformats.org/drawingml/2006/main">
            <a:r>
              <a:t>过渡：因此，Agent 的价值不是替代分析方法，而是把这些方法组织成更可审阅的流程。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讲稿：传统 notebook 要求用户自己把研究问题翻译成代码，也容易在字段、表达层、失败修复上出问题。SpatialScope Agent 的目标是先检查数据，生成可审阅计划，用确定性工具执行，再基于 evidence pack 做解释。</a:t>
            </a:r>
          </a:p>
          <a:p xmlns:a="http://schemas.openxmlformats.org/drawingml/2006/main">
            <a:r>
              <a:t>操作：此页不切网站。先讲左侧 notebook 的痛点，再讲右侧 SpatialScope Agent 的对应方案。不要说 Agent 替代专家，而是说它组织流程、降低误用风险。</a:t>
            </a:r>
          </a:p>
          <a:p xmlns:a="http://schemas.openxmlformats.org/drawingml/2006/main">
            <a:r>
              <a:t>过渡：接下来进入架构：这个 Agent 里面 LLM、LangGraph 和工具层分别做什么？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讲稿：SpatialScope 使用 LangGraph 组织 state machine。LLM sidecar 负责理解问题、补全计划和解释 evidence pack；State/Evidence 层记录 trace、metadata、parameters 和 evidence IDs；确定性工具层负责 Scanpy、AnnData、figures 和 tables。LLM 不直接读取完整表达矩阵，数值计算由工具完成。</a:t>
            </a:r>
          </a:p>
          <a:p xmlns:a="http://schemas.openxmlformats.org/drawingml/2006/main">
            <a:r>
              <a:t>操作：此页不切网站。按上方 LLM sidecar、State/Evidence，中间 LangGraph，底部工具层和解释边界的顺序讲。</a:t>
            </a:r>
          </a:p>
          <a:p xmlns:a="http://schemas.openxmlformats.org/drawingml/2006/main">
            <a:r>
              <a:t>过渡：这个架构不是抽象图，它会具体映射到标准空间转录组 workflow 的每一步工具。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讲稿：这一页说明 SpatialScope 不是空泛概念，而是把标准空间转录组流程拆成明确工具契约。inspect_dataset 对应数据结构检查，quality_control 对应 QC，preprocess 对应 normalization/log1p，cluster 对应 PCA/UMAP/Leiden，后面还有 spatial_plot、gene_panel、rank_markers 和 interpret/report。</a:t>
            </a:r>
          </a:p>
          <a:p xmlns:a="http://schemas.openxmlformats.org/drawingml/2006/main">
            <a:r>
              <a:t>操作：此页不切网站。讲两列表格时可以说：左边是刚才介绍的方法流程，右边是 Agent 里的工具节点。</a:t>
            </a:r>
          </a:p>
          <a:p xmlns:a="http://schemas.openxmlformats.org/drawingml/2006/main">
            <a:r>
              <a:t>过渡：到这里为止，PPT 展示的是设计逻辑。下一页开始把这套逻辑切到真实网站体验。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讲稿：前面讲的是空间转录组分析应该怎么做，以及 Agent 如何组织这套流程。现在切到网站，看同一套流程如何变成实际交互体验。Project 理解数据和问题，Run 执行计划，Explore 联动 Spatial 与 UMAP，Report 做证据复核。</a:t>
            </a:r>
          </a:p>
          <a:p xmlns:a="http://schemas.openxmlformats.org/drawingml/2006/main">
            <a:r>
              <a:t>操作：先留在 PPT 讲完这页。讲完后切到浏览器，打开 https://spatialscope-seu.streamlit.app/。如果网站已经打开，直接切到浏览器标签页。</a:t>
            </a:r>
          </a:p>
          <a:p xmlns:a="http://schemas.openxmlformats.org/drawingml/2006/main">
            <a:r>
              <a:t>网站展示目标：不是逐个按钮介绍，而是证明三件事：数据是否被理解，流程是否可追踪，解释是否回到证据。</a:t>
            </a:r>
          </a:p>
          <a:p xmlns:a="http://schemas.openxmlformats.org/drawingml/2006/main">
            <a:r>
              <a:t>过渡：下一页是网站演示路线图。先看路线，再切到浏览器实际操作。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讲稿：这一页是现场演示路线。网站演示只抓主线：Project 看数据是否被理解，Run 看流程是否可追踪，Explore 看空间图、UMAP 和 Copilot 是否能围绕证据工作，Report 看最后结论是否有 evidence 和 caveat。</a:t>
            </a:r>
          </a:p>
          <a:p xmlns:a="http://schemas.openxmlformats.org/drawingml/2006/main">
            <a:r>
              <a:t>操作 1 - Project：切到网站后点击早期胚胎 Demo。保留默认问题，或输入：检查这个早期小鼠胚胎空间数据的质量，比较空间结构与 UMAP 聚类，并查看 Pou5f1、Sox17、T 和 Mesp1 的空间表达。总结主要观察和局限。</a:t>
            </a:r>
          </a:p>
          <a:p xmlns:a="http://schemas.openxmlformats.org/drawingml/2006/main">
            <a:r>
              <a:t>操作 2 - 生成方案：点击检查数据并生成方案。展示 dataset card：240 spots、80 genes、spatial coordinates、count-like expression。说：Agent 先 inspect dataset，而不是直接运行分析。</a:t>
            </a:r>
          </a:p>
          <a:p xmlns:a="http://schemas.openxmlformats.org/drawingml/2006/main">
            <a:r>
              <a:t>操作 3 - Run：继续查看方案，指出 QC、preprocess、UMAP/Leiden、spatial plot、gene panel、marker ranking、report。点击批准并运行。展示 live LangGraph events，强调不是黑箱 spinner。</a:t>
            </a:r>
          </a:p>
          <a:p xmlns:a="http://schemas.openxmlformats.org/drawingml/2006/main">
            <a:r>
              <a:t>操作 4 - Explore：运行完成后打开探索工作区。展示 Spatial 和 UMAP side by side，指出 cluster 颜色一致。展示 gene panel。</a:t>
            </a:r>
          </a:p>
          <a:p xmlns:a="http://schemas.openxmlformats.org/drawingml/2006/main">
            <a:r>
              <a:t>操作 5 - Copilot：提问：哪个 cluster 的 Sox17 平均表达最高？再问：Pou5f1 是否集中在某些 cluster？请给出证据和局限。强调回答要显示 evidence IDs。</a:t>
            </a:r>
          </a:p>
          <a:p xmlns:a="http://schemas.openxmlformats.org/drawingml/2006/main">
            <a:r>
              <a:t>操作 6 - Report：打开 Report，展示 3-5 条 findings。每条都指出 evidence 和 caveat。说：Report 的意义是可复核，不是自由发挥。</a:t>
            </a:r>
          </a:p>
          <a:p xmlns:a="http://schemas.openxmlformats.org/drawingml/2006/main">
            <a:r>
              <a:t>回到 PPT：网站演示结束后回到 Slide 14，讲真实数据验证。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讲稿：这一页讲真实数据验证，不展开算法细节。前面网站演示用的是小型 demo，因为在线部署要稳定；但为了证明系统不只依赖 toy data，我又用公开真实数据 GSE278603 的 E7.5 mouse embryo Stereo-seq 样本做了本地验证。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先看左侧数据卡。这个样本有 8190 个 spots 和 16364 个 genes，是真实的空间转录组 AnnData。原始文件里的空间坐标字段叫 X_spatial，系统可以把它标准化为常用的 spatial 字段，然后继续执行分析。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再看右侧三类输出。左上是空间聚类图，把分析得到的分组放回真实组织坐标；右上是 UMAP 图，用来观察表达状态是否能形成结构；下面是基因表达面板，用 Sox17、T、Mesp1、Pou5f1 这些发育相关基因查看空间表达趋势。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这里我想强调的不是“发现了一个新的胚胎发育机制”，而是验证系统的工程和科研可用性：真实数据能读入，真实坐标能识别，标准流程能跑完，图表和报告能生成，而且 quick run 没有 warnings 和 errors。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边界也要说清楚：这只是 smoke validation。要做正式生物学结论，还需要更完整的参数调优、marker gene 证据、组织学背景和专家注释。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过渡：真实数据验证说明系统有一定泛化能力。接下来说明它在真实科研场景中可以怎么用，以及它的边界在哪里。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讲稿：真实数据验证之后，再回到真实科研场景。SpatialScope 可以作为 exploratory analysis workspace。发育生物学里可以比较不同胚胎阶段的空间区域，并查看 Sox17、T、Mesp1 等基因；肿瘤微环境里可以探索 tumor、immune、stromal regions；病理切片探索中可以整合组织结构、空间表达和 cluster；教学中可以帮助学生从自然语言问题进入可复现分析。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操作：此页留在 PPT。讲四个场景时不要承诺过度，最后一定强调黄色边界：不能替代专家注释，不能把 marker ranking 当作机制证明，大数据需要更强计算后端。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过渡：最后总结项目的核心贡献和交付。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讲稿：最后总结三点。第一，理解空间转录组数据结构和标准分析流程是项目基础。第二，SpatialScope 用 LangGraph 把流程组织成计划、执行、校验、修复和报告。第三，LLM 被限制在 evidence pack 内，用于解释和问答，而不是替代数值分析。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操作：此页留在 PPT。指向交付与验证卡片：GitHub repo、Streamlit app、GitHub Pages、final PDF report、99 passed。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收尾：这个项目的目标是让研究者更顺畅地探索空间转录组数据，同时保留可追踪性、可复现性和科学解释的谨慎性。然后准备回答问题。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致谢：最后可以简短补一句：I gratefully thank Professor Peng Xie and Teaching Assistant Binyu Gao, School of Biological Science and Medical Engineering, Southeast University.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122549e7a24d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6ca41ef7e54e90" /><Relationship Type="http://schemas.openxmlformats.org/officeDocument/2006/relationships/slideLayout" Target="/ppt/slideLayouts/slideLayout1.xml" Id="Ra9421d92c30041e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421d92c30041e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e8ec29936481f" /><Relationship Type="http://schemas.openxmlformats.org/officeDocument/2006/relationships/image" Target="/ppt/media/image.png" Id="R9f979938bb084224" /><Relationship Type="http://schemas.openxmlformats.org/officeDocument/2006/relationships/image" Target="/ppt/media/image2.png" Id="Rb241446bbfbc4f09" /><Relationship Type="http://schemas.openxmlformats.org/officeDocument/2006/relationships/notesSlide" Target="/ppt/notesSlides/notesSlide1.xml" Id="R2750bd550e7144e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f257a43f304856" /><Relationship Type="http://schemas.openxmlformats.org/officeDocument/2006/relationships/notesSlide" Target="/ppt/notesSlides/notesSlide2.xml" Id="R2e2c247976fb4b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ada947f5c4e98" /><Relationship Type="http://schemas.openxmlformats.org/officeDocument/2006/relationships/notesSlide" Target="/ppt/notesSlides/notesSlide3.xml" Id="R8f907db9211748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616c4c2534001" /><Relationship Type="http://schemas.openxmlformats.org/officeDocument/2006/relationships/notesSlide" Target="/ppt/notesSlides/notesSlide4.xml" Id="Rd5040cd1c50a49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ca84082a0244e2" /><Relationship Type="http://schemas.openxmlformats.org/officeDocument/2006/relationships/notesSlide" Target="/ppt/notesSlides/notesSlide5.xml" Id="Ree7a22e241f748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1b70e5a1c34c2a" /><Relationship Type="http://schemas.openxmlformats.org/officeDocument/2006/relationships/image" Target="/ppt/media/image3.png" Id="R1cefa228351246e9" /><Relationship Type="http://schemas.openxmlformats.org/officeDocument/2006/relationships/notesSlide" Target="/ppt/notesSlides/notesSlide6.xml" Id="Rc9e03b39f6b9417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8a454b44f4e52" /><Relationship Type="http://schemas.openxmlformats.org/officeDocument/2006/relationships/image" Target="/ppt/media/image4.png" Id="Rc5ba61cabb3f4f81" /><Relationship Type="http://schemas.openxmlformats.org/officeDocument/2006/relationships/image" Target="/ppt/media/image5.png" Id="Rfea42e524e9f4ac7" /><Relationship Type="http://schemas.openxmlformats.org/officeDocument/2006/relationships/image" Target="/ppt/media/image6.png" Id="R26366c22b1464d91" /><Relationship Type="http://schemas.openxmlformats.org/officeDocument/2006/relationships/notesSlide" Target="/ppt/notesSlides/notesSlide7.xml" Id="R56e8ab4396134a1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80aa8c12144908" /><Relationship Type="http://schemas.openxmlformats.org/officeDocument/2006/relationships/notesSlide" Target="/ppt/notesSlides/notesSlide8.xml" Id="Rc25465f18edd4d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8f997dfd04ff7" /><Relationship Type="http://schemas.openxmlformats.org/officeDocument/2006/relationships/notesSlide" Target="/ppt/notesSlides/notesSlide9.xml" Id="Rbd339550a53643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5807a4266d462a" /><Relationship Type="http://schemas.openxmlformats.org/officeDocument/2006/relationships/notesSlide" Target="/ppt/notesSlides/notesSlide10.xml" Id="R00257ff2275d4b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0ec317876469b" /><Relationship Type="http://schemas.openxmlformats.org/officeDocument/2006/relationships/notesSlide" Target="/ppt/notesSlides/notesSlide11.xml" Id="Rd332a39b71cb4f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77837f2dd4abf" /><Relationship Type="http://schemas.openxmlformats.org/officeDocument/2006/relationships/image" Target="/ppt/media/image7.png" Id="R6a740240412c45f1" /><Relationship Type="http://schemas.openxmlformats.org/officeDocument/2006/relationships/image" Target="/ppt/media/image8.png" Id="Rd9f2efc541a54290" /><Relationship Type="http://schemas.openxmlformats.org/officeDocument/2006/relationships/notesSlide" Target="/ppt/notesSlides/notesSlide12.xml" Id="R833ad7e8e2b946d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e4b0fe98447b8" /><Relationship Type="http://schemas.openxmlformats.org/officeDocument/2006/relationships/notesSlide" Target="/ppt/notesSlides/notesSlide13.xml" Id="R542a6feb77d34ab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0ccfc90294bd6" /><Relationship Type="http://schemas.openxmlformats.org/officeDocument/2006/relationships/image" Target="/ppt/media/image9.png" Id="Rd070f17e4c104222" /><Relationship Type="http://schemas.openxmlformats.org/officeDocument/2006/relationships/image" Target="/ppt/media/image10.png" Id="Rb7d5266d8d114ea7" /><Relationship Type="http://schemas.openxmlformats.org/officeDocument/2006/relationships/image" Target="/ppt/media/image11.png" Id="R250634656a064ff6" /><Relationship Type="http://schemas.openxmlformats.org/officeDocument/2006/relationships/notesSlide" Target="/ppt/notesSlides/notesSlide14.xml" Id="R07ed8960ea25435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6053bce6fc4a7e" /><Relationship Type="http://schemas.openxmlformats.org/officeDocument/2006/relationships/notesSlide" Target="/ppt/notesSlides/notesSlide15.xml" Id="Rdd92ab6c82724f7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005ff669c4fdc" /><Relationship Type="http://schemas.openxmlformats.org/officeDocument/2006/relationships/image" Target="/ppt/media/image12.png" Id="R446b0e922a184627" /><Relationship Type="http://schemas.openxmlformats.org/officeDocument/2006/relationships/notesSlide" Target="/ppt/notesSlides/notesSlide16.xml" Id="R9477487b4a3f42f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D45CC2-BA33-4CD2-BB96-5DC7CBBA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A9157-EC5E-4731-A675-DD04E90F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-11430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2CC"/>
          </a:solidFill>
          <a:ln xmlns:a="http://schemas.openxmlformats.org/drawingml/2006/main" w="0">
            <a:solidFill>
              <a:srgbClr val="EFE2CC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979938bb084224"/>
          <a:stretch xmlns:a="http://schemas.openxmlformats.org/drawingml/2006/main"/>
        </p:blipFill>
        <p:spPr>
          <a:xfrm xmlns:a="http://schemas.openxmlformats.org/drawingml/2006/main">
            <a:off x="10525125" y="495300"/>
            <a:ext cx="781050" cy="7810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1FD50-C1EF-4E71-9D59-46311738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CCBFC-7202-4F5A-8DF7-38384AB5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基于 LangGraph 的空间转录组分析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BC6A65-9BDF-43AA-BFD0-81D1D810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rPr>
              <a:t>顾兴均  ·  11323112  ·  Spatial Transcriptomics Agent Project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1446bbfbc4f09"/>
          <a:srcRect xmlns:a="http://schemas.openxmlformats.org/drawingml/2006/main" l="0" t="10358" r="0" b="103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3950" y="2876550"/>
            <a:ext cx="6381750" cy="3162300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823933-9A98-4280-B00C-C9E6A21F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00375"/>
            <a:ext cx="3143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C68937-8395-4CF1-BDAB-44088CBE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718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FA922-4936-4F7C-9EF2-25D508C7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5282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从空间转录组数据与标准流程出发，展示如何构建可审阅、可追踪、证据约束的科研 Agent。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263BA-8C0E-452D-8DAA-A374DB72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876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491B8D-F08A-488A-9BA3-F378D43D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815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Streamlit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6BFAC1-4316-4A46-BF79-117289B6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7815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 Pages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1BF34E-3C6D-4B5B-A4C5-BCCE5CFE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00650"/>
            <a:ext cx="342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seu-yolo.github.io/spatialscope-agent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BD8D2F-24CB-4522-A37F-4F7D6608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166457-EA9B-4F55-AB41-73E87F90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82904A-1996-424F-A3A4-8B2C3BCF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09755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11043A-BAF6-4A44-9E61-A0D41227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BACKGROUND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AECADA-99E1-4E71-A634-172C38A3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空间转录组解决什么问题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98E25-EE82-41E6-A830-AD0F8796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从“表达了什么”到“在组织中哪里表达”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54BC3A-6D59-4701-9D93-D4BE53E5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0E0C19-8473-40AE-8213-710C4113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普通转录组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BC2F0-534F-45E8-810D-C31CC0A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哪些基因表达了？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表达量如何变化？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B8877-4FDB-4BC4-B55D-4B5EE4EF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38BF5-E349-4CBC-B18B-24BFE865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单细胞转录组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DC9D9B-3221-446C-BC26-55FC1AB7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有哪些细胞类型或状态？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细胞之间如何分群？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3C64E-B5C5-4468-9355-6D405628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70476-2CF4-4C31-B8E8-C424737A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空间转录组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5B6B9-FC68-4EF5-996F-45FB71FA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这些表达和状态在组织中位于哪里？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是否形成空间区域和邻域？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98127-37BB-41E6-A498-2D4A2D96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D3FAD4-6849-427D-BC2F-5E4E49BE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44E1B4-637A-418D-BF25-A8AF8661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B8489C-44B5-4FC1-84F0-158E19A7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9D3FEE-31B0-4B40-85EC-F7F5DD53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3F1F96-387B-46D9-9E88-3D884B83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58120-DE1C-4CCB-B9A8-7A4390DE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B23F87-104B-4A2E-8CC0-24046406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CA1B93-4D5D-4C0B-97E0-96A57CF1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84F1E4-6418-4FE0-ADDE-2DF239F3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2002B2-218C-4785-8040-F7E36D49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CA392E-5646-4F0D-8981-0EF5AC0B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6A21B4-1021-45C9-ABA1-FADEE235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1692CE-BC8B-4ECF-85A7-0C099D42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AA6B91-F2B0-4100-B4DD-23B5EAF9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991285-E64B-4D7C-BDB8-10966B98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EE63E-5554-4618-80E0-C00D11F1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B29DA2-2F71-4FA7-A25D-8B9B626F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2FF7F8-80F1-48E4-BAB9-3D21D0B8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AB6D70-88E4-45B9-8F0C-885C7492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F13A19-951B-407E-ACDE-AFACF492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888C87-4C7B-4157-BFCC-B7C29228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00B6D3-DE7C-4FC7-929C-A270FB3D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F38270-B27F-46AB-A131-6DC7064D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FEC17E-5416-4F16-8E3E-96A2A01B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4C91F1-E99D-435D-A17F-95227EDC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52CAF5C-84BA-4DA3-9175-4C903757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7003AF-AD8E-449B-B992-3C5C4398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3E5600-8269-4E02-975A-E6486888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1715E9-07D2-4D8E-A530-FCC33B80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D5F1C1C-6B4C-41A3-8076-BCCB26FF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D2742B-22A6-4683-88A8-4B7E0DC7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933433-19F1-4FB9-A37B-F612B8FF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97427F-D56E-41BD-B2A6-14E4E6C7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013C560-9FE9-479A-9A89-14B24E3A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E48A706-4366-4DCF-8988-FECAF7D1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573123D-A789-481F-A4E3-222E1214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3BE7B1-47C4-4C0F-BB91-454836F3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4E7C226-DD92-432E-AAE1-83100F9E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42E1707-EE01-4112-8E7B-EC383E00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561097-D052-4D77-A894-966C3786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315FC7A-B6A6-43A8-A5DE-D4B5DC400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E45C640-BE39-43C1-B608-5EE90600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9647612-307F-4AF6-95CE-9597F09B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CE8FAD-A526-4F8E-8367-8937D09C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78BF55B-0EE0-4AFE-911D-A3AF59B8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52B20D3-9482-463D-8E3D-350788DC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F313A28-4AA2-4179-AC13-2C1A4998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09DA65D-9FDD-4D6A-9201-0FCDB4D9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A653A35-F270-46DE-9205-5C6773B4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48369A8-254C-44F8-BB36-76640BC2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DBE7E2E-2A05-4E05-969E-996DC2E5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74CD5B3-DA09-43E4-9FCA-5DA90976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F45BE7D-7C53-4763-88A5-73CB1174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2CFB6FA-2BAD-4B21-BF90-8F63563D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F4943A0-6B0A-40E2-B0CB-ADB77540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A8BCB97-4D7D-46D6-9F6E-426C9D8D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688AA2B-39ED-4BD3-991B-599901CD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C9D84CB-3C1B-4A81-B556-0B8D7784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3DE4D51-8C57-4721-B758-AF02DA7D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003F349-62BE-49EA-A173-4EF711FB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0E2A447-D3D1-4C62-A13B-36389CB5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36FD14-C0AE-43EC-A37E-DC4F0ADF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66AA61E-E60C-4D8A-AA23-9E750662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C2D8112-8D18-4052-BBE2-C2A7173E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2D541D7-5EB7-4D04-9809-A330E357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8B52FF5-CD8B-4CB7-A0C1-1533A0CC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C10BB0A-A75C-4C03-AE0E-2EB63C0E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F4CD069-EFB1-49F8-8C29-F4C1EF3D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CEB12BE-C9D3-4790-8028-C4027900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A5F984C-1230-47D1-A855-352DCDD6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737490C-B8F1-43AA-90E4-68B5F94E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6D09ED3-3F01-4E36-B58C-C11F1CA4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F09F414-A287-4CFF-BC6C-2E0A6C82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FDEAA48-A4C5-41C3-8407-D1BFFE23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2FACA01-063C-4CA4-933B-F286B0F8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D86B757-9241-4863-8915-09937536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B5F9CDD-4243-4E56-B8DB-70F42BC2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BC6EF5E-AEA1-45B5-BEE0-BE8B0109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8132B85-1E6F-42B2-8132-1F2C35AF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D15EBDF-CDFF-43A7-AAD2-B48AFE97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65AF22C-6A71-4A82-893C-AAE5E2D5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A9B72DA-82B9-4C21-A547-D169EAB8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EF67CEA-88E3-4916-91BD-18DE2EAA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F36D38C-DC01-46EB-8973-80C6E8DE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442268E-A91F-4131-8932-575FFEDA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00AE230-F1B5-4281-A37E-0F08DCBE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8C17B46-4C4B-4E1F-BDD6-6311F84B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520396F-D090-4CAB-BD1A-3ADDB45F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3C7A03F-C63C-4998-AC09-AD2E74C4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AC511E9-7CE3-4930-A2B3-423DEE19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5FAF5B9A-0846-48E5-B7B8-BB5EED66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4B9DE94-98B3-47ED-9462-AA97A11F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5E26FE2-CFB8-474D-9019-24FE295A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F71432A-3F10-4E45-B7B1-38D2DB4B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EE8A5E30-FE74-4EB1-8F6C-B29E900D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DE8C3D4-2365-46C0-BCEF-7EF36305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DF9DBC1-2894-4722-A001-2F576DED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29F1AA2-13D8-4956-890B-457EC3D6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DBF9E26-570B-475C-B744-6D5FC645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0CAF906-B1EB-4DD6-A7CD-DD531BC9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78B43C5-116F-4F8D-944A-9455DE79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035B925-9DAD-4DB0-A586-4B6762BA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589177A-31C1-4E70-8C79-382DAF38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1099C4A-B39E-4FC3-9C4A-6F440E32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38BB667-38BC-44D7-A887-958E53F0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86AFB5E-CF34-4697-8BB6-71172181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9CD93AF-FEB5-439A-AFC3-453BBDBB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51AC92E-0A4B-414A-A640-3BE276C7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FC4E615-F1D8-4EF0-BFE6-87FFC74E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BE6E4F54-7B9E-45B8-B435-435BEAD3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86CD193-A94B-4E54-B899-414D0A92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71654C6-84A2-4FEB-9302-92044278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F0151AF-62F7-426F-AD79-3E0993EB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B941E40-873C-408F-BBDF-721D8020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B038E41-8FA4-438B-98A2-CEE216AA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63E5CEE-2594-4FC5-AE41-F65D8D60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ABC4D51-1E3E-4CC0-A1B0-A6D2C61D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3F70656-9274-4B8C-9D5D-238ABBEF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66AB0FD-40D6-45A6-AAD6-CFFA0300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122002C-3882-4406-A682-9D8ABBE1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58363AF-5A0A-4D2E-8ED6-933935AD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AE4016E8-B51A-439E-8F0B-565EDA63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8D3817A-46A2-4E2C-B497-73F9673F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91A8AFEE-05C1-4485-9353-7B9095D5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F24FE9C3-E58C-419A-B49B-2274B1CF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A7DEFD4-92DB-4646-BF9A-604B43E5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ACFC94F-877D-4950-9DDE-4662D4F8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61BF2E32-9159-4C58-9C6F-5A8D2E54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B087682-2FCA-4942-9481-8870A583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66CCDFD-EC2B-4C36-9FE6-796AB811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E9F845F7-2C59-47C2-B81D-492A714E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ACEA92EB-3E13-4FDF-8455-0619B5DE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90CAEA03-A409-4994-B3E2-A1C3B3D0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5652DD5-F894-4243-A264-CA686608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9ABC1C81-C393-44A3-86A2-86B11288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03CF159A-6907-42A0-A6FE-F6FFBFA9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38F15794-4A7F-4E33-9976-4137CD9D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F4F26FC5-3B13-4A2B-A228-13F73093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9369A71C-5698-4454-8C04-AFD0F521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2510DEFF-871F-48C9-BAC3-F42E1073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7FC6889-8E21-4F68-A9E0-3AB7451E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6A04BFE-022E-4B38-87E4-1A05D4C7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B063C59C-EC93-4872-BC62-38053514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B31BD1E9-4C1F-4B70-A39C-488C1FC6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2BF9CF43-61D9-48A2-A515-A83D49B4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E4BDC02-7551-41FB-80B3-B92C9E06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C77EB3A-CEF8-454C-A6AD-5343A8A4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519DCD8D-3B1D-41ED-9B84-261BD333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CE4DD5EE-0D8F-4320-9CC9-5806CCC4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A82F904E-3FB9-435E-8547-6F7337BB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6DC77616-0B52-411E-BDEA-6F3CFF9A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484B7B77-76A9-42D6-B663-D0688945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3E5A47DC-EEEA-4442-A956-D3BBD585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C8185B70-8DAA-4D25-8E3A-7D580319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162686E-47AE-4613-B752-19D8B33D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112AB6E-CCD8-4838-8E84-3E36947F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84D771B-E661-446A-8C5C-BFA7047B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07A2E637-972E-40F2-B126-2EF3DC25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1923172D-6523-491B-B3B2-B2AC034B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8B5E221F-19E9-4B41-82B2-43466B44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16B67D0-B332-49AC-BEA9-E2128661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5DF2D8D9-DB19-4EED-B264-74538D7D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4B8BD37B-5D2B-4952-AFAE-09DE1BF3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1CC1AC8-E3B9-4672-BF77-B2250890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B3A69BF-BD5F-4DCA-BD30-741D9EE9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922D3F24-E048-4B45-9642-665AA7F2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1D18C91-19C7-4C9C-A9BB-87CF7CEC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1087FD2-79AE-4FBA-9A4F-02AC012E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09E4686A-F9AB-4C8D-AABE-E1F2A0C2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5F10E299-4741-44E8-80B8-8B270194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71245BAB-B486-409A-812F-BD11A6B7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62DE8B04-F0CD-4E27-9492-E9CBF685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6028D2E8-7F47-40FE-BCB6-623AB25B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851C54AA-0B21-4EEA-905B-33D4AE67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5F5196E1-0943-4907-9760-22DE0AC1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4F7F40FE-FC2C-4703-9D7F-51F535FB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DA1D7D5E-E118-48A6-8EE2-0029D5BF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48CE3BAC-DF3C-4241-84F6-7930D288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1975108D-DF9C-41C9-9026-AE731F66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C8B48E21-C3E9-4E59-AC2E-E302BBF8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E2AFC701-13A8-45F1-B17C-B8E9C607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6EAF77E0-55A8-4B79-A50C-DFFB9EDD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D5331775-D8E4-49C9-85E2-9FBFBBE2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A05F0232-F7B5-4F4F-8CC8-C748230F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D591B423-BA7A-4C70-9763-36A2439C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7EA134F1-8E52-4E07-B22A-6615989C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524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F0B45FDA-2F20-48B7-A0DE-12B7EFEA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8196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951E1ED7-977F-4219-8F97-DBFFEEB0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314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C144704A-9F3E-46D8-BD00-16DAFD32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FC0DEA00-3203-414F-B84E-949096C4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905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EA00545A-37F6-4806-A740-83E2EA6B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00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62DA44E2-3CC6-415B-8B1D-EDE05939D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0AC3A14D-F174-4F04-B9F8-EA9583F7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3B37F1A4-BBDB-4BC6-8F94-EC4DBFC9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C467DFC9-8B16-4A0B-9BFB-9F4385F9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863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76AFC3DD-2FDB-4B26-BAB4-00D1DB1B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107AAF44-1726-4FA6-ACA9-68AA0E27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DB4EA20B-2AB1-43B3-84F4-630CF13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972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73D5FFE0-E570-4878-824C-A8F01E01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72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F1227FC6-5F25-48B6-AC8D-7AD16516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67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66151686-7661-4850-A4C0-E7ABEF2B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2D3C028C-A636-49A5-AEEC-DBD10BEB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6577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B2B1C06A-75ED-4178-8087-12EA9737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2EBB2AEA-05B1-4E9B-A898-C90F7736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48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96CBD079-91A5-40A1-A8DA-5D776E64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865CC788-F27E-46BD-83D8-3262270F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343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53EC8323-85A6-47D5-895E-0265593F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38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FDE25F9F-7819-4BF9-97BD-CCA7280E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33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8F651180-52E3-4782-B1B3-D2F23D2F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28437B80-9CAB-4376-8F3B-3DDA9195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24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A7CC2F07-4FFF-4A3C-A844-33E2605C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19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995494CC-A368-495F-96D9-D13BFA62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514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4B035448-A973-4011-B952-031F7106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150DC27D-8AF5-48F1-8B74-729A3469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410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F27582C3-AC58-4576-885E-36EE3AF4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05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39D89494-3D5B-4534-8562-07A9A014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000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70417EEA-C02A-4E56-B51A-B04ECAC5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691A44C8-E619-4483-ADAA-6229CE59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791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922EE936-2591-4EAE-AC00-5431B50A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862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241ED04A-3ECE-49ED-AD3F-1DF5DFE8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686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F1BA5219-2B28-4F12-8896-BEBBE03A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71D705DD-144C-4F80-9653-E4C2F92B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476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C19B8CD3-FF40-4CCC-80A9-8A172AB9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7720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976B4871-AF72-4956-A1B9-D41171C1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85EBEABE-D5EE-435E-B097-9BB6ADE8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2B171102-93D2-4441-951C-59AD73E7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857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84111305-8527-4DAF-88DC-97CB87E6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57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F69E3641-7A89-461C-B783-76C0081D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75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5D5B39DF-2550-407C-877C-789882DE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0090E8E4-31E3-4777-8E18-4E6A8EAF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5434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1D2F30DD-66E6-48A8-97DD-5645098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38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55855E13-C619-43E5-96CD-6F187E53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6E8A8C7B-0237-4F36-9696-B39EFC6E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93F8C4DC-6641-4B14-8389-B02834D7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4229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4EC72F43-19CA-4D72-844B-7F8434D7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24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01B91F8E-E9E9-4F99-BA81-AF52E32D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D25DFC64-1401-4030-8E0F-9EC1B751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E884AD46-455F-4B23-BBCE-FAC61324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4610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1CDD52D2-8D20-4CC4-BC97-93E0F12F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05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221373E7-783A-42F5-A6F6-9D9747DA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00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502DD8B4-D7B8-460D-8A23-8526E88A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4D8938E7-AFCF-466E-8558-8D94781A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295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F80665F3-39E5-4287-92ED-6072DBD8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91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0010BBB0-5B7B-4F35-90E5-FFE465F4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8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DC39C226-0AED-47F6-BD2A-6C52E474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83CC9709-25CA-4253-8CD0-DFF725A9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4676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AB051F47-E40B-4395-8B59-27492891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72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5694B08C-93E5-4D6C-A156-B9FE9F7F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572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24F404D1-FF5B-4977-9D81-DD64F762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7C3D2C13-A0DD-481A-8F3C-CED0A617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4362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A077E0FE-BE2F-4EC2-ABA7-6F84793F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57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1E7C0CB5-5E33-4F55-B8DD-C6CA2229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953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785D9FF5-C5E5-4D43-A2E3-45939BB5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BECF4957-DC04-4717-8116-4D384648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743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A30C4AF0-2A2F-4151-A7B8-557E8AFF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343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D63E9E40-C669-489C-B484-0BCEE848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38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C76703BC-39F6-4125-B0C3-F280D94A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4119CC61-E912-4855-AFE1-05725A74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44291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C2B94297-E55E-4484-B668-238469A2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724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7F01E6D0-1CCD-4603-B37A-1FDAE4BB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019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6CF6915A-5C41-48DA-891F-687D0927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B827B48F-35A9-4CB0-8265-61B07892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914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0BB9AEBC-2CBA-48A0-8734-460995CF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10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7A7CF1DE-E0F1-4A82-BC89-FFF249A4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705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65BA76D7-F776-45B1-8FFC-BCEFC566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AB6FC6BB-1894-46D3-94EE-2B7F7FE2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495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BF702E95-CCDF-4A54-B423-D2003837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791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7FD76F84-675C-4FB3-BA00-CF32D1AF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286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80258FC0-AAA4-47A8-A9EC-8D3461B2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9A54020D-B489-4F6F-8A06-C5C21931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981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B76A3ADD-C7E8-4006-AB07-3B16E351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476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BF053818-7363-46C1-8621-E02CA2A8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772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1FEBA3FD-70C4-4580-BEC3-47273EDF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656722D0-148C-4660-8CD6-EFF681A6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5624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B656840C-17F4-43D5-9E80-886079D4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EB52F085-FED9-4BFD-B0D8-5B7A5F04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空间信息让表达矩阵重新回到组织结构中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C2E95C43-5385-437F-92EE-B95E3282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AEE9D076-BA0A-4C96-A695-0556361C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Conceptual framing based on spatial omics workflows; Squidpy, Nature Methods 2022.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D5AFEA98-D210-46E9-B2E9-9C57D7D1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473915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50335B-F931-4075-87FF-457197EB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E50ED-4872-45A1-A217-A831B479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空间转录组数据长什么样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06E0C-69CF-4DB4-8A0A-538F1A47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典型对象同时包含表达矩阵、空间坐标、metadata、raw/layers 与可选组织图像。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3DB0F-A87E-44E0-9479-A910AC08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76450"/>
            <a:ext cx="34290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F8E4A8-6AB7-4EAD-8D83-5ECB1555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0910C8-1BAC-463D-B631-801D1C74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74232-7F67-4623-8F0B-013880F4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CDCB4-0A35-4E81-842A-A1271176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40701-AA7B-4719-A212-190839CE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7587C6-ABB3-4523-8879-EBC651A3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481E44-7383-49A9-8BF8-24B4D934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2DF3C2-011C-4654-8095-1442D946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3E50B3-F43B-43AB-999D-6EDD7323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84A609-6B60-44B0-B582-C0C0693C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599844-C6D2-4ED5-BD18-6356F989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8C8727-1031-454B-A5FA-4246A66E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251037-9105-4E2A-B926-AB0110C9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24AAF9-0B6B-4671-9FD3-430220A3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44D94-6112-41A7-96A3-3D8523F5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AA0A76-DE59-4EC6-BECA-AA7C2151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3EBFFB-0227-46DB-8E3A-2D040948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30685D-A6F4-4121-BAFC-66368EF0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175573-C492-4E7A-9175-A20DF41E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C70DEA-D4A6-46FB-AA7D-79C4B4E4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F5D202-01E4-4195-BBA5-62B9E24A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A3E21C-85C0-4F17-87B0-29A7EA35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24AC0A-E82E-417D-9C64-EE463C73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EA824A-8134-4F43-8C45-8FA50EF6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6A3440-F1A0-4896-B299-B496AB36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7E070E-AE49-4CE9-8370-778538C9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61F895-1AAB-453A-990E-BCA4EAA6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8EA794-0E21-4C63-8431-77CAA3B9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C5D1D8-0CC0-4836-A115-47741975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CE1761-7C44-4808-9AAF-69C4A172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08F565-9F98-46A7-A2D6-1CD0A92A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854769-1E41-4B98-8DFE-A988604B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9566BC-2EC9-475C-BFBE-E804AC41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EDCE28-EF12-4069-92DC-129D806C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7BF4EA-3D43-4F97-8B14-A615507C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DC73FF-A282-4671-8086-1D795546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46CDF2-A0A7-4EDC-8CA6-0F10E908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A21913-BA00-42ED-B996-80A56C7E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29B1461-25A0-47A4-BBC8-CCE4C2D8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9ECA9ED-D65B-4620-9C09-413F4033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3F42E8B-C16B-4CD0-BE04-F8F88383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A7F80B-932E-4E67-AE1A-C648844C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EF4D22-7B60-4E7C-88AB-E5460C5B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7C9660E-E794-4E57-9F87-500D1C4A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0785103-E974-44F0-B99E-39151667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E12772-9E53-4B1B-926C-779E5185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F60927D-7860-4DBF-ADDE-E0338922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CEFA362-0C76-4ED7-836D-7E0FD5C7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9AA837-AB99-4B22-AFCD-04F4CE9A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44F81F7-E1F6-4060-92EA-8BE0BDA9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08B68D-C1C2-42D6-A5C4-759CDC73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63625E3-8BE3-4984-A53F-9A86CE1F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B252DB-3235-49B4-A551-2F975E27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291DD41-EC0A-4D5C-B8CC-CD3473AF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E72E01B-D96E-45FA-970E-2B432341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84A2043-C19B-49A3-AA6B-0DBFCA82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C32806B-7C20-41C3-84F0-8E05E028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68F5608-5B46-4582-8E66-5C27E394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62352C3-E98D-46FD-8169-B400CA64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7EA14A8-D7A7-4A41-862C-4A29A554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F95D763-1860-449C-8396-7854A79E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70ED7AC-BAEA-4149-B987-422BA08B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E17BA5D-C137-4D42-BF64-67851A0E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E1CB2A8-825C-46C1-8FC7-122BC635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717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FFC5110-4A07-47FD-83C2-A899E6DB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7907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Expression matrix X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5249BFF-05CE-41EA-A913-78079298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438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spots / cells × genes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AA3CE90-24EB-4B93-AF7D-7659D3FC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DDD809D-43F1-4237-B851-B63F8A1E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2195230-4975-4A22-8D3D-6A407C8A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spot/cell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total counts, cluster, cell type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CF16CD0-A8DA-4164-A050-BCC113B8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F5F48FE-5F83-4E5F-B393-04CAE6DE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var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BC01C75-CDC6-40E3-8E09-1EFD521B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symbols, IDs, features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E20455B-5DFF-493A-A261-7867CF2D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764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DE1E6E2-2AB8-4EF3-8492-966A579F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717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obsm["spatial"]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AF99C60-8813-419C-BED4-0FB0B820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5745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二维空间坐标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 / y positions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662D53C-0303-43E0-815A-0913A836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5623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57CCEE8-EA7A-4809-BA9D-F23151F2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6576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raw / layers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2A646A5-450E-46DC-8A30-51B34220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4335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counts, normalized,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log-transformed, scaled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030A18B-6FA1-46D3-A227-7D1AB4D2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52700"/>
            <a:ext cx="6286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F4E7413-0284-4F4E-9733-FEEBFFDF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038600"/>
            <a:ext cx="6286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BEE4B6D-962D-43EB-A98D-00B86C66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52700"/>
            <a:ext cx="609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77A9CA1-2BE6-4284-B4BE-671DC036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609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046273D-5157-4F54-B204-B6EC2138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必须先 inspect dataset，因为不同数据的坐标字段、表达层和 metadata 可能完全不同。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735B513-8B90-4B08-B3FA-E1CC1453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DA0BB23-CF5D-41A9-9B5D-DA2ADD5C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AnnData / SpatialExperiment data structures; SpatialExperiment, 2022.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53ADAD7-0D31-43BA-B0DD-433E4F34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286847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2CE371-4014-4E75-8591-70C8AFCC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PLATFORMS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B3D95-5726-4CAC-B99B-F258EBEE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不同技术平台的数据差异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23EE4A-54BD-49C2-B811-3EB1A1B7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9CC9D-9674-414C-9D90-7A3213C9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Resolution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BC5B69-8470-4B57-8E4D-4B253D29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Data object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C407E-B533-4D0C-8716-E0B830ED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3524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Analysis challenge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AAD72-2E74-42A2-B943-BEC180D3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10x Visium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FB0710-765A-4D21-AC95-D700B8E0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spot-based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B1483-748F-40A1-B6A5-38D6F00C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8288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组织图像 + spots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C9302-4B49-42DB-BCB1-05B94CDF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288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 含多个细胞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E62F51-02F6-4BC5-84A5-7BBE6990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Stereo-seq / Slide-seq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33C5B-7170-4C94-8FB0-99E9D1B6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high-resolution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55BE09-BA31-41A1-9749-D074D828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6225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大量 spots + 坐标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331CDD-3428-4E3C-8A9B-ADA2EDF4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规模大；坐标字段差异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AD76F4-C719-47BB-B1EF-E1CD7E4F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MERFISH / Xenium / CosMx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1DAD3-7873-4ED6-AB3B-7792DF5F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957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imaging-based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573F53-4DEB-485A-8DE6-8AAAB18C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957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cell-level panel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A757FB-DB91-483A-A889-896C278F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fixed panel；QC 不同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FA8806-CFBD-4FC0-B0F9-B2F8E1B3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4191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FAD7AD-D7BE-4CB8-94F4-088A684C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05400"/>
            <a:ext cx="3886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共同抽象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F62F28-8C97-41F4-98CB-0237E1CB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91150"/>
            <a:ext cx="3886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表达矩阵 + 空间坐标 + metadata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FE68E1-F107-40D5-B498-BE543CA5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10150"/>
            <a:ext cx="4762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DE0CB3-14D7-4A51-9450-9E167711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05400"/>
            <a:ext cx="445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谨慎边界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33023-386D-4FDB-99D0-64D5B851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391150"/>
            <a:ext cx="445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坐标字段、表达层、QC 指标和图像信息因平台而异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381DBB-5B16-4531-A29E-E150C49F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46EFA-B60C-4C78-919C-3EA15E85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Platform categories summarized from spatial transcriptomics literature and OSTA workflows.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B65F2A-FFD8-4C59-A8B5-ABA654F1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481985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D317A9-EB7A-402C-BD7E-EB8CFC16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3D9D3A-BE23-474D-A51E-71DDCEA9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常规空间转录组处理流程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F18298-2790-4DCE-8FAD-2C8C19AC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1163300" cy="1276350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483E3C-D7B0-4919-B1BD-4B951EA8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70058-ED56-40E6-9E74-1F6839CB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381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EB7DE-087B-4E49-9AE8-A4F36F01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919AD-CB08-41D1-8935-D8F11BAA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344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A394EC-C42B-4274-90B8-1B02BCCE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EC31D7-29C2-43A0-B8C0-29556E2E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3306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C9260F-C66B-41D4-B070-70EC16EF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288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D805A8-4B80-46F8-AECC-A09EF713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1269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6B37DE-84AD-4F36-A140-C5836C52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814D8-D01E-4536-889C-B3BAD743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读取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检查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0DBE6C-344D-4DCE-9831-CCE20254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781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35BD8B-566C-4CB0-B008-9BD3616F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4081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过滤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71B54A-8D52-4BEA-8DEA-4262EF2D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97577-C20B-49EA-8710-06687BE7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log1p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373BAE-6BC6-496A-BFBC-1DA26CDA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744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666724-6F11-4382-B148-C247CEA7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2044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聚类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26F2C1-8DD8-49C5-A264-49596EEB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3F36DF-161B-4BA7-AD98-1E400188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D3003F-4ED6-43C6-833E-7688201C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5706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FB66C9-919F-4302-927F-10EE4CE1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0006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7727D0-4D36-45A7-8993-53B427EE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AFAED5-76DB-48D5-B269-5EF04308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SVG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邻域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BAEF2A-AE36-4400-9CAD-28EEE18A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3669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569806-A2E5-486B-8015-9823F829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7969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8B8018-11CC-4C3E-B13D-D408139E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6736E6-3BE8-44EB-9DF4-4BA3456F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385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继承单细胞分析的预处理、降维、聚类和 marker gene 思路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81DF02-FBC0-4859-8E38-4EE1DE30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822F0B-453F-4F86-B383-118535481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加入空间坐标后，需要观察 cluster 和基因表达是否对应组织空间结构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11D13F-0BFA-446A-95FE-0B53B194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CB3F0A-E41C-4E67-9FAA-2E726747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解释阶段必须回到图表、统计摘要和数据质量边界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DB8657-CB3D-4C33-8E61-84C7D3F7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提供 preprocessing / visualization / clustering；Squidpy 在此基础上扩展空间统计与空间可视化；OSTA 系统整理了 QC、normalization、feature selection 和 downstream workflow。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E3DD17-596C-48E3-A69D-D6FEE01A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106203-CF12-4C5D-9C5B-9251D48B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Sources: Scanpy (Genome Biology 2018), Squidpy (Nature Methods 2022), Bioconductor OSTA.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256596-8F66-4D0E-B502-2A115AC2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825635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EFC078-FDA4-485B-A234-258C800A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QUALITY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27909-6705-48C5-B541-1DBFD174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 为什么重要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efa228351246e9"/>
          <a:stretch xmlns:a="http://schemas.openxmlformats.org/drawingml/2006/main"/>
        </p:blipFill>
        <p:spPr>
          <a:xfrm xmlns:a="http://schemas.openxmlformats.org/drawingml/2006/main">
            <a:off x="723900" y="2378726"/>
            <a:ext cx="4514850" cy="1509998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6C323-7820-4D48-9340-C7C95F95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4476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98BF2-8612-4BB6-BC9D-17A6F6FD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907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QC 检查对象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4D460-F7CB-49FB-B24A-B30D2859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095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total counts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detected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mitochondrial fraction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spatial coordinates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expression matrix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585D9-21BC-494D-8D0D-5A869032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14800"/>
            <a:ext cx="4476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15306-459E-429C-9FA2-4E687318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表达层安全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4C1482-95CF-4E9F-9B9F-9C78518A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count-like / normalized / scaled / 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先判定来源，再解释 marker / gene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0CF7B8-3AC1-45D6-884D-BEFA4654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81625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如果把 scaled matrix 当作 raw counts 解释，后续 marker gene 和空间表达结论可能出现系统性偏差。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06689-DB13-4AD8-ACEA-F0868C04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03EAC-782B-417D-891A-4A53CEF6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Source: OSTA Quality Control chapter; SpatialScope expression-source guardrails.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BFE3E9-14C2-418A-B16F-5FE6D9A7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393321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6B16D9-2748-4722-AD63-139AB32A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VISUAL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270CD-791E-41AF-9297-535FFAD6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降维、聚类和空间可视化如何配合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ba61cabb3f4f81"/>
          <a:stretch xmlns:a="http://schemas.openxmlformats.org/drawingml/2006/main"/>
        </p:blipFill>
        <p:spPr>
          <a:xfrm xmlns:a="http://schemas.openxmlformats.org/drawingml/2006/main">
            <a:off x="819150" y="1818738"/>
            <a:ext cx="3143250" cy="1944174"/>
          </a:xfrm>
          <a:prstGeom xmlns:a="http://schemas.openxmlformats.org/drawingml/2006/main" prst="round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42e524e9f4ac7"/>
          <a:stretch xmlns:a="http://schemas.openxmlformats.org/drawingml/2006/main"/>
        </p:blipFill>
        <p:spPr>
          <a:xfrm xmlns:a="http://schemas.openxmlformats.org/drawingml/2006/main">
            <a:off x="4514850" y="1893420"/>
            <a:ext cx="3143250" cy="1794810"/>
          </a:xfrm>
          <a:prstGeom xmlns:a="http://schemas.openxmlformats.org/drawingml/2006/main" prst="round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366c22b1464d91"/>
          <a:stretch xmlns:a="http://schemas.openxmlformats.org/drawingml/2006/main"/>
        </p:blipFill>
        <p:spPr>
          <a:xfrm xmlns:a="http://schemas.openxmlformats.org/drawingml/2006/main">
            <a:off x="8210550" y="1751809"/>
            <a:ext cx="3143250" cy="2078032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296D18-C652-4503-A6BC-6A3613BC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9C82FF-8FF2-4863-B8B5-8BA50CC2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UMAP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60A7E-91A4-4314-9485-90347E35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表达空间相似性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A37D96-3071-4AE1-B4C0-D404F1E4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5E84A1-DC29-4918-864C-39CF7BAB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957E4D-9DF8-4330-8FC5-23850FFA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组织空间位置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B7FC53-F050-4113-874D-FCED168F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54F142-F7A4-4BA6-AF3E-F4345F5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Gene panel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F38CDB-C302-4A12-81EE-A9662690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目标基因空间分布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D57DFA-91CD-4095-9476-2EFE8559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673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UMAP 回答“表达状态是否相似”；Spatial 图回答“这些状态在组织中在哪里”。两者必须一起看。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5E2C96-9F7A-4203-A25E-4D5BC73C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624A9A-5DE4-430D-B1E9-E998C226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Demo embryo dataset generated for SpatialScope smoke tests.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981C45-5EE5-4D8F-90A8-441F047B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470302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47658C-C0A7-4538-8928-6635A155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INTERPRETATION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6B101-2949-46EA-B415-F39D37B6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从图到生物学解释的风险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122022-622F-43D5-A3C9-C770D19F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47850"/>
            <a:ext cx="9677400" cy="1238250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7FBFA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A4F70-391C-4B84-8A1D-6D4DB435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466975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E46A8-776F-45F2-AA14-9D3F4E37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54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C86FA-083C-480C-BD46-DDCC60E2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066C88-2A1F-4AFC-A162-9185A311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92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5F6588-BE47-460E-92C8-D01F6E16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111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7FAC8E-688E-47F8-A2F6-95F80A09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BA534C-A17A-4201-A037-A4468BAB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A2B672-4E1C-4840-A676-D98ABD84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图表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BDA07B-25AA-4EDD-A0B2-1ADF22D0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994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5FA5B-E1AE-4EA5-BD45-703FEEA1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519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C70D0F-5982-4FCC-810F-C414913F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89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统计摘要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39C077-02AB-4661-914E-F7118D43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7E59DE-DCD3-4708-A42F-92D781AC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38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1F7A64-23A9-46B6-82DD-F16133DB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308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Evidence 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5729E6-0BD8-4E5E-904A-7D338877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1B168B-B24C-418F-AA91-FDFCBE7E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57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C2909E-FA8A-4F3A-9D6E-8D173DB7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27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谨慎解释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45E620-777A-4ED7-9089-B426A454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351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FCD8E4-F6E9-4EE6-A345-6466D0C8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92EC14-0C55-474E-A971-431470AB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546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8139B7-88D3-4F7D-9CBC-96873DD4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BF5EA4-72DB-423A-8ADB-59B21490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004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cluster 不等于细胞类型，需要 marker 和外部知识支撑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F3E267-FB82-4BE3-8F49-F1FB91CC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76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BFB736-AB50-4F45-9E94-0CE42252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005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 ranking 是候选证据，不是最终注释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60CFF8-7AC1-48AB-B286-7EB004CF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485CD3-4070-4A2D-BA20-411B7935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005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空间表达集中不等于因果机制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25C99C-2BDB-4E00-8959-C2970EC0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76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AE90E9-5D4B-4B6F-BB5A-A4E381A5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006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必须被 evidence pack 限制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ECF6E0-2F66-41DB-A6F2-3C5392BC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238750"/>
            <a:ext cx="7200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D30C9A-22A5-44F1-A576-132C3FFC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33400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rPr>
              <a:t>SpatialScope 的处理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829C0E-2FA6-4EFD-9258-75F37250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61975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每条 finding 绑定 evidence IDs、quantitative support 与 caveats。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3158FC-F85F-4DE3-A5A7-C5888624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AF05A3-A12D-40DC-90D9-7B67FDF1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Scientific interpretation principle: figures are evidence, not conclusions by themselves.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03E375-E9DF-49E4-A98A-F203CCD4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657368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37AC4A-1630-4096-906D-B6F98263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FROM WORKFLOW TO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53230E-E236-444E-9B74-4FC925BA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为什么把流程做成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AB798-1D19-48EA-9EAC-678E007E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D7A8CB-EDA1-45A2-B672-BF87CF10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传统 notebook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C4031-B0A8-4CE6-88BC-F102BD68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研究问题需要手动翻译成代码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字段和表达层容易误用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失败后需要人工排查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解释容易脱离证据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FEA075-05EB-4EAA-A1B9-297850DE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D35A68-B096-44AC-89B9-5A1610D7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7FF3F-EE9D-4998-9DB9-8609AAE3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先检查数据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生成可审阅计划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用确定性工具执行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校验结果和表达层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基于 evidence pack 解释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820EA8-56A0-43BA-B18C-C6B1D207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57500"/>
            <a:ext cx="114300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D99201-ABBA-4A38-B611-C28990D3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910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的价值不是替代分析方法，而是把分析方法组织成可审阅、可追踪、可复现的流程。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A75929-AE55-4239-8EA3-69780827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FAD6B1-3079-4281-8993-BB1105E8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Design goal of SpatialScope Agent.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E04C7A-42CF-4751-AF0B-FC391E19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875595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CAC00B-1211-4001-91B1-09C53BD1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49507-ED47-41FB-A47B-47085A0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Agent 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CABFB7-3BA3-42DB-9269-F0DF592D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347B8B-C22F-4A3B-A3D0-C016EDDC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LLM sidecar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04041-9E22-49BF-A529-D0F242CA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理解问题 · 补全计划 · 解释 evidence pack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8AC2D-A05A-4A22-8C31-CDBCE167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99BA6C-E4AB-44FD-8C44-4654880C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State /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FF8CBB-0F69-4F1A-9628-B0F9F946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trace · metadata · parameters · evidence IDs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FC776A-FCB2-4C0B-A795-A3084481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D2D821-5305-4D36-9A04-03A7DFEE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B781FC-41D4-4C53-BC07-FA867FE6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 state machine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265572-6C84-4995-80B3-87F7B05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102870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68065D-D7C7-41D2-BB12-E1052739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90875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679C7E-CDC4-4DAC-A2CC-9ACD5FEF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B304CF-FF67-473C-B0BA-7E2BC681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C1C08F-CD67-4BAE-B2E0-BFEA24F7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81418-C601-4AE5-B159-7CE1F3B8C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1E0B70-4B24-446E-AB79-0C23CEBC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3CF167-F248-4C54-B29D-DB87107F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EAC94C-3B91-4E51-9998-553520BB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输入检查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94F8CC-290E-4636-97DA-15BC0868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F41A69-9A66-42A3-B2E3-4D5E9F32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任务解析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2AE048-6C5A-4FAE-914A-D95D77F6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F97EC1-12B7-46CF-B36E-4E44CFCA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方案审阅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9FD88C-BD59-4981-B30D-DD38DE36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67AFAB-F9BC-4F39-8D1F-1BA00986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工具执行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48FB2C-F6FA-40CD-A9DE-F6C0C013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F72A1A-699A-418C-8534-C61E7020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校验修复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74D271-E524-4313-A195-C80A7236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6EEFD0-6364-41D2-AD10-A5D6489A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3D65A9-A3CA-4801-9686-C029FD91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1639A9-69DD-423E-924E-C58352A9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确定性工具层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FB9F83-33DC-4F78-960E-FF55857C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/ AnnData / figures / tables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7749D0-1F0E-406A-9FC6-1A21E108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C68C45-7843-474C-958B-88ADCAE5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解释边界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B4011D-04C0-4EA1-BB0D-59F5926D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9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LLM 不直接读取完整表达矩阵；只解释 evidence pack。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FA658B-02F4-4D35-B24F-DF3B66D5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95900"/>
            <a:ext cx="788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数值计算由工具层完成；解释必须回到可追踪证据。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D02F9F-FD18-4844-BFE3-25EA4F26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E584BB-71B8-40B1-9828-1CE9E8E2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architecture implemented with LangGraph state machine.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09BFF4-591C-46D1-909B-F2EA310C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59823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C89875-2401-419B-AECB-CF655020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TOOL CONTRACTS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FF65CE-2262-4451-B91C-B182F520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如何映射常规流程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3C3BD-4128-4B9A-8895-CB2B8DA4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55A0B-3965-46A2-92F1-E9971FC1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Agent tool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C87FD7-3540-4EFD-9498-99A469FD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数据结构检查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3BAEA5-9C8E-4BCB-B44C-E989A4C2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inspect_dataset</a:t>
            </a:r>
          </a:p>
        </p:txBody>
      </p:sp>
      <p:cxnSp>
        <p:nvCxnSpPr>
          <p:cNvPr id="122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048250" y="16002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125B5-DF8C-47A6-9D1B-5F6DD82E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BB2FC9-57EF-4812-8EFB-A0FD7E1F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quality_control</a:t>
            </a:r>
          </a:p>
        </p:txBody>
      </p:sp>
      <p:cxnSp>
        <p:nvCxnSpPr>
          <p:cNvPr id="125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0955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713A8-1D26-497B-9FB8-ABC00B7C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normalization / log1p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AEB154-7126-4D61-97AA-EA45EED9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preprocess</a:t>
            </a:r>
          </a:p>
        </p:txBody>
      </p:sp>
      <p:cxnSp>
        <p:nvCxnSpPr>
          <p:cNvPr id="128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048250" y="25908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7BB4D0-20B1-469B-B07F-8B328E09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PCA / UMAP / Leiden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4F336F-258B-4188-B30E-6DEEAB73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cluster</a:t>
            </a:r>
          </a:p>
        </p:txBody>
      </p:sp>
      <p:cxnSp>
        <p:nvCxnSpPr>
          <p:cNvPr id="131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048250" y="30861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983A74-FA48-4397-BE59-61284854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空间结构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2EBF7A-BB99-4530-8F74-0529D777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spatial_plot</a:t>
            </a:r>
          </a:p>
        </p:txBody>
      </p:sp>
      <p:cxnSp>
        <p:nvCxnSpPr>
          <p:cNvPr id="134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35814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830124-1A2D-4A81-9D16-D2675773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基因空间表达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235BFF-2AC3-4A0F-9B4D-C51E17F3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gene_panel</a:t>
            </a:r>
          </a:p>
        </p:txBody>
      </p:sp>
      <p:cxnSp>
        <p:nvCxnSpPr>
          <p:cNvPr id="137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048250" y="40767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96CAF1-C211-44F7-8592-26DEFFE4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AE1305-78F7-45D1-87F7-1862EA77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rank_markers</a:t>
            </a:r>
          </a:p>
        </p:txBody>
      </p:sp>
      <p:cxnSp>
        <p:nvCxnSpPr>
          <p:cNvPr id="140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048250" y="45720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C809F4-8F38-4D77-9B19-89128367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DEF867-1290-4C67-9E42-587C8F99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interpret / report</a:t>
            </a:r>
          </a:p>
        </p:txBody>
      </p:sp>
      <p:cxnSp>
        <p:nvCxnSpPr>
          <p:cNvPr id="143" name=""/>
          <p:cNvCxnSpPr>
            <a:stCxn xmlns:a="http://schemas.openxmlformats.org/drawingml/2006/main" id="26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5048250" y="50673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CD7BA9-AA9C-440F-B96E-BB367C4E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B2D0F7-AC9B-4B66-9588-8D3F46EA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tool contracts map standard workflow steps into executable nodes.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81B009-99F0-404B-A40E-A0834BBC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634338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5A69DA-BAC0-4D89-B807-BEAC0D93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PRODUCT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AA476-D2BA-4B93-B41F-AFDEFE73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从标准流程切到网站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40240412c45f1"/>
          <a:srcRect xmlns:a="http://schemas.openxmlformats.org/drawingml/2006/main" l="0" t="17360" r="0" b="17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1619250"/>
            <a:ext cx="4762500" cy="1943100"/>
          </a:xfrm>
          <a:prstGeom xmlns:a="http://schemas.openxmlformats.org/drawingml/2006/main" prst="roundRect">
            <a:avLst/>
          </a:prstGeom>
        </p:spPr>
      </p:pic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2efc541a54290"/>
          <a:srcRect xmlns:a="http://schemas.openxmlformats.org/drawingml/2006/main" l="0" t="17360" r="0" b="17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1619250"/>
            <a:ext cx="4762500" cy="1943100"/>
          </a:xfrm>
          <a:prstGeom xmlns:a="http://schemas.openxmlformats.org/drawingml/2006/main" prst="round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FF639D-5EB2-4E8C-A35F-C5C2C9F7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67150"/>
            <a:ext cx="97536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345C11-062E-43E6-A0B9-E568E066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95800"/>
            <a:ext cx="9182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77DBE6-06E0-41EE-8395-483D2809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785DB1-3DC9-469C-B46A-26452C90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B6539-2556-4DD8-8FD6-7CC59E0F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7B5BA-C55E-48BC-A221-9A4530B2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A30F9-AC3A-44E2-A387-746B53F5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AD426-0213-49A8-9096-5DA26C40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Project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5F571C-72CE-4010-A510-0B1F8B0F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188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7ACD34-5977-4B3E-9DA6-3F5AE21F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438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ED4930-EE6E-4A14-8F67-8E29319C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138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1CAC66-386C-4A37-B7DC-CCFB9E64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B33D4-7723-45A1-895F-62A4CCAE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AC1B50-5700-4E23-943C-74E0FEDA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联动图表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96AB7D-B57D-45EF-98AD-1095C48C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263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95D745-AFB5-4D33-9749-023AA4DF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404E69-3DF3-4657-A344-116870D0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证据复核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4DCE55-5CA1-42F2-91B6-8A1E02AE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4667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432C68-8A20-433F-93F3-B4BE2A6E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1495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PPT 已经讲过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00705C-FB47-40AF-A394-F4532E4F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00700"/>
            <a:ext cx="436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数据结构、QC、降维聚类、空间图和解释边界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76EA12-45D8-498C-8E65-95DC15F3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219700"/>
            <a:ext cx="4667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645B17-EFB8-4C72-AE98-D4C9855B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31495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接下来在网站验证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4AAC88-D7AC-4E7F-87E3-DF3F5A18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600700"/>
            <a:ext cx="436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同一套流程是否能被 Agent 计划、执行、追踪和解释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230A9C-DB97-4338-B472-508F16BC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6A3BFB-6403-42A8-9977-D9A84F06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Switch point: open https://spatialscope-seu.streamlit.app/ after this slide.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6FD6FC-F345-4E10-A08B-5A166563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117459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7BA14C-D2FF-43A1-AE4B-7D0EACA1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LIVE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386DD-9487-42E3-B615-E6CB90CD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现场演示路线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2C4AF3-7B67-43EF-9598-87091CB1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8A0F5-BD49-400C-9E2D-F6541AC7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19275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3B3F8-2346-4C04-B3DD-E27A5573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363AE6-0C43-4FF9-84A7-AD4953FB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A10E36-BFDA-41CF-8D45-C10BC4E1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95AF0-437E-44CB-9BE3-DFEBADF1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EAFAA4-54C4-4C25-8A25-3DF860CF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9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437707-76C5-4F19-B7A2-A8A98F9C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313B27-B1FC-4692-8C14-052BFBC0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打开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40C01-0D46-412C-ABE6-94C873CD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0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42DFAA-E8FE-4F1D-9313-E4A5AFD4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63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胚胎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5AAA5-45E8-4851-B9B1-286BAA5A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557CF-7841-44F2-B713-C3857346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生成方案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DB10FC-CEA8-4242-AF5E-90611727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4448B1-19BA-4737-A2B7-6711AC7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批准运行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09140D-8A8B-42CC-8B25-0F0FFF36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5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3DF081-F114-4F48-ACA5-DF58BDC5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 提问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DEE61E-A08F-4051-90A5-7E68C48D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13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A2B665-A29B-4AA3-9CB0-E85F4BEA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56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 复核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375D90-93EF-4402-8E7C-76954471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ABA610-3039-467C-863E-1B76FCF7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Project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205FAB-70FE-4353-9E7B-5B70D23D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先看 dataset card：spots、genes、spatial coordinates、expression layer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3B6C43-3271-4A39-8325-7E7407EB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ED86A1-B8A5-46CA-AF26-5EF20209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AD4BE0-2EB0-43BF-973A-8709D8FD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生成并批准计划：QC -&gt; preprocess -&gt; UMAP/Leiden -&gt; plots -&gt; report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4966A0-EFD5-44D1-B1AF-64BFB1DA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5DCA64-4105-4C99-82D9-CBF18B93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Explore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0C5F87-EA95-4F7E-B1DE-EFFE7655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 看组织位置；UMAP 看表达结构；Copilot 必须引用 evidence IDs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86AFAF-450E-4ED3-A66C-C8782828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CBBA64-D58A-4D65-A13E-CFF0D541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Report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6F1E13-D597-4BEA-86D0-FE5DE741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读 3-5 条 findings：每条都要有 evidence 和 caveat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0CF28A-E19B-497B-BD5A-1B97DDAE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948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网站演示只抓主线：数据是否被理解，流程是否可追踪，解释是否回到证据。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E8CA01-43AD-48AD-88F8-02A72933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942492-F6C1-4FBC-B7A0-5443BBD3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Live app: https://spatialscope-seu.streamlit.app/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0B0269-42A6-4853-AF03-0CA156C7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6272635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BC0170-F86A-4D71-8C4E-9DDEB616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REAL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A3E13-3DA9-4CDA-A5E9-E586D928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787D5-CB9A-433B-A113-80345E5D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3619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BCABE-0986-4E9F-9AE1-F2B476BD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GSE278603 E7.5 mouse embryo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30BF8-71B3-42E8-A443-55FD366C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3238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8190 spots · 16364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真实空间坐标：X_spatial -&gt; spatial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输出：空间聚类 · UMAP · 基因表达面板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Quick run: 0 warnings · 0 errors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70f17e4c104222"/>
          <a:stretch xmlns:a="http://schemas.openxmlformats.org/drawingml/2006/main"/>
        </p:blipFill>
        <p:spPr>
          <a:xfrm xmlns:a="http://schemas.openxmlformats.org/drawingml/2006/main">
            <a:off x="4868130" y="1428750"/>
            <a:ext cx="2741490" cy="2190750"/>
          </a:xfrm>
          <a:prstGeom xmlns:a="http://schemas.openxmlformats.org/drawingml/2006/main" prst="round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d5266d8d114ea7"/>
          <a:stretch xmlns:a="http://schemas.openxmlformats.org/drawingml/2006/main"/>
        </p:blipFill>
        <p:spPr>
          <a:xfrm xmlns:a="http://schemas.openxmlformats.org/drawingml/2006/main">
            <a:off x="8096250" y="1612983"/>
            <a:ext cx="2952750" cy="1822284"/>
          </a:xfrm>
          <a:prstGeom xmlns:a="http://schemas.openxmlformats.org/drawingml/2006/main" prst="round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634656a064ff6"/>
          <a:stretch xmlns:a="http://schemas.openxmlformats.org/drawingml/2006/main"/>
        </p:blipFill>
        <p:spPr>
          <a:xfrm xmlns:a="http://schemas.openxmlformats.org/drawingml/2006/main">
            <a:off x="6652289" y="4000500"/>
            <a:ext cx="2506922" cy="1657350"/>
          </a:xfrm>
          <a:prstGeom xmlns:a="http://schemas.openxmlformats.org/drawingml/2006/main" prst="round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0F217-C291-455D-945A-FC7C668C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323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验证重点：系统能从真实 AnnData 读取空间坐标，完成标准分析流程，并生成可复核图表；不把 quick run 过度解释为机制发现。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D7FE8A-919F-4F67-8E56-D49023B9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BE88E0-098F-4F3F-8DD4-1492AFC2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Real data source: NCBI GEO GSE278603; quick run generated locally.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57992-2202-49DE-94A1-9F4BD33E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9033286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8CDAF8-8E38-4D7F-96E6-F673D425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RESEARCH USE CASES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8685D2-BFB7-4D4C-B334-1787B177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面向真实科研场景的应用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CF460-0C5D-41C2-B427-5231798E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6DB7D3-B959-4592-B562-E53DE718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发育生物学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3678F-D970-4A5E-BF95-1AE46058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比较胚胎阶段空间区域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查看 Sox17、T、Mesp1 等基因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E0C5E-AA34-4D6B-99F3-D46F5791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60CFFD-66A1-4446-BA56-09AE35BF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肿瘤微环境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064A20-DCD8-47A0-8781-86C4962F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识别 tumor / immune / stromal regions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分析 marker 与邻域富集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33CA5E-C05A-4616-8B0E-70377B77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A5FF67-2D70-4231-B727-B3EF5627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病理切片探索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68732-9E68-48C6-832E-79FCEA52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整合组织结构、空间表达和 cluster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支持初步探索与复核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1869C9-116E-4A46-9AD8-CB875853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581150"/>
            <a:ext cx="22860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7B3A12-0199-4A1F-BEF5-90D4BAE3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52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教学与复现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983A64-83CE-4761-A82D-A716522D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133600"/>
            <a:ext cx="190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自然语言提出问题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自动生成计划、图表、报告和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3AF01-E362-4975-A34D-6611B68E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10000"/>
            <a:ext cx="781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497BAF-B503-4A4A-B317-3F1BA174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05250"/>
            <a:ext cx="750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50681-F741-4590-8C10-03206020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191000"/>
            <a:ext cx="750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不能替代专家注释；不能把 marker ranking 当作机制证明；大型真实数据需要更强计算后端。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EC04DA-8359-4232-9261-FEFAFB18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340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定位：真实科研中的 exploratory analysis workspace，让研究者更快进入问题，同时保留证据和可复核性。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0B62C5-4F00-45AF-95B3-82DC3263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F06862-5C1E-476E-95FA-FFD3C30E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Application scenarios derived from common spatial transcriptomics research use cases.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E82212-FB1C-4722-874F-6526F237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220583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6b0e922a184627"/>
          <a:stretch xmlns:a="http://schemas.openxmlformats.org/drawingml/2006/main"/>
        </p:blipFill>
        <p:spPr>
          <a:xfrm xmlns:a="http://schemas.openxmlformats.org/drawingml/2006/main">
            <a:off x="742950" y="533400"/>
            <a:ext cx="666750" cy="666750"/>
          </a:xfrm>
          <a:prstGeom xmlns:a="http://schemas.openxmlformats.org/drawingml/2006/main" prst="round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773532-6C0B-4836-A8D1-B2B06AB9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05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316BD9-E699-4596-9C60-CD692E41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95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3BBE8-355A-43BC-924D-594E00F1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192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理解数据结构和标准流程，是项目基础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E40194-CD9C-4973-8797-668B2259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E6CCE-36E9-4A69-8A4D-68EE0D85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8600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用 LangGraph 组织计划、执行、校验、修复和报告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70609-4F38-4FC3-B0CF-030D52EB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8BA1F3-203A-4540-9754-50B3D41B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527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只解释 evidence pack，不替代数值分析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DF17CC-5153-4F43-900B-5AB0AF82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80962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C0B967-2510-428E-B6C1-20B890E9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38600"/>
            <a:ext cx="779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交付与验证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110032-072E-430E-8D06-73A0F9EB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24350"/>
            <a:ext cx="779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 repo · Streamlit app · GitHub Pages · final PDF report · 99 passed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E4229B-F189-4BD7-8416-0A517089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867400"/>
            <a:ext cx="6057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4B5D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4B5D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39472D-D407-43D5-B8CD-A0F7BDFE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52ECB-05A0-47DE-9D7A-5DBE4EFF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EE7197-B8F7-4971-A929-35B151DD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17" name="acknowledgements-card">
            <a:extLst xmlns:a="http://schemas.openxmlformats.org/drawingml/2006/main">
              <a:ext uri="{FF2B5EF4-FFF2-40B4-BE49-F238E27FC236}">
                <a16:creationId xmlns:a16="http://schemas.microsoft.com/office/drawing/2014/main" id="{DF37DDBB-695E-49F2-A84B-B9664843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95850"/>
            <a:ext cx="8096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FCFA"/>
          </a:solidFill>
          <a:ln xmlns:a="http://schemas.openxmlformats.org/drawingml/2006/main" w="9525">
            <a:solidFill>
              <a:srgbClr val="D7E7E3"/>
            </a:solidFill>
            <a:prstDash val="solid"/>
          </a:ln>
        </p:spPr>
      </p:sp>
      <p:sp>
        <p:nvSpPr>
          <p:cNvPr id="18" name="acknowledgements-title">
            <a:extLst xmlns:a="http://schemas.openxmlformats.org/drawingml/2006/main">
              <a:ext uri="{FF2B5EF4-FFF2-40B4-BE49-F238E27FC236}">
                <a16:creationId xmlns:a16="http://schemas.microsoft.com/office/drawing/2014/main" id="{EA4AD3C1-6369-497F-A1D0-77969CEF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991100"/>
            <a:ext cx="779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796B"/>
                </a:solidFill>
              </a:defRPr>
            </a:pPr>
            <a:r>
              <a:rPr sz="1275" b="1">
                <a:solidFill>
                  <a:srgbClr val="00796B"/>
                </a:solidFill>
              </a:rPr>
              <a:t>Acknowledgements</a:t>
            </a:r>
          </a:p>
        </p:txBody>
      </p:sp>
      <p:sp>
        <p:nvSpPr>
          <p:cNvPr id="19" name="acknowledgements-body">
            <a:extLst xmlns:a="http://schemas.openxmlformats.org/drawingml/2006/main">
              <a:ext uri="{FF2B5EF4-FFF2-40B4-BE49-F238E27FC236}">
                <a16:creationId xmlns:a16="http://schemas.microsoft.com/office/drawing/2014/main" id="{6E39E11B-3A1C-42B4-A33D-039DAC9E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238750"/>
            <a:ext cx="7791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D73"/>
                </a:solidFill>
              </a:defRPr>
            </a:pPr>
            <a:r>
              <a:rPr sz="1200">
                <a:solidFill>
                  <a:srgbClr val="4B5D73"/>
                </a:solidFill>
              </a:rPr>
              <a:t>I gratefully thank Professor Peng Xie and Teaching Assistant Binyu Gao, School of Biological Science and Medical Engineering, Southeast University.</a:t>
            </a:r>
          </a:p>
        </p:txBody>
      </p:sp>
    </p:spTree>
    <p:extLst>
      <p:ext uri="{BB962C8B-B14F-4D97-AF65-F5344CB8AC3E}">
        <p14:creationId xmlns:p14="http://schemas.microsoft.com/office/powerpoint/2010/main" val="12264314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2026-06-26T09:51:05.1060000Z</dcterms:created>
  <dcterms:modified xsi:type="dcterms:W3CDTF">2026-06-26T09:51:05.1060000Z</dcterms:modified>
</coreProperties>
</file>