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6a87bcb3ca400d" /><Relationship Type="http://schemas.openxmlformats.org/officeDocument/2006/relationships/extended-properties" Target="/docProps/app.xml" Id="R519ad935942a4936" /><Relationship Type="http://schemas.openxmlformats.org/officeDocument/2006/relationships/officeDocument" Target="/ppt/presentation.xml" Id="Rca58ab4916624a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db5bd9caa84a68"/>
  </p:sldMasterIdLst>
  <p:notesMasterIdLst>
    <p:notesMasterId xmlns:r="http://schemas.openxmlformats.org/officeDocument/2006/relationships" r:id="Ra407b728c9cb484a"/>
  </p:notesMasterIdLst>
  <p:sldIdLst>
    <p:sldId xmlns:r="http://schemas.openxmlformats.org/officeDocument/2006/relationships" id="256" r:id="R2b4eb75d9b234377"/>
    <p:sldId xmlns:r="http://schemas.openxmlformats.org/officeDocument/2006/relationships" id="257" r:id="R14d99f7a6e544a45"/>
    <p:sldId xmlns:r="http://schemas.openxmlformats.org/officeDocument/2006/relationships" id="258" r:id="Rf62a3c5bda424325"/>
    <p:sldId xmlns:r="http://schemas.openxmlformats.org/officeDocument/2006/relationships" id="259" r:id="R36aac186fecc4373"/>
    <p:sldId xmlns:r="http://schemas.openxmlformats.org/officeDocument/2006/relationships" id="260" r:id="R9654fa54b9ed4291"/>
    <p:sldId xmlns:r="http://schemas.openxmlformats.org/officeDocument/2006/relationships" id="261" r:id="R4c4011b1b25a4997"/>
    <p:sldId xmlns:r="http://schemas.openxmlformats.org/officeDocument/2006/relationships" id="262" r:id="Rada5497ea2084848"/>
    <p:sldId xmlns:r="http://schemas.openxmlformats.org/officeDocument/2006/relationships" id="263" r:id="R8c72517aa9454a5e"/>
    <p:sldId xmlns:r="http://schemas.openxmlformats.org/officeDocument/2006/relationships" id="264" r:id="R9d4687a37d9b412e"/>
    <p:sldId xmlns:r="http://schemas.openxmlformats.org/officeDocument/2006/relationships" id="265" r:id="R0c3cb25777d54f61"/>
    <p:sldId xmlns:r="http://schemas.openxmlformats.org/officeDocument/2006/relationships" id="266" r:id="Rd777d1a27c82486d"/>
    <p:sldId xmlns:r="http://schemas.openxmlformats.org/officeDocument/2006/relationships" id="267" r:id="R8e359f9f09b94698"/>
    <p:sldId xmlns:r="http://schemas.openxmlformats.org/officeDocument/2006/relationships" id="268" r:id="Rb043a6a8b3c741de"/>
    <p:sldId xmlns:r="http://schemas.openxmlformats.org/officeDocument/2006/relationships" id="269" r:id="R1297023e0b0c4c3e"/>
    <p:sldId xmlns:r="http://schemas.openxmlformats.org/officeDocument/2006/relationships" id="270" r:id="R16380d032dc144c9"/>
    <p:sldId xmlns:r="http://schemas.openxmlformats.org/officeDocument/2006/relationships" id="271" r:id="Rf89fd32f8518495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c9e618fd2f4f9c" /><Relationship Type="http://schemas.openxmlformats.org/officeDocument/2006/relationships/slideMaster" Target="/ppt/slideMasters/slideMaster1.xml" Id="Rd6db5bd9caa84a68" /><Relationship Type="http://schemas.openxmlformats.org/officeDocument/2006/relationships/notesMaster" Target="/ppt/notesMasters/notesMaster1.xml" Id="Ra407b728c9cb484a" /><Relationship Type="http://schemas.openxmlformats.org/officeDocument/2006/relationships/presProps" Target="/ppt/presProps.xml" Id="R506d83080029410e" /><Relationship Type="http://schemas.openxmlformats.org/officeDocument/2006/relationships/tableStyles" Target="/ppt/tableStyles.xml" Id="R871192222a7b4fe8" /><Relationship Type="http://schemas.openxmlformats.org/officeDocument/2006/relationships/slide" Target="/ppt/slides/slide1.xml" Id="R2b4eb75d9b234377" /><Relationship Type="http://schemas.openxmlformats.org/officeDocument/2006/relationships/slide" Target="/ppt/slides/slide2.xml" Id="R14d99f7a6e544a45" /><Relationship Type="http://schemas.openxmlformats.org/officeDocument/2006/relationships/slide" Target="/ppt/slides/slide3.xml" Id="Rf62a3c5bda424325" /><Relationship Type="http://schemas.openxmlformats.org/officeDocument/2006/relationships/slide" Target="/ppt/slides/slide4.xml" Id="R36aac186fecc4373" /><Relationship Type="http://schemas.openxmlformats.org/officeDocument/2006/relationships/slide" Target="/ppt/slides/slide5.xml" Id="R9654fa54b9ed4291" /><Relationship Type="http://schemas.openxmlformats.org/officeDocument/2006/relationships/slide" Target="/ppt/slides/slide6.xml" Id="R4c4011b1b25a4997" /><Relationship Type="http://schemas.openxmlformats.org/officeDocument/2006/relationships/slide" Target="/ppt/slides/slide7.xml" Id="Rada5497ea2084848" /><Relationship Type="http://schemas.openxmlformats.org/officeDocument/2006/relationships/slide" Target="/ppt/slides/slide8.xml" Id="R8c72517aa9454a5e" /><Relationship Type="http://schemas.openxmlformats.org/officeDocument/2006/relationships/slide" Target="/ppt/slides/slide9.xml" Id="R9d4687a37d9b412e" /><Relationship Type="http://schemas.openxmlformats.org/officeDocument/2006/relationships/slide" Target="/ppt/slides/slide10.xml" Id="R0c3cb25777d54f61" /><Relationship Type="http://schemas.openxmlformats.org/officeDocument/2006/relationships/slide" Target="/ppt/slides/slide11.xml" Id="Rd777d1a27c82486d" /><Relationship Type="http://schemas.openxmlformats.org/officeDocument/2006/relationships/slide" Target="/ppt/slides/slide12.xml" Id="R8e359f9f09b94698" /><Relationship Type="http://schemas.openxmlformats.org/officeDocument/2006/relationships/slide" Target="/ppt/slides/slide13.xml" Id="Rb043a6a8b3c741de" /><Relationship Type="http://schemas.openxmlformats.org/officeDocument/2006/relationships/slide" Target="/ppt/slides/slide14.xml" Id="R1297023e0b0c4c3e" /><Relationship Type="http://schemas.openxmlformats.org/officeDocument/2006/relationships/slide" Target="/ppt/slides/slide15.xml" Id="R16380d032dc144c9" /><Relationship Type="http://schemas.openxmlformats.org/officeDocument/2006/relationships/slide" Target="/ppt/slides/slide16.xml" Id="Rf89fd32f851849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1073e10aca49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886d35df30412c" /><Relationship Type="http://schemas.openxmlformats.org/officeDocument/2006/relationships/notesMaster" Target="/ppt/notesMasters/notesMaster1.xml" Id="R75b9c61fec284c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603ec306e44e7b" /><Relationship Type="http://schemas.openxmlformats.org/officeDocument/2006/relationships/notesMaster" Target="/ppt/notesMasters/notesMaster1.xml" Id="R9c81a827a7fa44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1f3b826a9b4ac5" /><Relationship Type="http://schemas.openxmlformats.org/officeDocument/2006/relationships/notesMaster" Target="/ppt/notesMasters/notesMaster1.xml" Id="Rc505e5c17d0e49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b7fd1459494f5d" /><Relationship Type="http://schemas.openxmlformats.org/officeDocument/2006/relationships/notesMaster" Target="/ppt/notesMasters/notesMaster1.xml" Id="R3e36c23863794d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4c91f2dadf483e" /><Relationship Type="http://schemas.openxmlformats.org/officeDocument/2006/relationships/notesMaster" Target="/ppt/notesMasters/notesMaster1.xml" Id="R913ea2890ec84e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4f65fffb46441a" /><Relationship Type="http://schemas.openxmlformats.org/officeDocument/2006/relationships/notesMaster" Target="/ppt/notesMasters/notesMaster1.xml" Id="R503d5f56775241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6b0ac533d94f02" /><Relationship Type="http://schemas.openxmlformats.org/officeDocument/2006/relationships/notesMaster" Target="/ppt/notesMasters/notesMaster1.xml" Id="Rf21908a49e384b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878d59a0c5497d" /><Relationship Type="http://schemas.openxmlformats.org/officeDocument/2006/relationships/notesMaster" Target="/ppt/notesMasters/notesMaster1.xml" Id="Rba62a9efaade4c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f3f7ecba5843c6" /><Relationship Type="http://schemas.openxmlformats.org/officeDocument/2006/relationships/notesMaster" Target="/ppt/notesMasters/notesMaster1.xml" Id="R3982c61dbeb948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0c8d51e89746f1" /><Relationship Type="http://schemas.openxmlformats.org/officeDocument/2006/relationships/notesMaster" Target="/ppt/notesMasters/notesMaster1.xml" Id="R6983d6989bf642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b58fa228504b53" /><Relationship Type="http://schemas.openxmlformats.org/officeDocument/2006/relationships/notesMaster" Target="/ppt/notesMasters/notesMaster1.xml" Id="R8434ffd9a43148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41142dbca24832" /><Relationship Type="http://schemas.openxmlformats.org/officeDocument/2006/relationships/notesMaster" Target="/ppt/notesMasters/notesMaster1.xml" Id="R951517ea6b2f49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344d52b0684053" /><Relationship Type="http://schemas.openxmlformats.org/officeDocument/2006/relationships/notesMaster" Target="/ppt/notesMasters/notesMaster1.xml" Id="R90d3dfc43a3c43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f8cb39f2ca4bce" /><Relationship Type="http://schemas.openxmlformats.org/officeDocument/2006/relationships/notesMaster" Target="/ppt/notesMasters/notesMaster1.xml" Id="R0c112901bb8742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7e15128ab545c5" /><Relationship Type="http://schemas.openxmlformats.org/officeDocument/2006/relationships/notesMaster" Target="/ppt/notesMasters/notesMaster1.xml" Id="Rd901a8f3a4dd43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8670a998d9a4c03" /><Relationship Type="http://schemas.openxmlformats.org/officeDocument/2006/relationships/notesMaster" Target="/ppt/notesMasters/notesMaster1.xml" Id="R3b35301f719e42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今天我会先讲空间转录组数据和常规分析流程，再介绍我如何把这个流程做成一个可交互、可追踪、可解释的 Agent。重点不是单个算法，而是把标准分析流程组织成一个可靠系统。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空间转录组的关键不是多一个坐标，而是让表达矩阵重新回到组织结构中。普通转录组回答表达了什么，单细胞回答有哪些状态，空间转录组进一步回答这些状态在哪里。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这里强调数据结构。X 是表达矩阵，obs 和 var 是 metadata，obsm spatial 存坐标，raw 和 layers 存不同表达层。这也是为什么 Agent 必须先检查数据。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不同平台的数据对象不完全一样。一个好的 Agent 不能只适配一种 toy data，要围绕表达矩阵加空间坐标这个共同结构设计，同时对平台差异保持谨慎。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这套流程继承了单细胞分析的一部分方法，同时加入空间坐标和组织结构信息。后面我的 Agent 就是把这些步骤拆成工具并组织成流程。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QC 不是形式步骤。后面所有聚类、marker、空间解释都依赖它。尤其是表达层判断，如果把 scaled matrix 当 counts 解释，就会产生伪结论。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UMAP 回答表达状态是否相似，Spatial 图回答这些状态在组织中在哪里。gene panel 再看目标基因是否具有空间区域性。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空间转录组的解释很容易讲过头。cluster 不是细胞类型，空间表达集中也不是因果机制。所以项目里每条解释都要有 evidence ID 和 caveat。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的价值不是替代 Scanpy 或 Squidpy，而是把分析流程组织起来。先检查数据，再生成计划，再执行工具，再根据证据解释。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 LLM 不是直接拿矩阵做计算，而是负责理解问题、补全计划、解释 evidence pack。数值计算交给工具层。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这页说明 Agent 不是空泛概念，而是把标准空间转录组流程拆成明确工具契约。每一步都有对应工具和可追踪输出。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这一页是从 PPT 切到网站的桥。先说明：前面讲的是空间转录组分析应该怎么做；接下来打开 Streamlit，看 SpatialScope 是否能把同一套流程转化成可交互、可追踪、可复核的分析体验。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正式演示时可以先停在这一页说路线，然后切到浏览器。演示重点不是逐个按钮介绍，而是对应前面讲过的标准流程：Project 证明数据被理解，Run 证明 LangGraph 过程可追踪，Explore 证明 Spatial 与 UMAP 能联动查看，Copilot 证明 LLM 回答受 evidence IDs 约束，Report 证明结论有 caveats。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真实数据验证不是为了给出完整生物学结论，而是证明系统能处理真实 AnnData、真实坐标字段和真实表达层状态。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这一页很重要：把项目拓展到真实科研。它可以用于发育、肿瘤微环境、病理切片探索和教学复现，但不能替代专家注释，也不能把 marker 当作机制证明。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最后总结三点：空间转录组数据和流程是基础；SpatialScope 把流程转成 LangGraph Agent；LLM 用于 evidence-grounded interpretation，不替代数值分析。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7bef3127343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2dcebc91924a22" /><Relationship Type="http://schemas.openxmlformats.org/officeDocument/2006/relationships/slideLayout" Target="/ppt/slideLayouts/slideLayout1.xml" Id="R50bf118d40ab46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bf118d40ab46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5236267314308" /><Relationship Type="http://schemas.openxmlformats.org/officeDocument/2006/relationships/image" Target="/ppt/media/image.png" Id="Rbe68896f66a749e3" /><Relationship Type="http://schemas.openxmlformats.org/officeDocument/2006/relationships/image" Target="/ppt/media/image2.png" Id="R6bda0119fc00487a" /><Relationship Type="http://schemas.openxmlformats.org/officeDocument/2006/relationships/notesSlide" Target="/ppt/notesSlides/notesSlide1.xml" Id="Rb8ab7c45feb64b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4560971344e52" /><Relationship Type="http://schemas.openxmlformats.org/officeDocument/2006/relationships/notesSlide" Target="/ppt/notesSlides/notesSlide2.xml" Id="R5cba29e5c1df4e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a38ecc40b41ad" /><Relationship Type="http://schemas.openxmlformats.org/officeDocument/2006/relationships/notesSlide" Target="/ppt/notesSlides/notesSlide3.xml" Id="Raf29d54c876143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24d9094dc4275" /><Relationship Type="http://schemas.openxmlformats.org/officeDocument/2006/relationships/notesSlide" Target="/ppt/notesSlides/notesSlide4.xml" Id="R0b6c517aa5e545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cb83c175547d6" /><Relationship Type="http://schemas.openxmlformats.org/officeDocument/2006/relationships/notesSlide" Target="/ppt/notesSlides/notesSlide5.xml" Id="R4a15fa1d885244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d34dc1b874082" /><Relationship Type="http://schemas.openxmlformats.org/officeDocument/2006/relationships/image" Target="/ppt/media/image3.png" Id="Rcd4620daae174afa" /><Relationship Type="http://schemas.openxmlformats.org/officeDocument/2006/relationships/notesSlide" Target="/ppt/notesSlides/notesSlide6.xml" Id="R6cbeee6a95cc4e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0b87db4b24bc8" /><Relationship Type="http://schemas.openxmlformats.org/officeDocument/2006/relationships/image" Target="/ppt/media/image4.png" Id="R06d3d573b3bf4a26" /><Relationship Type="http://schemas.openxmlformats.org/officeDocument/2006/relationships/image" Target="/ppt/media/image5.png" Id="R5870e9b2bfe848d8" /><Relationship Type="http://schemas.openxmlformats.org/officeDocument/2006/relationships/image" Target="/ppt/media/image6.png" Id="R2453b9ba36994115" /><Relationship Type="http://schemas.openxmlformats.org/officeDocument/2006/relationships/notesSlide" Target="/ppt/notesSlides/notesSlide7.xml" Id="R9a84592b0bed4f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0fe4142fb404b" /><Relationship Type="http://schemas.openxmlformats.org/officeDocument/2006/relationships/notesSlide" Target="/ppt/notesSlides/notesSlide8.xml" Id="R4c3a8a2a5ee644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bd9ef5f8f4da8" /><Relationship Type="http://schemas.openxmlformats.org/officeDocument/2006/relationships/notesSlide" Target="/ppt/notesSlides/notesSlide9.xml" Id="R4f78f03c0e5b42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9162d508e4722" /><Relationship Type="http://schemas.openxmlformats.org/officeDocument/2006/relationships/notesSlide" Target="/ppt/notesSlides/notesSlide10.xml" Id="R5b8d5628b2e04a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28d539bab4097" /><Relationship Type="http://schemas.openxmlformats.org/officeDocument/2006/relationships/notesSlide" Target="/ppt/notesSlides/notesSlide11.xml" Id="R2441cec3a51e4c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b9c47666948a1" /><Relationship Type="http://schemas.openxmlformats.org/officeDocument/2006/relationships/image" Target="/ppt/media/image7.png" Id="R1706cd8507524f15" /><Relationship Type="http://schemas.openxmlformats.org/officeDocument/2006/relationships/image" Target="/ppt/media/image8.png" Id="R8fa20748cd2b4182" /><Relationship Type="http://schemas.openxmlformats.org/officeDocument/2006/relationships/notesSlide" Target="/ppt/notesSlides/notesSlide12.xml" Id="R77042e9575b244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3a52efc7d4216" /><Relationship Type="http://schemas.openxmlformats.org/officeDocument/2006/relationships/notesSlide" Target="/ppt/notesSlides/notesSlide13.xml" Id="R6b79ebad658047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aff53775044e7" /><Relationship Type="http://schemas.openxmlformats.org/officeDocument/2006/relationships/image" Target="/ppt/media/image9.png" Id="R68f56184acf14ace" /><Relationship Type="http://schemas.openxmlformats.org/officeDocument/2006/relationships/image" Target="/ppt/media/image10.png" Id="Rb824ae5233734358" /><Relationship Type="http://schemas.openxmlformats.org/officeDocument/2006/relationships/image" Target="/ppt/media/image11.png" Id="Rc7df66ba016f43f6" /><Relationship Type="http://schemas.openxmlformats.org/officeDocument/2006/relationships/notesSlide" Target="/ppt/notesSlides/notesSlide14.xml" Id="R2038a430a7374b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984b20b264f6b" /><Relationship Type="http://schemas.openxmlformats.org/officeDocument/2006/relationships/notesSlide" Target="/ppt/notesSlides/notesSlide15.xml" Id="Rcc09765cb137446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68e82fe534863" /><Relationship Type="http://schemas.openxmlformats.org/officeDocument/2006/relationships/image" Target="/ppt/media/image12.png" Id="Reb507f4dced3415f" /><Relationship Type="http://schemas.openxmlformats.org/officeDocument/2006/relationships/notesSlide" Target="/ppt/notesSlides/notesSlide16.xml" Id="R02edf19dacbd45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D96728-B972-4E4E-940F-96ABD061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555B3-057D-4DA8-BEFF-7B680A9D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-114300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2CC"/>
          </a:solidFill>
          <a:ln xmlns:a="http://schemas.openxmlformats.org/drawingml/2006/main" w="0">
            <a:solidFill>
              <a:srgbClr val="EFE2C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8896f66a749e3"/>
          <a:stretch xmlns:a="http://schemas.openxmlformats.org/drawingml/2006/main"/>
        </p:blipFill>
        <p:spPr>
          <a:xfrm xmlns:a="http://schemas.openxmlformats.org/drawingml/2006/main">
            <a:off x="10525125" y="49530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D6100-491B-4BF5-A330-8F920B53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SpatialScope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B72D6-C41A-4A0E-8006-C6E1520C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基于 LangGraph 的空间转录组分析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1BF33-CCE6-4444-AF7F-31A6E169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8F2E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D8F2ED"/>
                </a:solidFill>
                <a:latin typeface="PingFang SC"/>
                <a:ea typeface="PingFang SC"/>
                <a:cs typeface="PingFang SC"/>
              </a:rPr>
              <a:t>顾兴均  ·  11323112  ·  Spatial Transcriptomics Agent Project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a0119fc00487a"/>
          <a:srcRect xmlns:a="http://schemas.openxmlformats.org/drawingml/2006/main" l="0" t="10358" r="0" b="10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950" y="2876550"/>
            <a:ext cx="6381750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B90C8-47BD-4337-9286-A0FA2A2B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0375"/>
            <a:ext cx="3143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9E9D8-FB31-435F-B001-A4BF450B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718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主线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0E364-25CE-4DC4-BF73-54B62EFD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528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8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从空间转录组数据与标准流程出发，展示如何构建可审阅、可追踪、证据约束的科研 Agent。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943D9-E269-424F-B830-642F3F70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8155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9525">
            <a:solidFill>
              <a:srgbClr val="E9F5F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GitHub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8B633-E296-4895-A493-82421A46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81550"/>
            <a:ext cx="1066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9525">
            <a:solidFill>
              <a:srgbClr val="E9F5F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Streamlit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BC650-527F-4283-A744-C250822E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78155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9525">
            <a:solidFill>
              <a:srgbClr val="E9F5F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GitHub Pages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6905B-4F9D-4175-BD40-B6F89813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0065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github.com/seu-yolo/spatialscope-agent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8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spatialscope-seu.streamlit.app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8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seu-yolo.github.io/spatialscope-agent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81217-8AC3-442E-AD75-8ABB5993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E6176-0844-49B7-A153-47E911ED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11A22-D116-442B-96FB-28196C8F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408669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1F6C01-68A2-4CB2-B469-A61866BC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EB267-59CE-4B4F-A89A-5302119E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空间转录组解决什么问题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D134A-F9D3-4C9F-8085-31CDF392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从“表达了什么”到“在组织中哪里表达”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E3F75-4F63-4B8A-AD67-1D22D4A9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667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7FCFF-81F0-4692-B4B1-FB8FDC38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普通转录组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9DC16-8134-4E0D-9EE9-6E765EB5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8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哪些基因表达了？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8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表达量如何变化？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D756D-EEB2-4733-A2C7-9A83B6FE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2667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653C4-7CC1-455C-9240-07AE3161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71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单细胞转录组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FB984-C740-4E27-A2B7-85D56B77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527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8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有哪些细胞类型或状态？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8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细胞之间如何分群？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98A53-05C9-4D50-A3AF-7B0ACD81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00250"/>
            <a:ext cx="2667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395C2-DFEC-47FD-8F68-4EEB52A6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71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空间转录组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69A63-4A39-4E47-9AA4-864A3197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527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8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这些表达和状态在组织中位于哪里？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8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8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是否形成空间区域和邻域？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C67E9-96DE-4FDD-8245-220BA763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6667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4701E-F492-4164-AA62-9A7DE5C5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81250"/>
            <a:ext cx="6667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917F3D-430A-4CC7-9C40-9D60D55D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BFEFC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E9D81-A252-4CB1-B171-4353D88B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29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8D8CD-4AFD-4768-BDFB-42259CD3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5243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BD11C6-D865-4C9D-AD39-D914FBE8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1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33321-DAB4-49C1-A500-F48A232F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314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4FB59A-17A7-4477-B12F-A02ABC6E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10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21A1D-4841-4D48-9CBF-0D068EEF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9053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257F17-4D2B-4834-BC04-28948543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00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64AEE4-09B3-4461-9ADA-A51B33C9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8006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2DC1F1-AC52-4842-92FF-E9C18F19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957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9A572B-AF84-4D53-B97B-F4954D04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5910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E68029-6600-4E83-92AA-F63D0B8B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863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229989-5407-4BA5-BC04-58B94441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381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5726ED-1ACB-4D36-8169-F91CF887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767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25AF51-AFE0-4453-8E9A-8EE5D988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9720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169A04-AD3B-411A-B884-DBA9F33E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72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4759A3-AF07-48EA-9C5B-110B02AC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8672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BCEAE0-19CF-4657-A8F5-9DBE15E9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624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0E1C43-708E-4D35-9BA9-7268A19A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577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EC16E-1C90-45A8-AEAC-990642BC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53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950BC7-E7C1-4185-AC88-83E50F97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448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F49293-FC3A-4E29-A05C-DBF908A0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434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577338-E004-4BD6-B086-CD699B78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43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499490-2ADE-4574-8451-37C4C6D6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386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61B027-2BB6-4A59-A699-DFD7198E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9339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67D13B-B336-4472-AA88-C5499886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291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7C5277-A8EC-448D-B716-6C59A137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24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28C46A-7BC6-41EB-82AE-F845BA12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196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E56E27-F495-4F5E-B51A-F26C2F2D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5148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82599E-6D14-436C-A9B5-1B979ABB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914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803303-907B-40CB-8732-69E9DEEF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4100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D6D15F-355F-4A16-8DE9-DD8524BD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053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B5F676-DE5E-4CF8-BB53-CD6B4FBE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0006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93154D-A7F7-4DDC-9DBA-F41313C6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958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29320B-C28B-4798-9443-19826D71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7910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CD4D90-E366-42B4-80A8-EAB4B2BB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86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32260E-2C73-402F-A038-712993ED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686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02B37DB-A9D6-4447-AB12-83F50B8D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815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626DDB-BEE6-4E1D-9424-DE188D88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476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5DF4DB-44CD-4191-8602-B7D22318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7720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4B718E8-403E-4DC5-AF73-ED45CB1E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2672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5777A47-5095-4FB1-84A1-41EBBFDA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62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E209512-F55C-4546-BAEB-9C5FBBFB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857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D82DF4F-45DB-4632-8D20-823395ED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577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490B0EA-4EEC-4D74-86B4-CFB59BED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529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6ADC1F4-600F-4C0F-B86E-B42AE357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48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1A0491-E95F-45A9-A799-FCBCAFED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5434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0DCD2AF-9C5C-4486-8834-FF932406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387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A32A706-C276-4CC1-97DC-755344E9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3338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E33EB2-A2A4-4AA7-95A1-920DEE29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2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C9CF618-AEA6-4DFC-A270-13D6D4A7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229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CE8D57B-6B16-43D4-B95F-B115C47E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243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A8D1BA1-C08B-4A65-94D6-8FD7719C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81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0C92761-A365-4E36-B0D7-DF1F4CD1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14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F4DD4BE-2C79-4215-93E2-73EBBCEF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610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6106830-84D8-4140-9E02-D4DBD14C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053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8DFAE24-F22C-4F6F-BBF0-E64DFD23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00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70CEE1A-C049-4D08-88F4-FBFFF02C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006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C28071-0212-458C-8F04-8CA367A6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957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BF82483-6D28-4E74-B785-8FD8D849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910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83F14C3-4FFE-419D-A7F0-4A0DD84D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8863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9E0E107-D978-448C-BC02-D4A2B08C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81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26E932C-67EB-4F0A-85F6-32BDB010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767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0EF55C1-2EF2-4A18-88A6-DECBCA18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720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C5CFA9D-6181-49FE-9EDC-435E4702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72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CF8B54C-E497-4179-A07B-BB1D6D41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672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DF5FBBE-032B-41E3-8B4F-2479FBEA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3624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0F634E8-9A1D-4766-83F9-D4186E29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577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EBCAC72-BA61-4F28-BA02-C9C18935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953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E3976B0-A71E-4DEE-86DB-633ACAF9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48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6771EEC-AAA6-46AD-897E-61F378C6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7434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CA068F9-B1FD-48EA-8ECC-B27689B5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43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738F4BA-9F3B-4673-9D14-8AF91E32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6386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BB8A765-CE18-4D20-9799-0D248168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339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8AD9990-FFE5-4CD7-B72F-D1B769D6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291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55F0843-E307-4053-A2E8-84B85308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24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5594F95-33BD-43EB-8708-EC75EDF2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0196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9589ED4-BDAA-4092-9072-AF21BB16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5148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EAEE65D-FC18-4773-821F-08FB05E5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914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5885E38-D9E8-4103-8F17-3A0C47AE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100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915A51C-6718-4EC8-A7E8-04194513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7053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F02D5FD-CAA8-488D-8464-989F7BD6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006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B668728-A191-4659-8BE5-92773FF8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958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79B884F-21BA-4A86-9D78-6379BA36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7910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57500F9-841C-4C26-9197-C985C875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86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6767955-C7CA-41BA-B8CC-CE10A07A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86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65AC4DB-E0FA-416D-8B4E-29B1F04F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9815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08815F8-88E9-4E96-89F9-EEDEF84E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76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BCC94F2-4EA8-41CB-888E-1EF84539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7720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5D4DBD8-1FE3-44B3-BEA6-2C105C3F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672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34B5DD5-0538-4F0E-83C0-6F4CC839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562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A72CFBF-5A33-4999-8F3B-ACDE2C53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624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BFEFC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9E8A752-8860-4D3B-892B-48DFCDFF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29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FF123D9-C3EF-4FB7-B323-9FD47D91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5243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9EEB42B-308F-41F4-B405-E06C3405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1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1FCD92E-A73A-49F1-8889-9FA73169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14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AD71E44-E63A-4030-A6D4-9CC9C83B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10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3996820-847B-4FE1-9535-81339BB0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9053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022D395-BE17-4BB7-9FAE-2AF435D1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00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4F3D46D-BB59-4CD8-A0A7-E492416C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8006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35C5469-57EE-40A0-8A16-659A2C82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957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ED1BCD9-8553-4FAE-A2C9-30D951F8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5910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3D75BBD-57D8-4B8D-9BE8-C16C8238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863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83CB858-7265-4DCF-A886-602079A1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381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94D7393-AC02-48FA-9CE4-E74BB1BF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767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5A4A5D6-FF0A-4C26-B5A6-B242D2C5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720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6E90D15-1B7B-4702-B060-B2C337E5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72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9B7B827-A820-4AF6-B106-B356984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8672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138B243-7988-4E87-8872-B17BBDD0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624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4192CF0-06E2-44D6-8CC5-01EB70A6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6577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2B6E78C-07AE-4C60-9783-67BEADB6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53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4FDD4D8-D19B-4E67-A7D2-16A993BC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448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56CED44-1940-4546-A9B8-063AFF2E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94E3029-78A2-43B3-85EE-7DD99E70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343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816CFB6-74BE-45F2-8015-F735897D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386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FD291A9-5C7C-4CE4-96B4-60E60955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9339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00E72EF-CC76-451E-A0D5-19E038BC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291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A0436D0-F4EE-429A-AC3F-AA3E91EA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24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7B75C12-6DF4-4FA9-898F-4905A601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0196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A02AA77-123C-45CC-8F71-AC5E08F3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5148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0B0F728-D5C7-40C6-B86D-1E617F00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14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FB9EC70-FF8E-43F8-9797-7F0BD40F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4100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0C6931B-20F4-4F43-A498-12E18C80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053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7E060E7-953B-4203-8F80-A29EA46D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0006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C402754-2343-4D1F-92A4-9A447407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958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034E3CC-BD83-4B3F-9C46-9CA11855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910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88BA22D-5906-4D7E-9102-703564DA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86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FC82422-279C-4E32-9C27-1E3EEA2D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686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3AA94CA-FDA7-4109-B915-E275A185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815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A2CDA02-7973-4310-B215-D040980F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476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B7FE9D7-CEAB-4896-8C2F-2BE86CC6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720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0786F91-4F4F-4E15-9573-C25BD1D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2672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175A5C3-55DF-4811-A4BE-70B027CB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62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7D29E6A-4510-4018-9904-7ACF5805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5548BB4-AA4F-44F8-BBF4-A5F11D13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577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1812236-29EA-4E09-8BC7-F4B6F01E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529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01C65DD-538B-4ECB-92C4-B30EED61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683D970-0025-4C18-8845-45655170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5434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E0E739F-1671-47AC-8EE3-3FB2721B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8387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C08A3C2-67E6-45E1-A6C4-0DEEEAE9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3338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BBDE409-B49C-41CA-AB60-F9E69C93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BFB7D4E-CE4A-41BD-8572-800A26FA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229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AE2DF93-BF6E-4C05-A0E1-0550BA90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243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3FB5086-C3AC-43DF-85EA-7FAF7FB8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81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0B3DBBB-29A9-4BCD-AEFB-E33B4A2F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14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C8AA718-4F02-48A6-8B15-EDDAAE68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610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298F7676-5D88-4C8B-815F-1AEE7910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053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4B6C983-07F6-45F7-AC53-F07FC6BD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400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7A583C7-4D73-4174-BCFF-A63872B7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006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09543E8-2CF9-4FFD-8BE5-583359FD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2957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C38DF1B-EF5F-4B47-9B97-C633AF68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910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24390A56-7369-4915-A14E-4F307C6C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8863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C17AAEC-3C28-4871-80F1-19EC7CF0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81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D393C52-E55B-4B05-9306-B07EC069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767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A9879721-BFF8-402D-8356-A6F76294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720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BCA65AE-08A2-4607-B8D8-7A6018CB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572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2269143A-B160-423F-9B65-A94E2878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EB278C77-9ECF-4E4D-9BD1-76C8D1D5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3624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5B7E81A3-66C6-4855-AA6E-90814B34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577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8971365-E302-421C-8A8D-0152B945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953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CF9E018-F364-46A3-98E9-CE40B878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48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301E789-23C8-436B-B677-1BEA5973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7434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7124ED2C-FDF4-4519-9DA2-7A999F54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43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C158257-55B7-4CDC-88C2-B96B831F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6386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45372DCE-5D4E-4750-B007-B1AA8077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339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B41863C-38C2-4BA8-B30B-FB56E35D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4291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980F92F-2932-46F0-A7E0-00BCE74B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244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BDFD94D-83DE-4B56-8E74-3C7A99C0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0196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01EFFA20-A47D-4959-84D3-0FF5B7EF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148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E16895A-C160-4717-A571-00DEF872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914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B7783B22-3FEC-43D8-9ACD-8C2F0528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100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330A0ADB-0134-4CF2-85BA-9E33C5E6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7053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9D8DDF15-E31A-472B-98F8-F31DA4D7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006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66DB8D1A-E9EE-42FD-88A4-2B1388CD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958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6E1F375-2CD6-4777-9919-F7391858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910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29688C39-FFF3-4431-8C44-221E64CB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286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8EAB81F-C86D-4293-A13F-3A127FC3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86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DDB01121-68E2-46DD-BCC8-60C2CC54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9815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22C"/>
          </a:solidFill>
          <a:ln xmlns:a="http://schemas.openxmlformats.org/drawingml/2006/main" w="0">
            <a:solidFill>
              <a:srgbClr val="D9A22C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EBB429B-ED37-47F2-9CA0-ADCB1558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76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AA2"/>
          </a:solidFill>
          <a:ln xmlns:a="http://schemas.openxmlformats.org/drawingml/2006/main" w="0">
            <a:solidFill>
              <a:srgbClr val="7C5AA2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AEBFCE9F-EFDA-4516-ADCA-66E6EE9D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7720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94D"/>
          </a:solidFill>
          <a:ln xmlns:a="http://schemas.openxmlformats.org/drawingml/2006/main" w="0">
            <a:solidFill>
              <a:srgbClr val="E8794D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47D4E953-B5F4-41F8-A52C-214A3EED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672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57113E07-142F-4A12-B935-2435A44A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562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B43450AC-A54A-4358-8E60-7F5133E8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624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BFEFC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51077075-35A3-4194-BF09-A66F16B5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29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7AF74809-DAA8-426A-B1BC-DD76439D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5243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5C176674-F328-4F3D-9CBD-E89BE77F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819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594"/>
          </a:solidFill>
          <a:ln xmlns:a="http://schemas.openxmlformats.org/drawingml/2006/main" w="0">
            <a:solidFill>
              <a:srgbClr val="40A594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C616B69-4E25-4687-A5CA-94CA171D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14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4C8"/>
          </a:solidFill>
          <a:ln xmlns:a="http://schemas.openxmlformats.org/drawingml/2006/main" w="0">
            <a:solidFill>
              <a:srgbClr val="9ED4C8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C778410-A04D-457C-B0A9-3A6C5E96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610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CE36ECB0-6B0B-488F-9897-7B527EAC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9053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CB71B175-9598-4C6C-A975-91636223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005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4C3B7B34-3D16-444E-B2E3-661D2558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594"/>
          </a:solidFill>
          <a:ln xmlns:a="http://schemas.openxmlformats.org/drawingml/2006/main" w="0">
            <a:solidFill>
              <a:srgbClr val="40A594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1A3F1E8A-1FFF-40D2-A5C0-8CB8247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2957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4C8"/>
          </a:solidFill>
          <a:ln xmlns:a="http://schemas.openxmlformats.org/drawingml/2006/main" w="0">
            <a:solidFill>
              <a:srgbClr val="9ED4C8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65149B3A-8BAC-42A9-A415-41CDE775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591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0A0587DD-A15F-4DFC-9F2A-5C8FC396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886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AF5851CF-D594-4248-B9D4-B7E9F746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381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E0424A22-FAAF-4AC0-88B7-2E1D8188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6767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594"/>
          </a:solidFill>
          <a:ln xmlns:a="http://schemas.openxmlformats.org/drawingml/2006/main" w="0">
            <a:solidFill>
              <a:srgbClr val="40A594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DE3B0BF4-1E59-4C71-B477-E6E88086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972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4C8"/>
          </a:solidFill>
          <a:ln xmlns:a="http://schemas.openxmlformats.org/drawingml/2006/main" w="0">
            <a:solidFill>
              <a:srgbClr val="9ED4C8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1D936BC0-223C-4096-AD06-8D7B899B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2F9CCB9F-133A-4D18-BAE6-98BB57DB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867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486653F7-84EE-44E9-B081-737E6B22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3624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51A238A-0700-4CC3-8C50-103686EE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657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594"/>
          </a:solidFill>
          <a:ln xmlns:a="http://schemas.openxmlformats.org/drawingml/2006/main" w="0">
            <a:solidFill>
              <a:srgbClr val="40A594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5F3EC92D-F4AF-465F-9705-F81D9249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53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4C8"/>
          </a:solidFill>
          <a:ln xmlns:a="http://schemas.openxmlformats.org/drawingml/2006/main" w="0">
            <a:solidFill>
              <a:srgbClr val="9ED4C8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A68FE41A-938B-4329-B5E0-33857B64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448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2CC63A73-E76D-4FDE-9AC3-6729BC46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7434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FC9F474D-E7EA-4B76-AA63-0936D0AE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3434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64551486-2520-443B-A5D3-05B96F0C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38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594"/>
          </a:solidFill>
          <a:ln xmlns:a="http://schemas.openxmlformats.org/drawingml/2006/main" w="0">
            <a:solidFill>
              <a:srgbClr val="40A594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74C5AAC9-2231-4BEE-AFCA-DC1C2DCC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3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4C8"/>
          </a:solidFill>
          <a:ln xmlns:a="http://schemas.openxmlformats.org/drawingml/2006/main" w="0">
            <a:solidFill>
              <a:srgbClr val="9ED4C8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DA1A670-9699-4803-9B37-78189C9E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4291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53FA3654-F61B-43CE-9F13-513C2981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7244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4FA802F2-7596-4AB8-9014-A1E901D9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019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A561E870-F393-4C19-A349-019EDAB0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514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594"/>
          </a:solidFill>
          <a:ln xmlns:a="http://schemas.openxmlformats.org/drawingml/2006/main" w="0">
            <a:solidFill>
              <a:srgbClr val="40A594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D38C867B-81F1-4B9F-9BE0-D1FB9DF2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914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4C8"/>
          </a:solidFill>
          <a:ln xmlns:a="http://schemas.openxmlformats.org/drawingml/2006/main" w="0">
            <a:solidFill>
              <a:srgbClr val="9ED4C8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EB53FB2C-3FF2-45D1-BC42-92955240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410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C2F1A16E-16DD-4650-B5D3-21509556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05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0DB00CCB-A9B2-4089-B49C-410FC2FA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00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F8B89A79-BF23-4014-9B5A-B6AB82F7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4958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594"/>
          </a:solidFill>
          <a:ln xmlns:a="http://schemas.openxmlformats.org/drawingml/2006/main" w="0">
            <a:solidFill>
              <a:srgbClr val="40A594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0E448543-664A-4ECA-ACFD-7410F8C7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4791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4C8"/>
          </a:solidFill>
          <a:ln xmlns:a="http://schemas.openxmlformats.org/drawingml/2006/main" w="0">
            <a:solidFill>
              <a:srgbClr val="9ED4C8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D29136B2-65B5-4FDA-B28C-482E5796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86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1D0C1B7B-4599-483C-A677-496FF466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686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8ADD04B0-C01E-4780-878B-6F7E1068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9815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3601637D-8209-42E8-9D93-952760F7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4476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594"/>
          </a:solidFill>
          <a:ln xmlns:a="http://schemas.openxmlformats.org/drawingml/2006/main" w="0">
            <a:solidFill>
              <a:srgbClr val="40A594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750D2FDC-B906-4533-A809-1680773F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72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4C8"/>
          </a:solidFill>
          <a:ln xmlns:a="http://schemas.openxmlformats.org/drawingml/2006/main" w="0">
            <a:solidFill>
              <a:srgbClr val="9ED4C8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0E23597C-F310-4779-9919-D1AD0A25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26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09D63776-EA1F-456E-9FDB-8CCEF4C2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624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166CCBC7-497B-4FC8-BC47-481D049B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857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A64E7B0B-B526-441E-B830-CA95A40E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57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594"/>
          </a:solidFill>
          <a:ln xmlns:a="http://schemas.openxmlformats.org/drawingml/2006/main" w="0">
            <a:solidFill>
              <a:srgbClr val="40A594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089C69A9-482F-44B7-B63B-73B3B5DD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752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4C8"/>
          </a:solidFill>
          <a:ln xmlns:a="http://schemas.openxmlformats.org/drawingml/2006/main" w="0">
            <a:solidFill>
              <a:srgbClr val="9ED4C8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33437616-FD33-4DDF-B5DD-D89218C3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248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16C746AD-9F3A-4116-B9CF-529B706C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543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174DEDD2-448A-4D5F-8B5B-635FBCD7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38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6C778099-C263-4A30-906D-D15B61FE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333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594"/>
          </a:solidFill>
          <a:ln xmlns:a="http://schemas.openxmlformats.org/drawingml/2006/main" w="0">
            <a:solidFill>
              <a:srgbClr val="40A594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5EE86D8A-D50E-4DEE-A3B8-E1C498B2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62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4C8"/>
          </a:solidFill>
          <a:ln xmlns:a="http://schemas.openxmlformats.org/drawingml/2006/main" w="0">
            <a:solidFill>
              <a:srgbClr val="9ED4C8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A8F272F9-EBDF-4BAC-8F07-7F23D01F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42291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B07755A1-3657-4A55-B91B-777193FB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24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4E84E880-4A5A-4772-892D-53B185F5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81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81A00170-C2DA-4C0D-AD7F-6BFFECCF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3148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594"/>
          </a:solidFill>
          <a:ln xmlns:a="http://schemas.openxmlformats.org/drawingml/2006/main" w="0">
            <a:solidFill>
              <a:srgbClr val="40A594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E6789912-6D36-43B6-BB3F-A6425FAE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6101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4C8"/>
          </a:solidFill>
          <a:ln xmlns:a="http://schemas.openxmlformats.org/drawingml/2006/main" w="0">
            <a:solidFill>
              <a:srgbClr val="9ED4C8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D0C56E20-75AF-4E1E-941D-3FC2F751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05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BC2C4AD8-3178-4D83-905D-4A4E4D4A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400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D4FC998E-78CE-4909-B93E-F7244F98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006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A1A8DA74-4ACE-4C80-8BF1-931C378E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295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594"/>
          </a:solidFill>
          <a:ln xmlns:a="http://schemas.openxmlformats.org/drawingml/2006/main" w="0">
            <a:solidFill>
              <a:srgbClr val="40A594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5B147FD5-0A67-45D7-A5A4-B4C3441D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91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4C8"/>
          </a:solidFill>
          <a:ln xmlns:a="http://schemas.openxmlformats.org/drawingml/2006/main" w="0">
            <a:solidFill>
              <a:srgbClr val="9ED4C8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C7E5275C-439E-4471-8D79-3F8FB32C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886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4789EEA2-E435-4016-99E0-4C2CA461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381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7A092013-043A-47E4-AAAB-8EA0C9C7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676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1C437C3-858A-453A-8977-DA388EE9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72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594"/>
          </a:solidFill>
          <a:ln xmlns:a="http://schemas.openxmlformats.org/drawingml/2006/main" w="0">
            <a:solidFill>
              <a:srgbClr val="40A594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493C49FA-FA36-4731-AE48-3D214DE4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572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4C8"/>
          </a:solidFill>
          <a:ln xmlns:a="http://schemas.openxmlformats.org/drawingml/2006/main" w="0">
            <a:solidFill>
              <a:srgbClr val="9ED4C8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D80C07B7-2404-47B5-95C1-42B270F4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8672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D58578D4-B433-411F-B60D-5F3F15D1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362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2C02DBCD-1FA2-473E-85AF-07DA551E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657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9D46B4B-95A6-45C6-A863-654EE946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953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594"/>
          </a:solidFill>
          <a:ln xmlns:a="http://schemas.openxmlformats.org/drawingml/2006/main" w="0">
            <a:solidFill>
              <a:srgbClr val="40A594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97111E63-0EAA-43D9-8209-787A49DB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4481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4C8"/>
          </a:solidFill>
          <a:ln xmlns:a="http://schemas.openxmlformats.org/drawingml/2006/main" w="0">
            <a:solidFill>
              <a:srgbClr val="9ED4C8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2E125BA4-43D9-44DA-BC46-563A3359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743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4499F1E2-F3A6-4445-9FD1-5C201402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343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0D84B9CB-E717-4880-AD7D-7A4C4D8C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638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71498661-8D5D-46E3-B5BB-74103E6F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339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594"/>
          </a:solidFill>
          <a:ln xmlns:a="http://schemas.openxmlformats.org/drawingml/2006/main" w="0">
            <a:solidFill>
              <a:srgbClr val="40A594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B94DED7-7A0C-4E04-88BC-1D83F0FE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429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4C8"/>
          </a:solidFill>
          <a:ln xmlns:a="http://schemas.openxmlformats.org/drawingml/2006/main" w="0">
            <a:solidFill>
              <a:srgbClr val="9ED4C8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3835466D-4452-4580-8FD4-1D5EC965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724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4A425CD1-1DC6-4AF0-96E5-F15BE052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019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18E3B68C-5839-49E2-B5F4-189261B0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148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257828AF-C18F-4B2F-87AE-4FA1B50C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9149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594"/>
          </a:solidFill>
          <a:ln xmlns:a="http://schemas.openxmlformats.org/drawingml/2006/main" w="0">
            <a:solidFill>
              <a:srgbClr val="40A594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FE7350F8-53B5-4471-B577-44EE566B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10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4C8"/>
          </a:solidFill>
          <a:ln xmlns:a="http://schemas.openxmlformats.org/drawingml/2006/main" w="0">
            <a:solidFill>
              <a:srgbClr val="9ED4C8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9B751E1B-DC1E-487C-B49F-5AE79AD9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0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74AC2D83-523F-4FBC-A988-AC9358F8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0006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36C543F5-A6D2-4F13-9E73-23BC593E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495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8B3758AD-5F21-43CF-B70E-1E589489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791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594"/>
          </a:solidFill>
          <a:ln xmlns:a="http://schemas.openxmlformats.org/drawingml/2006/main" w="0">
            <a:solidFill>
              <a:srgbClr val="40A594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88481DD1-E3F8-4841-B9E2-1B127643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28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4C8"/>
          </a:solidFill>
          <a:ln xmlns:a="http://schemas.openxmlformats.org/drawingml/2006/main" w="0">
            <a:solidFill>
              <a:srgbClr val="9ED4C8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ED8FFE91-1D06-4997-83CF-30C83E9D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86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56A4A624-FA58-4187-86C6-86C9186F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981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C78BF0F1-EBA7-4844-B38D-BB366FB6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476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305C7B04-01F4-45B9-BD9E-2AB64E7F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772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A594"/>
          </a:solidFill>
          <a:ln xmlns:a="http://schemas.openxmlformats.org/drawingml/2006/main" w="0">
            <a:solidFill>
              <a:srgbClr val="40A594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4AD49358-C91D-45F2-8E7B-E7816352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672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4C8"/>
          </a:solidFill>
          <a:ln xmlns:a="http://schemas.openxmlformats.org/drawingml/2006/main" w="0">
            <a:solidFill>
              <a:srgbClr val="9ED4C8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7D2B1435-B8AA-4E60-ACAC-50DF4F8C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562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DDEFEA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B9E3F9BC-482B-4A96-A2D1-65271486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A8963EE3-4BCC-4378-9F43-F680734B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空间信息让表达矩阵重新回到组织结构中</a:t>
            </a: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A1DE65DC-9459-498A-8DF7-600098BA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E0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61D7EEC9-A741-495B-A80E-3D86C211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Conceptual framing based on spatial omics workflows; Squidpy, Nature Methods 2022.</a:t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5D5B545D-1BEC-48CF-BE1A-080FC59A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370888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EF4B45-042A-4628-BF27-B9728662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DATA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8F30D-8184-4674-BEEF-46DC5BCA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空间转录组数据长什么样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76DF5-BA88-42DB-A811-83352FCF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典型对象同时包含表达矩阵、空间坐标、metadata、raw/layers 与可选组织图像。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52441-70D9-4C20-97BE-D03ED204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3524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BFEFC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323B9-8D98-417E-98CB-7BDA68E5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E16F4-480D-4436-8081-52101263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400300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C520A-220F-4A75-960D-F97F091D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7950" y="2400300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E3F67-3F0E-4A4D-93F3-214F1696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00300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9A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AA939-257B-4054-964A-4E22D52A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050" y="2400300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9A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6EFAB-F604-49E8-AAEC-4479BCD2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400300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05FA5-485D-40DC-A9FC-F33F048F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0300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C38E3-20D6-4C51-9FD0-45E88885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0" y="2400300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54ED5-8901-4993-AB1D-E48FC93A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250" y="2400300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DF750-C265-41EB-B6BE-1C02F23F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5229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6FCDD-9561-4E06-A7E4-220A7929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645229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AFBAD-9CE8-4865-8911-4EC07FDA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7950" y="2645229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9A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92996-5CC1-4290-8709-8CFB493B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45229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9A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3FD0D6-F538-4EC9-A7DD-91E66086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050" y="2645229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12BCF2-A4A2-4F2D-9672-F0FA47C1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645229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4710ED-34FD-4464-9D73-0354E82B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5229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5A0484-A456-401F-8E79-A0B8C72D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0" y="2645229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2C3F87-BDF7-4068-9228-07B3B50B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250" y="2645229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9A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C37A52-4840-453E-AA0C-99728796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90157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DE9335-60A3-4A1F-BB78-23964155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890157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9A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134226-2429-4746-BB65-0740A4E6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7950" y="2890157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9A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2E939D-8534-4917-BE1A-9FDF43E9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90157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DFAAA0-1EAB-46E6-ACD2-C5BE78DD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050" y="2890157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4A10B6-548C-454A-9165-CB5A5C36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890157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24F211-2226-4B21-99F9-926477C0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90157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0D051C-C0AF-4C24-AEA3-45EC396B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0" y="2890157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9A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52877C-E23D-42F5-B641-E23C977B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250" y="2890157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9A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C7CB7E-3191-4099-9141-A83BC938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35086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9A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692B59-13F8-4C6B-B103-FF402179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135086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9A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6B4CD0-C481-4F8F-A4E2-4025E27A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7950" y="3135086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5E025A-16BD-47FA-BE96-DE4CC2C5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35086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562955-23DD-48F7-9B0C-6B805C15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050" y="3135086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3130B3-BC49-4C93-B053-79068E40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135086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914041-713F-4409-9798-9F1D1621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35086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9A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0224A5-6538-460F-B217-48207AEC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0" y="3135086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9A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293093-B6F0-488B-886B-163101D8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250" y="3135086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C11DD6-1E89-431E-A54A-D29BAA60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80014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9A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4224E0-50F8-4781-97FA-528F0228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80014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3F8787-B4C4-4A2D-B838-7D0065DD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7950" y="3380014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6C2CE2-B0C8-4911-B773-F515B087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80014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C555CD-406E-49F4-8258-DBA4D564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050" y="3380014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DBA7DB-6454-4E04-A6CA-9A7766AE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380014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51D86E-EBD3-489B-80DF-AC7032A2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80014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9A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A6EE6A-C123-47A0-9D70-3B23DE04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0" y="3380014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D2F902-397A-451A-BBA2-A5E72EA1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250" y="3380014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B8905B6-D809-4690-A938-B1F35425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24943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9A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611A77-E0FB-485B-A0CC-D59C2EE0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624943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B0E0D59-FA98-4D85-8AE0-C9ABE9A6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7950" y="3624943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0422AC-C834-4ECC-8EA8-F4EE7A6D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24943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9648F2-AD16-4142-A775-7B991037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050" y="3624943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D3F624-7F02-426B-9D16-D48278E7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624943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9A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70CA91-7B58-4D23-BEFC-A37DCD09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24943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9A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189EE4B-E1DC-4C2B-93C9-61F7BE30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0" y="3624943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189ED74-943D-4838-8F38-E8F7B16B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250" y="3624943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F426040-4648-43EC-89FD-24CAE068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69871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B303968-118C-4D7E-B69F-E13AD25E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869871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53D53EE-3EDF-4488-92B0-D53460E9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7950" y="3869871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9D50C11-6107-44A3-8326-E58A3CBF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9871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D14165A-9F28-488B-8FB6-20F925FC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050" y="3869871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9A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5E3D57B-A1E0-47C7-8D72-5C4D659C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869871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9A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AB4BA0E-887C-4BAA-813B-25FDE864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9871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E6EDC2F-2156-476F-AFEB-EE8D9108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0" y="3869871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2CC3C75-E041-454B-9F12-A90A39D6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250" y="3869871"/>
            <a:ext cx="317500" cy="225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B4A26F8-A2ED-460F-8F1A-92D243FB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955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genes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BA5F0D6-44D4-4409-B200-430691F2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384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spots / cells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470DAF4-9474-4D5D-BFA2-5ECA5F4E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X: spots/cells × genes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21AD03A-6020-404F-A578-EFE2F446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65A9D23-B38E-4E37-BB81-B6D4E916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obs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A3AEFFA-9C76-4FEA-B750-75C44317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spot/cell metadata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3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total counts, cluster, cell type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6C0FDC3-21CD-4265-B7DE-6F98441F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C9BD9F4-8915-492A-9231-F2FF7FC0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var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A61C740-9337-4E68-879E-BD8592D4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gene metadata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3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symbols, IDs, features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70CD677-976F-4EEF-A84D-9C29BFCF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2571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412B2AB-C8BF-4FA8-9C22-A55C2F4F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336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obsm["spatial"]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812B504-C594-434A-A0B3-B1B286BC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1935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二维空间坐标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3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x / y positions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044CA8D-33EC-44EE-9A23-89D01D94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43300"/>
            <a:ext cx="2571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5755011-682B-4A41-8DDC-5A9E0AED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385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8A5A12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8A5A12"/>
                </a:solidFill>
                <a:latin typeface="PingFang SC"/>
                <a:ea typeface="PingFang SC"/>
                <a:cs typeface="PingFang SC"/>
              </a:rPr>
              <a:t>raw / layers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B64A78C-1AFA-489B-B5C2-FE756456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2430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counts, normalized,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3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log-transformed, scaled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B088990-F126-4CC5-A77E-E047437D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004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5" name=""/>
          <p:cNvCxnSpPr>
            <a:stCxn xmlns:a="http://schemas.openxmlformats.org/drawingml/2006/main" id="71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3257550" y="2600325"/>
            <a:ext cx="2076450" cy="6048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dash"/>
            <a:tailEnd type="arrow" w="med" len="med"/>
          </a:ln>
        </p:spPr>
      </p:cxnSp>
      <p:cxnSp>
        <p:nvCxnSpPr>
          <p:cNvPr id="176" name=""/>
          <p:cNvCxnSpPr>
            <a:stCxn xmlns:a="http://schemas.openxmlformats.org/drawingml/2006/main" id="74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 flipV="1">
            <a:off x="3257550" y="3205163"/>
            <a:ext cx="2076450" cy="9001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dash"/>
            <a:tailEnd type="arrow" w="med" len="med"/>
          </a:ln>
        </p:spPr>
      </p:cxnSp>
      <p:cxnSp>
        <p:nvCxnSpPr>
          <p:cNvPr id="177" name=""/>
          <p:cNvCxnSpPr>
            <a:stCxn xmlns:a="http://schemas.openxmlformats.org/drawingml/2006/main" id="83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 flipV="1">
            <a:off x="5343525" y="2600325"/>
            <a:ext cx="3228975" cy="6048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dash"/>
            <a:tailEnd type="arrow" w="med" len="med"/>
          </a:ln>
        </p:spPr>
      </p:cxnSp>
      <p:cxnSp>
        <p:nvCxnSpPr>
          <p:cNvPr id="178" name=""/>
          <p:cNvCxnSpPr>
            <a:stCxn xmlns:a="http://schemas.openxmlformats.org/drawingml/2006/main" id="83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5343525" y="3205163"/>
            <a:ext cx="3228975" cy="9001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dash"/>
            <a:tailEnd type="arrow" w="med" len="me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5B3382C-95F5-4A4B-891C-B4B98C03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Agent 必须先 inspect dataset，因为不同数据的坐标字段、表达层和 metadata 可能完全不同。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D0DF3F7-D328-4CB0-A595-CE0F6EAB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E0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C883525-A169-4AEF-877E-ADCAD70A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AnnData / SpatialExperiment data structures; SpatialExperiment, 2022.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A176565-6F76-4BA1-9B39-1F7D506D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234603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BA79D8-C0C8-414D-9B46-2C1AC483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DATA PLATFORMS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23FB8-15B0-4E22-965D-5737CC5D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不同技术平台的数据差异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1D276-9924-48CB-8D09-0468AA3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A28FA-40DE-45AA-A4B9-30495735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287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541C1-74F9-4A88-97EF-A59F67E3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287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Data object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979EA-5C0A-4B1A-BE09-D68B9F2D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Analysis challenge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BBF47-04A5-43BB-95A5-2517EDD2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2476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4F4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4F49"/>
                </a:solidFill>
                <a:latin typeface="PingFang SC"/>
                <a:ea typeface="PingFang SC"/>
                <a:cs typeface="PingFang SC"/>
              </a:rPr>
              <a:t>10x Visium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04268-1065-40F9-A159-2F899E40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28800"/>
            <a:ext cx="2286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463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spot-based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33D47-71C3-40E2-B76B-26D1D266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2880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463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组织图像 + spots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401DB-07EA-4CBD-BD2E-2597A157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28800"/>
            <a:ext cx="3524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463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spot 含多个细胞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844D7-80D2-421A-8911-6D8C92E7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476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C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4F4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4F49"/>
                </a:solidFill>
                <a:latin typeface="PingFang SC"/>
                <a:ea typeface="PingFang SC"/>
                <a:cs typeface="PingFang SC"/>
              </a:rPr>
              <a:t>Stereo-seq / Slide-seq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219BA-99FF-4DC4-8290-CA39CB3C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62250"/>
            <a:ext cx="2286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C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463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high-resolution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85D64-D772-4212-AB8E-B25F9ADB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6225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C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463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大量 spots + 坐标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1766B-9334-4BAE-AB48-44F04D6D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3524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C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463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规模大；坐标字段差异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E6D3A-8AC2-4F00-8B0F-103EA317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476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4F4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4F49"/>
                </a:solidFill>
                <a:latin typeface="PingFang SC"/>
                <a:ea typeface="PingFang SC"/>
                <a:cs typeface="PingFang SC"/>
              </a:rPr>
              <a:t>MERFISH / Xenium / CosMx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422AC-11AF-4ECC-8E60-2D715C89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95700"/>
            <a:ext cx="2286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463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imaging-based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54ABF-2EE5-4352-8888-71818CCA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9570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463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cell-level panel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BDDA5-1E84-43E8-8A03-C947A05C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95700"/>
            <a:ext cx="3524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57150" tIns="0" rIns="571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463" b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fixed panel；QC 不同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41B34-28B0-4DB8-BF0A-E97A5C4D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4191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3FED4-5641-4938-B966-1CBE9F2B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5400"/>
            <a:ext cx="3886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共同抽象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00DA0-28BC-4A99-95D7-0F85A0C9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91150"/>
            <a:ext cx="388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表达矩阵 + 空间坐标 + metadata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145C43-6EB4-403A-84A6-5CE0D7CC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10150"/>
            <a:ext cx="4762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825077-BE16-4D4B-836F-8AE59BC1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05400"/>
            <a:ext cx="445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8A5A12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8A5A12"/>
                </a:solidFill>
                <a:latin typeface="PingFang SC"/>
                <a:ea typeface="PingFang SC"/>
                <a:cs typeface="PingFang SC"/>
              </a:rPr>
              <a:t>谨慎边界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30035C-FC23-4AAA-8571-20193274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9115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坐标字段、表达层、QC 指标和图像信息因平台而异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6C13E5-7FE5-45C9-B397-1B3B31A1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6EFCF2-D17C-48A0-AE6F-EB1CCCD2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Platform categories summarized from spatial transcriptomics literature and OSTA workflows.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379C40-DD35-470F-B4A8-33D3A54B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95754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CE2DB1-DD1C-4887-A53C-55E4EFBD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STANDARD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76907-9A96-4484-A013-FFD4188F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常规空间转录组处理流程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0D876-A8D1-4559-B2C4-8F367924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116330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8FCFB"/>
          </a:solidFill>
          <a:ln xmlns:a="http://schemas.openxmlformats.org/drawingml/2006/main" w="9525">
            <a:solidFill>
              <a:srgbClr val="E4EF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D081F-B6BC-486B-BCFB-C7F1DD41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05025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DE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39D3B-3081-4036-8748-E576213E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381" y="200977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12144-B83F-4A44-87AF-5FAC4CF5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200977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BDBA0-EAC5-4FEE-8356-C8119F34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344" y="200977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BEB04-996D-4F09-BC27-A4D0D0E1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0977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2970F-7E37-4D76-82A5-2099FC6F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306" y="200977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00E28-4B84-480B-98B3-C5089DC4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288" y="200977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2E17D-DCE7-4287-A3A5-172D9582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1269" y="200977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D3C6D-C4EC-4215-8ED9-E2E53731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202531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FB534-8202-441B-AC9B-0BE19437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973931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读取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F9380-66C7-4106-BBCF-4F7AE952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781" y="1657350"/>
            <a:ext cx="1202531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2907B9-6E21-4027-9B34-93046238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081" y="1790700"/>
            <a:ext cx="973931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QC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过滤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469A69-3413-4547-BDA1-5E60B3BE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1657350"/>
            <a:ext cx="1202531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C5C39-0CF7-423C-A55A-43CECD2B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790700"/>
            <a:ext cx="973931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归一化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log1p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FC204-7D8B-4E95-B88F-F29D8843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744" y="1657350"/>
            <a:ext cx="1202531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7A4C81-B6E6-408D-AAAB-2A59DBD5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2044" y="1790700"/>
            <a:ext cx="973931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降维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聚类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8581A9-B47E-400C-B6C4-6441EEF5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57350"/>
            <a:ext cx="1202531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03F2B-DEE8-47FB-9F8E-DA2D2C86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790700"/>
            <a:ext cx="973931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空间图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711A76-8EFC-4164-9822-4B6F534E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706" y="1657350"/>
            <a:ext cx="1202531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A65C6-0B3C-42EC-84B5-1B1F5F0A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006" y="1790700"/>
            <a:ext cx="973931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基因图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C24761-FC66-42CC-BDCB-4CF98F7B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1657350"/>
            <a:ext cx="1202531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67E870-CC4B-443F-B097-979E4D7B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790700"/>
            <a:ext cx="973931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SVG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邻域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A74203-B703-49EE-8583-D5F05C60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669" y="1657350"/>
            <a:ext cx="1202531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97DFCA-E10B-4EBD-BFCD-D4C43628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969" y="1790700"/>
            <a:ext cx="973931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解释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caveats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A442C7-27AF-4019-8565-895BB8BE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E78E9E-FE62-4835-951C-E2914EF5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继承单细胞分析的预处理、降维、聚类和 marker gene 思路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048171-EBBF-42FD-9380-1BFC298E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44B1B-B169-40C1-8551-E69F9DB6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加入空间坐标后，需要观察 cluster 和基因表达是否对应组织空间结构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DB8845-8DFD-47A3-A542-B6FBEDCB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9835BF-0EC2-4D9B-969F-B6BB70A3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1480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解释阶段必须回到图表、统计摘要和数据质量边界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992114-3756-4015-B432-2A7C6CC3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Scanpy 提供 preprocessing / visualization / clustering；Squidpy 在此基础上扩展空间统计与空间可视化；OSTA 系统整理了 QC、normalization、feature selection 和 downstream workflow。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6B2A58-27E1-433A-9829-53F1353C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1E30BF-2CCB-414A-AE63-B1681B2A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Sources: Scanpy (Genome Biology 2018), Squidpy (Nature Methods 2022), Bioconductor OSTA.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6C3EEC-43A4-4162-9CE9-F749CF7E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696793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18276B-A772-44F4-922D-1C23C66C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QUALITY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9F368-8363-4020-8041-F6548A32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QC 为什么重要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620daae174afa"/>
          <a:stretch xmlns:a="http://schemas.openxmlformats.org/drawingml/2006/main"/>
        </p:blipFill>
        <p:spPr>
          <a:xfrm xmlns:a="http://schemas.openxmlformats.org/drawingml/2006/main">
            <a:off x="723900" y="2378726"/>
            <a:ext cx="4514850" cy="1509998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9D06F-15C6-4097-97E5-2B7B51C0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44767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12979-92E3-4C2E-B217-0A12A71A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QC 检查对象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62C90-8740-4FE0-8EC1-42BBC98D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095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• total counts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• detected genes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• mitochondrial fraction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• spatial coordinates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• expression matrix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7C482-1E06-4D2F-9174-3BA2D141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14800"/>
            <a:ext cx="4476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F5F35-E878-4775-A8BF-22E9E2AF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8A5A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8A5A12"/>
                </a:solidFill>
                <a:latin typeface="PingFang SC"/>
                <a:ea typeface="PingFang SC"/>
                <a:cs typeface="PingFang SC"/>
              </a:rPr>
              <a:t>表达层安全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FC300-B350-4A21-85A1-716BAADA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count-like / normalized / scaled / unknown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先判定来源，再解释 marker / gene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3B9DD-9E15-4391-BDF9-14302295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8162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如果把 scaled matrix 当作 raw counts 解释，后续 marker gene 和空间表达结论可能出现系统性偏差。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95180-F33D-4B4E-95AC-26A1624F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04ABA-2496-4FDE-B864-2431E482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Source: OSTA Quality Control chapter; SpatialScope expression-source guardrails.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9F719-FAD3-426A-8B99-35683ECD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242863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823EC8-7A28-4C8C-BA5C-11131FDD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VISUAL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75172-070A-4F4C-95C3-6FB38461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降维、聚类和空间可视化如何配合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3d573b3bf4a26"/>
          <a:stretch xmlns:a="http://schemas.openxmlformats.org/drawingml/2006/main"/>
        </p:blipFill>
        <p:spPr>
          <a:xfrm xmlns:a="http://schemas.openxmlformats.org/drawingml/2006/main">
            <a:off x="819150" y="1818738"/>
            <a:ext cx="3143250" cy="1944174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0e9b2bfe848d8"/>
          <a:stretch xmlns:a="http://schemas.openxmlformats.org/drawingml/2006/main"/>
        </p:blipFill>
        <p:spPr>
          <a:xfrm xmlns:a="http://schemas.openxmlformats.org/drawingml/2006/main">
            <a:off x="4514850" y="1893420"/>
            <a:ext cx="3143250" cy="179481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3b9ba36994115"/>
          <a:stretch xmlns:a="http://schemas.openxmlformats.org/drawingml/2006/main"/>
        </p:blipFill>
        <p:spPr>
          <a:xfrm xmlns:a="http://schemas.openxmlformats.org/drawingml/2006/main">
            <a:off x="8210550" y="1751809"/>
            <a:ext cx="3143250" cy="2078032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F2B42-BFFE-4697-B56B-825C19FC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2724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A8FC5-DEA2-4E62-B368-81574208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UMAP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8BCC7-2A83-4BCC-9713-4081DA7F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4345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表达空间相似性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DF5C9-66BE-49D0-B38E-CBF571BC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62450"/>
            <a:ext cx="2724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10DD4-5918-4395-8E4B-E7AF67A2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5770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Spatial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8D438-2C4B-4617-8798-F60AB467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4345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组织空间位置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FA0AB-67F0-488A-B623-CA4DAA66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62450"/>
            <a:ext cx="2724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F2F9E-3D83-4BBD-822E-FB92329C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Gene panel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B62C5-AD8A-4FDF-A7AF-57F66D9E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4345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目标基因空间分布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C892E-99DD-408D-97F9-02C4D1FF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673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UMAP 回答“表达状态是否相似”；Spatial 图回答“这些状态在组织中在哪里”。两者必须一起看。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EDABB-5E51-4B53-9046-9177B1DC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28069-81EC-404A-82ED-7A63A421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Demo embryo dataset generated for SpatialScope smoke tests.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494E9-CC72-41C3-B4BC-EC34F3C7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611471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5829D5-1230-4B19-906C-346B8139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INTERPRETATION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71F45-594F-47CF-AB72-05989E94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从图到生物学解释的风险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CEE19-7D4D-42DC-8876-7901C962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47850"/>
            <a:ext cx="96774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7FBFA"/>
          </a:solidFill>
          <a:ln xmlns:a="http://schemas.openxmlformats.org/drawingml/2006/main" w="9525">
            <a:solidFill>
              <a:srgbClr val="E4EF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A6D34-2ECF-488E-AB8B-2D29A54C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66975"/>
            <a:ext cx="910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DE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2067F-8F23-4A96-B993-430B8E75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540" y="237172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B02E6-2A28-46C4-82E8-D0E9B8B8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0" y="237172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8517C-A207-4D12-A748-DD5423C5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37172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6BF47-8479-4E3B-AB75-6D6FD137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110" y="237172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6371C-3837-46CE-B5CD-3DFA0CBE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172974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791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0B7A1-B74C-45FD-99CD-6EF3AB8F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01560-64FD-4EE1-B0FC-CE53FEBD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71700"/>
            <a:ext cx="129159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8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图表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BDEF0-11E9-4A0B-9AE5-62B03C46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940" y="2038350"/>
            <a:ext cx="172974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14288">
            <a:solidFill>
              <a:srgbClr val="B7791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0E8AD-5FF5-49F4-A060-26175F27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190" y="2133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16F3F-B58A-454F-AABD-3752E687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1890" y="2171700"/>
            <a:ext cx="129159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8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统计摘要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3641A-12D7-47B4-B0E8-40E78398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2038350"/>
            <a:ext cx="172974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791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7AEB4-23F1-40CE-97B5-F4AA25C2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380" y="2133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CBD8B0-FADD-4C4A-9F27-CAF21293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080" y="2171700"/>
            <a:ext cx="129159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8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Evidence 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B1027-159B-4E5B-9C40-AB5D1D1B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038350"/>
            <a:ext cx="172974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14288">
            <a:solidFill>
              <a:srgbClr val="B7791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D11731-C3D3-4ECB-B323-140A06B6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570" y="2133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F52163-95D9-4ABB-AA13-0C8DE6E4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270" y="2171700"/>
            <a:ext cx="129159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8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谨慎解释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A17ABC-571D-4A55-A199-CBD8F1CD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3510" y="2038350"/>
            <a:ext cx="172974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791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61D9A0-9FE1-4744-9967-0D012C34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760" y="2133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9DBD76-DC04-4625-A489-67989EBE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460" y="2171700"/>
            <a:ext cx="129159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8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Caveat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0DD086-0DA1-45DB-B90F-EF60434C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76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3A4B"/>
          </a:solidFill>
          <a:ln xmlns:a="http://schemas.openxmlformats.org/drawingml/2006/main" w="0">
            <a:solidFill>
              <a:srgbClr val="B83A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C88F73-6DD3-4274-9A5E-7E632163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600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cluster 不等于细胞类型，需要 marker 和外部知识支撑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F975E5-14BA-4927-972E-DFB4F8D1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3A4B"/>
          </a:solidFill>
          <a:ln xmlns:a="http://schemas.openxmlformats.org/drawingml/2006/main" w="0">
            <a:solidFill>
              <a:srgbClr val="B83A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D93227-49F5-497A-A62B-960B0E13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005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marker gene ranking 是候选证据，不是最终注释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C31249-451B-4F79-8621-6F5928CC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7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3A4B"/>
          </a:solidFill>
          <a:ln xmlns:a="http://schemas.openxmlformats.org/drawingml/2006/main" w="0">
            <a:solidFill>
              <a:srgbClr val="B83A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F0A29A-D941-40C6-9760-C8A299A0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00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空间表达集中不等于因果机制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72B50E-8769-4843-83D0-9A2462AA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76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3A4B"/>
          </a:solidFill>
          <a:ln xmlns:a="http://schemas.openxmlformats.org/drawingml/2006/main" w="0">
            <a:solidFill>
              <a:srgbClr val="B83A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3964B8-2C10-4661-8CA4-16AF1280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006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LLM 必须被 evidence pack 限制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F26132-C360-46F7-83A1-E7EF5E21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238750"/>
            <a:ext cx="7200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ECEF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F6DA11-6C57-472C-84E8-75549F3F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34000"/>
            <a:ext cx="689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B83A4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B83A4B"/>
                </a:solidFill>
                <a:latin typeface="PingFang SC"/>
                <a:ea typeface="PingFang SC"/>
                <a:cs typeface="PingFang SC"/>
              </a:rPr>
              <a:t>SpatialScope 的处理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232D0E-A386-4842-8930-4E61ADCC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19750"/>
            <a:ext cx="689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每条 finding 绑定 evidence IDs、quantitative support 与 caveats。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639CA3-404F-48E6-B371-F6F8B62C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CB2F48-22EA-4794-9B2A-2DAE1D60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Scientific interpretation principle: figures are evidence, not conclusions by themselves.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455034-60E0-4290-B092-2F392BA2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244409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E4BA97-4B50-4FB0-93B7-07EEA38E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FROM WORKFLOW TO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2B0A9-E4B6-4BB5-8475-BE0146A8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为什么把流程做成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5A261-EA4F-45A7-A3D2-B944DA75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0191B-C7CB-44C5-BAD2-B673E2A4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288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传统 notebook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C4F3B-1B7C-487E-97B3-EBC17801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3714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研究问题需要手动翻译成代码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字段和表达层容易误用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失败后需要人工排查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解释容易脱离证据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8BD42-E13E-4026-B2CC-8A800A8A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5735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6BE0B-1653-4AB6-B464-2ECD5B85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288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SpatialScope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49F16-A174-43B6-8BC6-A83A98DE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09800"/>
            <a:ext cx="3714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先检查数据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生成可审阅计划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用确定性工具执行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校验结果和表达层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基于 evidence pack 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74C0E-2870-4B2F-8A0B-53F65E52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57500"/>
            <a:ext cx="114300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8F8A8-0646-43F6-97C7-D929026A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48300"/>
            <a:ext cx="910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Agent 的价值不是替代分析方法，而是把分析方法组织成可审阅、可追踪、可复现的流程。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4701E-1DA7-495D-A5DB-BBD90270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4EDA6-369E-4FE3-A284-462F372E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Design goal of SpatialScope Agent.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5BB2A-687A-4874-90FD-BC79108D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770482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D6D2DA-73EB-4674-8466-933BBAEF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LANGGRAPH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7BDA6-4EC8-4EBE-ACAF-D5C65424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SpatialScope Agent 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0F7F4-FBF5-4A6B-A670-E5A49E68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4095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C7C3D-DD99-4CE5-8E70-22AC72B5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47800"/>
            <a:ext cx="379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76C9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276C9E"/>
                </a:solidFill>
                <a:latin typeface="PingFang SC"/>
                <a:ea typeface="PingFang SC"/>
                <a:cs typeface="PingFang SC"/>
              </a:rPr>
              <a:t>LLM sidecar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16B96-71FB-4833-B02F-96ABC9B0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33550"/>
            <a:ext cx="379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理解问题 · 补全计划 · 解释 evidence pack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8E488-856C-4AE1-ABAD-10C855D4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352550"/>
            <a:ext cx="4095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68E02-7168-44FB-AC73-1AFF588A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447800"/>
            <a:ext cx="379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State /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5256E-AFA1-4FB0-A0C6-3A27B5CD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33550"/>
            <a:ext cx="379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trace · metadata · parameters · evidence 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79F27-190D-4C74-914A-BD639A87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4191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76C9E"/>
          </a:solidFill>
          <a:ln xmlns:a="http://schemas.openxmlformats.org/drawingml/2006/main" w="0">
            <a:solidFill>
              <a:srgbClr val="276C9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20F36-4021-4428-ABE6-14129C78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52650"/>
            <a:ext cx="4191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B2065-719A-4DA7-883A-6BD443B9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LangGraph state machine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D49B7-E03D-4C90-B22E-BBC14776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10287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8FCFB"/>
          </a:solidFill>
          <a:ln xmlns:a="http://schemas.openxmlformats.org/drawingml/2006/main" w="9525">
            <a:solidFill>
              <a:srgbClr val="E4EF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FC176-BEE4-4A5F-941F-C36C2D97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9087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D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B859F6-E763-40D4-B2EC-F552498B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09562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4F742A-AFCC-4D8E-AF8C-01E24AE1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9562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FB71A-F0D1-44CF-A136-DD3338D3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09562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2F38F-9963-467D-A8DA-970EC14C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9562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0FD09-61E8-42A7-9840-34E832B2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09562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A04DC7-50B2-4292-B5AE-574FC94B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15144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D0477-EE00-412D-9D27-11B81E9D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52750"/>
            <a:ext cx="128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85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185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输入检查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51741-6F73-401D-9A5B-A1B9D652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19400"/>
            <a:ext cx="15144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D1D49B-76FB-4ABB-B501-848AFEAF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52750"/>
            <a:ext cx="128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85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185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任务解析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C31876-0DCA-4DCD-B626-9BE5167C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19400"/>
            <a:ext cx="15144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642646-89E5-4061-AA36-859262D6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128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85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185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方案审阅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017412-B797-4428-BBE5-100E5249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19400"/>
            <a:ext cx="15144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2C771C-03C4-47CA-8AB9-7779D1C3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52750"/>
            <a:ext cx="128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85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185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工具执行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9AE5FF-D0FF-4624-86B2-7AF18C3E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19400"/>
            <a:ext cx="15144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171A10-2705-47CA-908F-66C0F962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52750"/>
            <a:ext cx="128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85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185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校验修复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CC5DD3-7726-4FDE-A1FE-6B89BCB7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819400"/>
            <a:ext cx="15144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F4925B-05FC-4078-814A-EB9A6666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0"/>
            <a:ext cx="128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85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185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证据报告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DD7555-7114-4FA6-957B-9D982F79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95750"/>
            <a:ext cx="400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E1A711-FBE8-447B-AA48-4142EAF2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91000"/>
            <a:ext cx="3695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8A5A12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8A5A12"/>
                </a:solidFill>
                <a:latin typeface="PingFang SC"/>
                <a:ea typeface="PingFang SC"/>
                <a:cs typeface="PingFang SC"/>
              </a:rPr>
              <a:t>确定性工具层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BBD44A-AC60-41F3-BE18-72206510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7675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Scanpy / AnnData / figures / tables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C43DDC-42DC-462C-AA3A-BBEFB1FA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0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C377C1-EFC1-4E1F-B70C-52C393BA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91000"/>
            <a:ext cx="3695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解释边界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C13C64-E284-4436-A264-72410864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9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LLM 不直接读取完整表达矩阵；只解释 evidence pack。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4580A3-BE71-4FB7-A535-8D7FDA1F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95900"/>
            <a:ext cx="788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数值计算由工具层完成；解释必须回到可追踪证据。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80665F-83CF-4673-894C-916CA720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60FB77-C5E6-422A-9682-5F94A74B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SpatialScope architecture implemented with LangGraph state machine.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44BF49-C5AF-4CBD-AF5E-BA34E576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895556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0AECDF-465D-4B48-8862-2CFA2B8F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TOOL CONTRACTS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0992B-3DBC-4ECA-B0F6-8F46CBD1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Agent 如何映射常规流程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75A91-D53E-4735-A6D0-686F75F5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143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Standard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C9322-5591-45BE-8C46-681461BB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43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Agent tool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67CDC-A73F-41D5-ADFA-F47F735F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28750"/>
            <a:ext cx="3333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数据结构检查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4BF02-58BE-4FEF-A9AE-FC2C1922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3333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0B4F49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0B4F49"/>
                </a:solidFill>
                <a:latin typeface="PingFang SC"/>
                <a:ea typeface="PingFang SC"/>
                <a:cs typeface="PingFang SC"/>
              </a:rPr>
              <a:t>inspect_dataset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048250" y="160020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7E4E0"/>
            </a:solidFill>
            <a:prstDash val="solid"/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753B4-34ED-40AD-88B1-A25BFA0B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24050"/>
            <a:ext cx="3333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QC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F236C-4684-4DC5-B924-F4EE32A0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24050"/>
            <a:ext cx="3333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0B4F49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0B4F49"/>
                </a:solidFill>
                <a:latin typeface="PingFang SC"/>
                <a:ea typeface="PingFang SC"/>
                <a:cs typeface="PingFang SC"/>
              </a:rPr>
              <a:t>quality_control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48250" y="209550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7E4E0"/>
            </a:solidFill>
            <a:prstDash val="solid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E63A9-D17C-4E57-B342-047A129B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19350"/>
            <a:ext cx="3333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normalization / log1p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87A77-28A4-4EC6-8FCB-375A4747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19350"/>
            <a:ext cx="3333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0B4F49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0B4F49"/>
                </a:solidFill>
                <a:latin typeface="PingFang SC"/>
                <a:ea typeface="PingFang SC"/>
                <a:cs typeface="PingFang SC"/>
              </a:rPr>
              <a:t>preprocess</a:t>
            </a:r>
          </a:p>
        </p:txBody>
      </p:sp>
      <p:cxnSp>
        <p:nvCxnSpPr>
          <p:cNvPr id="4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259080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7E4E0"/>
            </a:solidFill>
            <a:prstDash val="soli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26C523-8C6D-41AD-943E-1E559B2E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14650"/>
            <a:ext cx="3333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PCA / UMAP / Leiden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49B3E-DAF7-41DA-B796-D1C35ADD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3333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0B4F49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0B4F49"/>
                </a:solidFill>
                <a:latin typeface="PingFang SC"/>
                <a:ea typeface="PingFang SC"/>
                <a:cs typeface="PingFang SC"/>
              </a:rPr>
              <a:t>cluster</a:t>
            </a:r>
          </a:p>
        </p:txBody>
      </p:sp>
      <p:cxnSp>
        <p:nvCxnSpPr>
          <p:cNvPr id="47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048250" y="308610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7E4E0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AEF32-9AC4-4DC6-97B1-8C2E90AA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09950"/>
            <a:ext cx="3333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空间结构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0C31D-511D-445B-943B-4BB607D1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9950"/>
            <a:ext cx="3333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0B4F49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0B4F49"/>
                </a:solidFill>
                <a:latin typeface="PingFang SC"/>
                <a:ea typeface="PingFang SC"/>
                <a:cs typeface="PingFang SC"/>
              </a:rPr>
              <a:t>spatial_plot</a:t>
            </a:r>
          </a:p>
        </p:txBody>
      </p: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048250" y="358140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7E4E0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BC84CF-1788-42C7-B2BF-2BDB543C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3333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基因空间表达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692B09-8874-4569-9C40-6EC96E72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3333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0B4F49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0B4F49"/>
                </a:solidFill>
                <a:latin typeface="PingFang SC"/>
                <a:ea typeface="PingFang SC"/>
                <a:cs typeface="PingFang SC"/>
              </a:rPr>
              <a:t>gene_panel</a:t>
            </a:r>
          </a:p>
        </p:txBody>
      </p:sp>
      <p:cxnSp>
        <p:nvCxnSpPr>
          <p:cNvPr id="5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048250" y="407670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7E4E0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9EA57B-33F8-46E0-A2FA-B67BB43C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00550"/>
            <a:ext cx="3333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marker gene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39FC23-85A8-405E-8BBE-1B1C4CE4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00550"/>
            <a:ext cx="3333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0B4F49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0B4F49"/>
                </a:solidFill>
                <a:latin typeface="PingFang SC"/>
                <a:ea typeface="PingFang SC"/>
                <a:cs typeface="PingFang SC"/>
              </a:rPr>
              <a:t>rank_markers</a:t>
            </a:r>
          </a:p>
        </p:txBody>
      </p:sp>
      <p:cxnSp>
        <p:nvCxnSpPr>
          <p:cNvPr id="56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048250" y="457200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7E4E0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1A31AD-C1AE-4A2B-A9A1-D36F84FE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95850"/>
            <a:ext cx="3333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证据报告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DA89F7-92F6-4863-9D19-6FBE74B5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95850"/>
            <a:ext cx="3333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0B4F49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0B4F49"/>
                </a:solidFill>
                <a:latin typeface="PingFang SC"/>
                <a:ea typeface="PingFang SC"/>
                <a:cs typeface="PingFang SC"/>
              </a:rPr>
              <a:t>interpret / report</a:t>
            </a:r>
          </a:p>
        </p:txBody>
      </p:sp>
      <p:cxnSp>
        <p:nvCxnSpPr>
          <p:cNvPr id="5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048250" y="506730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7E4E0"/>
            </a:solidFill>
            <a:prstDash val="solid"/>
            <a:tail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8103CB-2C5A-418C-B7C0-04B4C71D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DB9A04-E3B4-4E7F-845D-73C5083F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SpatialScope tool contracts map standard workflow steps into executable nodes.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FE1A80-39FF-4596-9CD2-20D4B72E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73349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D9C135-ACEA-4D78-B702-EAA41932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PRODUCT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96477-A53A-4D53-BE65-E132528D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从标准流程切到网站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6cd8507524f15"/>
          <a:srcRect xmlns:a="http://schemas.openxmlformats.org/drawingml/2006/main" l="0" t="17360" r="0" b="173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619250"/>
            <a:ext cx="4762500" cy="1943100"/>
          </a:xfrm>
          <a:prstGeom xmlns:a="http://schemas.openxmlformats.org/drawingml/2006/main" prst="roundRect">
            <a:avLst>
              <a:gd name="adj" fmla="val 5882"/>
            </a:avLst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20748cd2b4182"/>
          <a:srcRect xmlns:a="http://schemas.openxmlformats.org/drawingml/2006/main" l="0" t="17360" r="0" b="173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619250"/>
            <a:ext cx="4762500" cy="1943100"/>
          </a:xfrm>
          <a:prstGeom xmlns:a="http://schemas.openxmlformats.org/drawingml/2006/main" prst="roundRect">
            <a:avLst>
              <a:gd name="adj" fmla="val 588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C0EFC-77F6-4EA8-BA34-3BD4F283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67150"/>
            <a:ext cx="97536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CFB"/>
          </a:solidFill>
          <a:ln xmlns:a="http://schemas.openxmlformats.org/drawingml/2006/main" w="9525">
            <a:solidFill>
              <a:srgbClr val="E4EF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B9FDD-2779-4835-AE9A-A58646CB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95800"/>
            <a:ext cx="918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339C6-5EE0-418F-82B3-3FA721E5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4400550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E1B6D-3112-4BAE-B8D7-14E0A3D9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400550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801A8-789B-45E3-9AAE-86F36AB5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863" y="4400550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2EA85-3D78-425B-9F6A-7B0DD581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57650"/>
            <a:ext cx="2224088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3F1E0-693A-4820-9114-3C62A7D8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52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5FC07-94D2-4291-AAF7-1FF56F76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91000"/>
            <a:ext cx="178593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Project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理解数据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9EB6B-A4D7-4EEC-92DB-4104B7F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88" y="4057650"/>
            <a:ext cx="2224088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B36AF-5A43-4013-BD14-6F07124B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4152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07DD3-DD51-4850-8200-60B02FA2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138" y="4191000"/>
            <a:ext cx="178593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Run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执行计划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E9E80-B061-417C-AC87-9C781CB6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57650"/>
            <a:ext cx="2224088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660C1C-443F-4493-8D79-5B466105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152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E4C79-0D0E-4679-B81B-EF9A3CA3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191000"/>
            <a:ext cx="178593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Explore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联动图表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614FF6-0050-4E51-A13B-6D5E66D1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263" y="4057650"/>
            <a:ext cx="2224088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2A7B4-C520-4025-8672-2D0D239F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513" y="4152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D3B77-CF42-4DA2-8F40-691FD6FA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4191000"/>
            <a:ext cx="178593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Report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证据复核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11E309-F62F-42A9-A128-D44BE8B2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4667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BFBD4-4E3E-467C-8BAB-FFC22BDE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436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PPT 已经讲过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B31C0B-E57E-4101-814A-1A821C27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00700"/>
            <a:ext cx="436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9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数据结构、QC、降维聚类、空间图和解释边界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E612A6-A3FE-4493-8C00-82E2BEEC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19700"/>
            <a:ext cx="4667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A9CD59-C246-4900-8F53-155E1F2B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14950"/>
            <a:ext cx="436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8A5A12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8A5A12"/>
                </a:solidFill>
                <a:latin typeface="PingFang SC"/>
                <a:ea typeface="PingFang SC"/>
                <a:cs typeface="PingFang SC"/>
              </a:rPr>
              <a:t>接下来在网站验证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A943AA-6C5E-4AF6-9156-1806A241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600700"/>
            <a:ext cx="436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9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同一套流程是否能被 Agent 计划、执行、追踪和解释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192C3A-A869-43F5-A867-D6B0E725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0AEF4F-433E-4DC1-AAB4-D4BDEF24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Switch point: open https://spatialscope-seu.streamlit.app/ after this slide.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09A0B3-D5E7-4322-B669-190773D5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411620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FAB3AC-B5B5-4838-8663-8DB7A9AC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BA241-2C49-4A0B-A004-3B6C9BDB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现场演示路线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FFF58-FB9F-4566-945C-335F42AB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CFB"/>
          </a:solidFill>
          <a:ln xmlns:a="http://schemas.openxmlformats.org/drawingml/2006/main" w="9525">
            <a:solidFill>
              <a:srgbClr val="E4EF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54A36-7C57-4D9C-A8D8-50087F04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19275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DE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6B11C-D679-4189-B114-F77215EB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675" y="172402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E0497-5912-4C88-AC08-5D63D2D9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172402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3C549-85DA-42B0-90B4-5C3E9C67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72402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5CA51-C669-42CD-882F-EB257FF0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150" y="172402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481AE-9E0C-4453-9F27-C352E6C3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975" y="172402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B0756-AFD4-437D-B027-5070B22F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603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EA2A5-731A-4D89-99C2-722541CB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62100"/>
            <a:ext cx="1374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打开 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6485E-66FD-4346-B0E9-151CEB72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075" y="1428750"/>
            <a:ext cx="1603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21708-ABCC-41F4-8C8B-FA721DEA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375" y="1562100"/>
            <a:ext cx="1374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胚胎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D083C-9271-4E72-A43C-26E8681B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428750"/>
            <a:ext cx="1603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AFFDE-2224-46D6-9ED7-D7BA0F05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562100"/>
            <a:ext cx="1374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生成方案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70B82-1742-4B2E-9293-6C889917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428750"/>
            <a:ext cx="1603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9C819D-1072-4856-AEB9-C8431E04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562100"/>
            <a:ext cx="1374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批准运行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668B2-BBC6-4E6D-B7E4-0E29781E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1428750"/>
            <a:ext cx="1603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29EEFD-A096-4CAF-B6DD-1B686A37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562100"/>
            <a:ext cx="1374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Explore 提问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F0A1F1-CC89-4E6B-BEB9-696EEFEC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375" y="1428750"/>
            <a:ext cx="1603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77CDF0-52D7-47A9-9A05-DEACD4B5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75" y="1562100"/>
            <a:ext cx="1374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Report 复核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70616-060B-420D-BCFE-2DA2C1C0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7815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005E81-CF9A-4B93-BFAA-C095E60F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Project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2515CF-2264-4835-82E2-0675A170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先看 dataset card：spots、genes、spatial coordinates、expression layer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4D3ED4-49C4-4216-AEA1-831ED66F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86050"/>
            <a:ext cx="47815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B3197F-2296-460C-8571-A6D2AD0A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Run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BA68E8-4378-4A4A-898D-569D6289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670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生成并批准计划：QC -&gt; preprocess -&gt; UMAP/Leiden -&gt; plots -&gt; report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E20DA5-1762-4416-8D9B-09A6BC24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47815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335001-1E33-4DA7-A1F7-5D10F152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76C9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276C9E"/>
                </a:solidFill>
                <a:latin typeface="PingFang SC"/>
                <a:ea typeface="PingFang SC"/>
                <a:cs typeface="PingFang SC"/>
              </a:rPr>
              <a:t>Explore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4D3478-75DA-4E77-9CC2-2D75884B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Spatial 看组织位置；UMAP 看表达结构；Copilot 必须引用 evidence IDs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0D91A8-59EE-4F76-A966-C7826193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38600"/>
            <a:ext cx="47815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BDF698-1DE7-45B4-AD14-EF80D4ED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33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76C9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276C9E"/>
                </a:solidFill>
                <a:latin typeface="PingFang SC"/>
                <a:ea typeface="PingFang SC"/>
                <a:cs typeface="PingFang SC"/>
              </a:rPr>
              <a:t>Report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911A76-61BF-41E9-A442-A8CA3D18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196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读 3-5 条 findings：每条都要有 evidence 和 caveat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6517F8-A319-401E-8834-11CAA1F2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91150"/>
            <a:ext cx="948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网站演示只抓主线：数据是否被理解，流程是否可追踪，解释是否回到证据。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13335D-6814-4B53-8C24-8238C148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61DA6A-9BBF-4DB7-89A1-8035BA09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Live app: https://spatialscope-seu.streamlit.app/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64D428-FB69-487D-9AD8-0FB64DA3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613700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E35184-43D5-473A-A31A-E2C09665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REAL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32E23-43BD-4553-B54D-EE327ED2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真实数据验证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2A5EA-1448-403A-835D-F0909575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3619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3042B-ED6D-4EC2-AA72-26D81608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GSE278603 E7.5 mouse embryo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0413D-A1C2-4280-8FDD-C59757BC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323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GSM9046244 ... stereo_rep2.h5ad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8190 spots · 16364 genes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X_spatial -&gt; spatial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7 Leiden clusters · 0 warnings · 0 errors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56184acf14ace"/>
          <a:stretch xmlns:a="http://schemas.openxmlformats.org/drawingml/2006/main"/>
        </p:blipFill>
        <p:spPr>
          <a:xfrm xmlns:a="http://schemas.openxmlformats.org/drawingml/2006/main">
            <a:off x="4868130" y="1428750"/>
            <a:ext cx="2741490" cy="2190750"/>
          </a:xfrm>
          <a:prstGeom xmlns:a="http://schemas.openxmlformats.org/drawingml/2006/main" prst="roundRect">
            <a:avLst>
              <a:gd name="adj" fmla="val 5217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4ae5233734358"/>
          <a:stretch xmlns:a="http://schemas.openxmlformats.org/drawingml/2006/main"/>
        </p:blipFill>
        <p:spPr>
          <a:xfrm xmlns:a="http://schemas.openxmlformats.org/drawingml/2006/main">
            <a:off x="8096250" y="1612983"/>
            <a:ext cx="2952750" cy="1822284"/>
          </a:xfrm>
          <a:prstGeom xmlns:a="http://schemas.openxmlformats.org/drawingml/2006/main" prst="roundRect">
            <a:avLst>
              <a:gd name="adj" fmla="val 5217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f66ba016f43f6"/>
          <a:stretch xmlns:a="http://schemas.openxmlformats.org/drawingml/2006/main"/>
        </p:blipFill>
        <p:spPr>
          <a:xfrm xmlns:a="http://schemas.openxmlformats.org/drawingml/2006/main">
            <a:off x="6652289" y="4000500"/>
            <a:ext cx="2506922" cy="1657350"/>
          </a:xfrm>
          <a:prstGeom xmlns:a="http://schemas.openxmlformats.org/drawingml/2006/main" prst="roundRect">
            <a:avLst>
              <a:gd name="adj" fmla="val 689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25DBD-85C8-4BD9-B372-62D8D723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6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真实数据验证证明系统能处理真实 AnnData、真实坐标字段和更复杂的表达层状态。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0A96A-51D9-47B3-B9C8-68196E84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5F05C-1C1B-45A0-B99E-343E3370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Real data source: NCBI GEO GSE278603; quick run generated locally.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2A76B-490A-4484-9E99-647D10F9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426912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F2B147-011F-4FAC-A652-386381C3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RESEARCH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2995F-832F-4FB0-B650-8DF8300D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面向真实科研场景的应用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1C3F2-9C1C-411D-B3D7-7C2C4DBB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2476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12E20-734F-439F-A7CA-95DF6E9B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52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发育生物学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BE32E-E26C-4081-AA68-F1A675B4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比较胚胎阶段空间区域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查看 Sox17、T、Mesp1 等基因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609E9-11C8-4F41-A081-7B439C25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81150"/>
            <a:ext cx="2476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9C558-023F-4532-88CB-538D3940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52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肿瘤微环境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BD8D3-5685-4131-BA16-72241DDE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336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识别 tumor / immune / stromal regions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分析 marker 与邻域富集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F1267-EAFF-42B5-A4A7-DEF116EB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81150"/>
            <a:ext cx="2476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E6E57-B097-4BDC-B29E-8D520C1C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52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病理切片探索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5451F-235D-4338-8727-495BC183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336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整合组织结构、空间表达和 cluster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支持初步探索与复核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98822-BD65-4CEC-8935-FCC05CF4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81150"/>
            <a:ext cx="22860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683FD-0A45-415D-BB83-4A7D2708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52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教学与复现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5441AA-E318-43D7-8C7E-CB4470A4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3360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自然语言提出问题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自动生成计划、图表、报告和 trace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B5226-A807-4B34-8A73-6B5DBD2A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10000"/>
            <a:ext cx="7810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DEE84-32A5-48F9-9BB4-2D64CFA1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05250"/>
            <a:ext cx="7505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8A5A12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8A5A12"/>
                </a:solidFill>
                <a:latin typeface="PingFang SC"/>
                <a:ea typeface="PingFang SC"/>
                <a:cs typeface="PingFang SC"/>
              </a:rPr>
              <a:t>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36C473-53EE-4D37-9CE1-BEE99A37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91000"/>
            <a:ext cx="750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不能替代专家注释；不能把 marker ranking 当作机制证明；大型真实数据需要更强计算后端。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779C49-9765-4DB6-9B73-7A24E253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34000"/>
            <a:ext cx="941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9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定位：真实科研中的 exploratory analysis workspace，让研究者更快进入问题，同时保留证据和可复核性。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C3FE8A-E3F3-4298-8C85-238FE4CC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01E33-8B25-4D16-8822-9BCD0EC9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Application scenarios derived from common spatial transcriptomics research use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F924A6-AD04-4459-8BFC-3E3921A6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018862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07f4dced3415f"/>
          <a:stretch xmlns:a="http://schemas.openxmlformats.org/drawingml/2006/main"/>
        </p:blipFill>
        <p:spPr>
          <a:xfrm xmlns:a="http://schemas.openxmlformats.org/drawingml/2006/main">
            <a:off x="742950" y="5334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F63E5-594F-4AC8-BE92-9829FD8B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EE57B-199A-4E6B-ABEC-6B341DC4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95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576EC-2F1D-4235-B29E-A98327F6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理解数据结构和标准流程，是项目基础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6A03E-C440-4BDC-9C9F-83CEB78A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64742-BFEE-418E-AD1A-8B8FAFAB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8600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SpatialScope 用 LangGraph 组织计划、执行、校验、修复和报告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5BB86-796B-4D06-AA26-4A3FE11F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140FF-BE41-4899-B8B0-5D8A58B6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527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 i="0">
                <a:solidFill>
                  <a:srgbClr val="1721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LLM 只解释 evidence pack，不替代数值分析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AC955-ECAF-4565-AF0F-841EBFAB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43350"/>
            <a:ext cx="8096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18616-F0F6-4132-B6BA-38A0C63B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38600"/>
            <a:ext cx="779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交付与验证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2A7B7-AF7C-4DE4-82E2-E381FD85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324350"/>
            <a:ext cx="779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GitHub repo · Streamlit app · GitHub Pages · final PDF report · 99 passed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1FB98-85C4-4D62-87EA-2910233D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00650"/>
            <a:ext cx="605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github.com/seu-yolo/spatialscope-agent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spatialscope-seu.streamlit.app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117CA-909B-46AC-B85D-1EE2ED5A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19ACB-C79E-4CB1-9F71-DD44A178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04BAA-B45F-4BFD-9F9C-FA855BCC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 i="0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113226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2026-06-26T02:34:18.9740000Z</dcterms:created>
  <dcterms:modified xsi:type="dcterms:W3CDTF">2026-06-26T02:34:18.9740000Z</dcterms:modified>
</coreProperties>
</file>