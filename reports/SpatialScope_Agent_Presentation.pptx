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6d712fb99a47bc" /><Relationship Type="http://schemas.openxmlformats.org/officeDocument/2006/relationships/extended-properties" Target="/docProps/app.xml" Id="R5888f6370e9d4422" /><Relationship Type="http://schemas.openxmlformats.org/officeDocument/2006/relationships/officeDocument" Target="/ppt/presentation.xml" Id="R43df94c1859a4d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8b160c248449a7"/>
  </p:sldMasterIdLst>
  <p:notesMasterIdLst>
    <p:notesMasterId xmlns:r="http://schemas.openxmlformats.org/officeDocument/2006/relationships" r:id="R91e1882c52254d7e"/>
  </p:notesMasterIdLst>
  <p:sldIdLst>
    <p:sldId xmlns:r="http://schemas.openxmlformats.org/officeDocument/2006/relationships" id="256" r:id="R489d95054d574bd0"/>
    <p:sldId xmlns:r="http://schemas.openxmlformats.org/officeDocument/2006/relationships" id="257" r:id="Rdf0d8b116ff64bf3"/>
    <p:sldId xmlns:r="http://schemas.openxmlformats.org/officeDocument/2006/relationships" id="258" r:id="R1d6de68316b94079"/>
    <p:sldId xmlns:r="http://schemas.openxmlformats.org/officeDocument/2006/relationships" id="259" r:id="R7a123f8632aa4fad"/>
    <p:sldId xmlns:r="http://schemas.openxmlformats.org/officeDocument/2006/relationships" id="260" r:id="R2208ceb46a83476e"/>
    <p:sldId xmlns:r="http://schemas.openxmlformats.org/officeDocument/2006/relationships" id="261" r:id="R8c6dd98b90164a84"/>
    <p:sldId xmlns:r="http://schemas.openxmlformats.org/officeDocument/2006/relationships" id="262" r:id="Ra48e8e3ce83a4a28"/>
    <p:sldId xmlns:r="http://schemas.openxmlformats.org/officeDocument/2006/relationships" id="263" r:id="Rcc2c4634cc4d4357"/>
    <p:sldId xmlns:r="http://schemas.openxmlformats.org/officeDocument/2006/relationships" id="264" r:id="Rc9b732873db84083"/>
    <p:sldId xmlns:r="http://schemas.openxmlformats.org/officeDocument/2006/relationships" id="265" r:id="R1339f759b79c4557"/>
    <p:sldId xmlns:r="http://schemas.openxmlformats.org/officeDocument/2006/relationships" id="266" r:id="R1a3e874261b741a1"/>
    <p:sldId xmlns:r="http://schemas.openxmlformats.org/officeDocument/2006/relationships" id="267" r:id="R6300fdae7a6f44d2"/>
    <p:sldId xmlns:r="http://schemas.openxmlformats.org/officeDocument/2006/relationships" id="268" r:id="Re71cd50334b74eec"/>
    <p:sldId xmlns:r="http://schemas.openxmlformats.org/officeDocument/2006/relationships" id="269" r:id="Rdead1436430b4897"/>
    <p:sldId xmlns:r="http://schemas.openxmlformats.org/officeDocument/2006/relationships" id="270" r:id="R8b0e1cf1e80a49c3"/>
    <p:sldId xmlns:r="http://schemas.openxmlformats.org/officeDocument/2006/relationships" id="271" r:id="Rf5547c48eaf1465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18fcc1f7b074d60" /><Relationship Type="http://schemas.openxmlformats.org/officeDocument/2006/relationships/slideMaster" Target="/ppt/slideMasters/slideMaster1.xml" Id="R318b160c248449a7" /><Relationship Type="http://schemas.openxmlformats.org/officeDocument/2006/relationships/notesMaster" Target="/ppt/notesMasters/notesMaster1.xml" Id="R91e1882c52254d7e" /><Relationship Type="http://schemas.openxmlformats.org/officeDocument/2006/relationships/presProps" Target="/ppt/presProps.xml" Id="Rfa47507a4dd94a69" /><Relationship Type="http://schemas.openxmlformats.org/officeDocument/2006/relationships/tableStyles" Target="/ppt/tableStyles.xml" Id="R21a524e1c9df4538" /><Relationship Type="http://schemas.openxmlformats.org/officeDocument/2006/relationships/slide" Target="/ppt/slides/slide1.xml" Id="R489d95054d574bd0" /><Relationship Type="http://schemas.openxmlformats.org/officeDocument/2006/relationships/slide" Target="/ppt/slides/slide2.xml" Id="Rdf0d8b116ff64bf3" /><Relationship Type="http://schemas.openxmlformats.org/officeDocument/2006/relationships/slide" Target="/ppt/slides/slide3.xml" Id="R1d6de68316b94079" /><Relationship Type="http://schemas.openxmlformats.org/officeDocument/2006/relationships/slide" Target="/ppt/slides/slide4.xml" Id="R7a123f8632aa4fad" /><Relationship Type="http://schemas.openxmlformats.org/officeDocument/2006/relationships/slide" Target="/ppt/slides/slide5.xml" Id="R2208ceb46a83476e" /><Relationship Type="http://schemas.openxmlformats.org/officeDocument/2006/relationships/slide" Target="/ppt/slides/slide6.xml" Id="R8c6dd98b90164a84" /><Relationship Type="http://schemas.openxmlformats.org/officeDocument/2006/relationships/slide" Target="/ppt/slides/slide7.xml" Id="Ra48e8e3ce83a4a28" /><Relationship Type="http://schemas.openxmlformats.org/officeDocument/2006/relationships/slide" Target="/ppt/slides/slide8.xml" Id="Rcc2c4634cc4d4357" /><Relationship Type="http://schemas.openxmlformats.org/officeDocument/2006/relationships/slide" Target="/ppt/slides/slide9.xml" Id="Rc9b732873db84083" /><Relationship Type="http://schemas.openxmlformats.org/officeDocument/2006/relationships/slide" Target="/ppt/slides/slide10.xml" Id="R1339f759b79c4557" /><Relationship Type="http://schemas.openxmlformats.org/officeDocument/2006/relationships/slide" Target="/ppt/slides/slide11.xml" Id="R1a3e874261b741a1" /><Relationship Type="http://schemas.openxmlformats.org/officeDocument/2006/relationships/slide" Target="/ppt/slides/slide12.xml" Id="R6300fdae7a6f44d2" /><Relationship Type="http://schemas.openxmlformats.org/officeDocument/2006/relationships/slide" Target="/ppt/slides/slide13.xml" Id="Re71cd50334b74eec" /><Relationship Type="http://schemas.openxmlformats.org/officeDocument/2006/relationships/slide" Target="/ppt/slides/slide14.xml" Id="Rdead1436430b4897" /><Relationship Type="http://schemas.openxmlformats.org/officeDocument/2006/relationships/slide" Target="/ppt/slides/slide15.xml" Id="R8b0e1cf1e80a49c3" /><Relationship Type="http://schemas.openxmlformats.org/officeDocument/2006/relationships/slide" Target="/ppt/slides/slide16.xml" Id="Rf5547c48eaf146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99293ab044a4af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ececde9490b46f6" /><Relationship Type="http://schemas.openxmlformats.org/officeDocument/2006/relationships/notesMaster" Target="/ppt/notesMasters/notesMaster1.xml" Id="R0b1d681cf9e3480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a048ef430645fb" /><Relationship Type="http://schemas.openxmlformats.org/officeDocument/2006/relationships/notesMaster" Target="/ppt/notesMasters/notesMaster1.xml" Id="Rbbf7c0964da542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a5274784ee4a5d" /><Relationship Type="http://schemas.openxmlformats.org/officeDocument/2006/relationships/notesMaster" Target="/ppt/notesMasters/notesMaster1.xml" Id="R43f8762749e946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ed02eabbf5460b" /><Relationship Type="http://schemas.openxmlformats.org/officeDocument/2006/relationships/notesMaster" Target="/ppt/notesMasters/notesMaster1.xml" Id="Rcad65511ac88436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41bea9ac740407a" /><Relationship Type="http://schemas.openxmlformats.org/officeDocument/2006/relationships/notesMaster" Target="/ppt/notesMasters/notesMaster1.xml" Id="R9b2ad5c5f5854f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d1d495c7af4cd4" /><Relationship Type="http://schemas.openxmlformats.org/officeDocument/2006/relationships/notesMaster" Target="/ppt/notesMasters/notesMaster1.xml" Id="R263c2380be5645e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b9827d4333446b2" /><Relationship Type="http://schemas.openxmlformats.org/officeDocument/2006/relationships/notesMaster" Target="/ppt/notesMasters/notesMaster1.xml" Id="Rdfa58ccbc0cc469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1f7e0082ae449e7" /><Relationship Type="http://schemas.openxmlformats.org/officeDocument/2006/relationships/notesMaster" Target="/ppt/notesMasters/notesMaster1.xml" Id="R26c46d547e6c4be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1d2557a77384644" /><Relationship Type="http://schemas.openxmlformats.org/officeDocument/2006/relationships/notesMaster" Target="/ppt/notesMasters/notesMaster1.xml" Id="R17632efbd5304e4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8c286fb712e4639" /><Relationship Type="http://schemas.openxmlformats.org/officeDocument/2006/relationships/notesMaster" Target="/ppt/notesMasters/notesMaster1.xml" Id="Re489d9e72a4440d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d956f43b4cb4ec3" /><Relationship Type="http://schemas.openxmlformats.org/officeDocument/2006/relationships/notesMaster" Target="/ppt/notesMasters/notesMaster1.xml" Id="R9e0693809227439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80f1c891a4840a9" /><Relationship Type="http://schemas.openxmlformats.org/officeDocument/2006/relationships/notesMaster" Target="/ppt/notesMasters/notesMaster1.xml" Id="R4553558be20d4fb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060126f10ba42cd" /><Relationship Type="http://schemas.openxmlformats.org/officeDocument/2006/relationships/notesMaster" Target="/ppt/notesMasters/notesMaster1.xml" Id="R1897ddb8cfea411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229514170c14b6b" /><Relationship Type="http://schemas.openxmlformats.org/officeDocument/2006/relationships/notesMaster" Target="/ppt/notesMasters/notesMaster1.xml" Id="Ref2905ed6d674f5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ae1318f5db84af5" /><Relationship Type="http://schemas.openxmlformats.org/officeDocument/2006/relationships/notesMaster" Target="/ppt/notesMasters/notesMaster1.xml" Id="Rdf46461fda9f463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c4e8b3954314bf5" /><Relationship Type="http://schemas.openxmlformats.org/officeDocument/2006/relationships/notesMaster" Target="/ppt/notesMasters/notesMaster1.xml" Id="R194b3077ac9642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今天我会先讲空间转录组数据和常规分析流程，再介绍我如何把这个流程做成一个可交互、可追踪、可解释的 Agent。重点不是单个算法，而是把标准分析流程组织成一个可靠系统。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空间转录组的关键不是多一个坐标，而是让表达矩阵重新回到组织结构中。普通转录组回答表达了什么，单细胞回答有哪些状态，空间转录组进一步回答这些状态在哪里。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这里强调数据结构。X 是表达矩阵，obs 和 var 是 metadata，obsm spatial 存坐标，raw 和 layers 存不同表达层。这也是为什么 Agent 必须先检查数据。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不同平台的数据对象不完全一样。一个好的 Agent 不能只适配一种 toy data，要围绕表达矩阵加空间坐标这个共同结构设计，同时对平台差异保持谨慎。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这套流程继承了单细胞分析的一部分方法，同时加入空间坐标和组织结构信息。后面我的 Agent 就是把这些步骤拆成工具并组织成流程。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QC 不是形式步骤。后面所有聚类、marker、空间解释都依赖它。尤其是表达层判断，如果把 scaled matrix 当 counts 解释，就会产生伪结论。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UMAP 回答表达状态是否相似，Spatial 图回答这些状态在组织中在哪里。gene panel 再看目标基因是否具有空间区域性。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空间转录组的解释很容易讲过头。cluster 不是细胞类型，空间表达集中也不是因果机制。所以项目里每条解释都要有 evidence ID 和 caveat。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的价值不是替代 Scanpy 或 Squidpy，而是把分析流程组织起来。先检查数据，再生成计划，再执行工具，再根据证据解释。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 LLM 不是直接拿矩阵做计算，而是负责理解问题、补全计划、解释 evidence pack。数值计算交给工具层。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这页说明 Agent 不是空泛概念，而是把标准空间转录组流程拆成明确工具契约。每一步都有对应工具和可追踪输出。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四个页面对应用户真实分析顺序。Project 先理解数据，Run 看执行过程，Explore 看图和问 Copilot，Report 看 findings 和 caveats。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时不要只说按钮怎么点。每一步都回到标准流程：检查数据、生成计划、执行工具、看 Spatial 和 UMAP、用 evidence IDs 解释。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真实数据验证不是为了给出完整生物学结论，而是证明系统能处理真实 AnnData、真实坐标字段和真实表达层状态。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这一页很重要：把项目拓展到真实科研。它可以用于发育、肿瘤微环境、病理切片探索和教学复现，但不能替代专家注释，也不能把 marker 当作机制证明。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最后总结三点：空间转录组数据和流程是基础；SpatialScope 把流程转成 LangGraph Agent；LLM 用于 evidence-grounded interpretation，不替代数值分析。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049d30851b4c0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8598baf9c384ad3" /><Relationship Type="http://schemas.openxmlformats.org/officeDocument/2006/relationships/slideLayout" Target="/ppt/slideLayouts/slideLayout1.xml" Id="R9172c1e843e647b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72c1e843e647b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9bb7fc882345c4" /><Relationship Type="http://schemas.openxmlformats.org/officeDocument/2006/relationships/image" Target="/ppt/media/image.png" Id="Rfca10eb06e0e4f11" /><Relationship Type="http://schemas.openxmlformats.org/officeDocument/2006/relationships/image" Target="/ppt/media/image2.png" Id="Rc20bd8fe87cd41c3" /><Relationship Type="http://schemas.openxmlformats.org/officeDocument/2006/relationships/notesSlide" Target="/ppt/notesSlides/notesSlide1.xml" Id="R03c1d3af1dc34f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ffa160d42a48f2" /><Relationship Type="http://schemas.openxmlformats.org/officeDocument/2006/relationships/notesSlide" Target="/ppt/notesSlides/notesSlide2.xml" Id="R8c6577872cf241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210c5f36a74a3e" /><Relationship Type="http://schemas.openxmlformats.org/officeDocument/2006/relationships/notesSlide" Target="/ppt/notesSlides/notesSlide3.xml" Id="R8b9c305e16fc4a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c1cc66f5734402" /><Relationship Type="http://schemas.openxmlformats.org/officeDocument/2006/relationships/notesSlide" Target="/ppt/notesSlides/notesSlide4.xml" Id="R3ccb22161f2b47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ff9de4c1bf40ce" /><Relationship Type="http://schemas.openxmlformats.org/officeDocument/2006/relationships/notesSlide" Target="/ppt/notesSlides/notesSlide5.xml" Id="R7dea6d4218b142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1435f33c9e4d77" /><Relationship Type="http://schemas.openxmlformats.org/officeDocument/2006/relationships/image" Target="/ppt/media/image3.png" Id="R6546c8fb53004b45" /><Relationship Type="http://schemas.openxmlformats.org/officeDocument/2006/relationships/notesSlide" Target="/ppt/notesSlides/notesSlide6.xml" Id="R31056841db9d45a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e9fe797c3044d0" /><Relationship Type="http://schemas.openxmlformats.org/officeDocument/2006/relationships/image" Target="/ppt/media/image4.png" Id="R7d212a86f9dc4a63" /><Relationship Type="http://schemas.openxmlformats.org/officeDocument/2006/relationships/image" Target="/ppt/media/image5.png" Id="R17adcf821d7540f4" /><Relationship Type="http://schemas.openxmlformats.org/officeDocument/2006/relationships/image" Target="/ppt/media/image6.png" Id="Rb656924ebb6846f3" /><Relationship Type="http://schemas.openxmlformats.org/officeDocument/2006/relationships/notesSlide" Target="/ppt/notesSlides/notesSlide7.xml" Id="Rffb82b3b996f4a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5bf1db0de847a1" /><Relationship Type="http://schemas.openxmlformats.org/officeDocument/2006/relationships/notesSlide" Target="/ppt/notesSlides/notesSlide8.xml" Id="Rc24030a44c57434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1c129167694aba" /><Relationship Type="http://schemas.openxmlformats.org/officeDocument/2006/relationships/notesSlide" Target="/ppt/notesSlides/notesSlide9.xml" Id="Rc8ac7d78883d425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7493da80cb436d" /><Relationship Type="http://schemas.openxmlformats.org/officeDocument/2006/relationships/notesSlide" Target="/ppt/notesSlides/notesSlide10.xml" Id="R4eb85d372ec8460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12135a1d0744b6" /><Relationship Type="http://schemas.openxmlformats.org/officeDocument/2006/relationships/notesSlide" Target="/ppt/notesSlides/notesSlide11.xml" Id="Rcac064a72aa84cb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5ef6a406f84423" /><Relationship Type="http://schemas.openxmlformats.org/officeDocument/2006/relationships/image" Target="/ppt/media/image7.png" Id="Rc49cf03e6c7e45ea" /><Relationship Type="http://schemas.openxmlformats.org/officeDocument/2006/relationships/image" Target="/ppt/media/image8.png" Id="R3094a15ad5ad4753" /><Relationship Type="http://schemas.openxmlformats.org/officeDocument/2006/relationships/image" Target="/ppt/media/image9.png" Id="R3d1e69e9fe954151" /><Relationship Type="http://schemas.openxmlformats.org/officeDocument/2006/relationships/image" Target="/ppt/media/image10.png" Id="R6cc7d4349ab44db8" /><Relationship Type="http://schemas.openxmlformats.org/officeDocument/2006/relationships/notesSlide" Target="/ppt/notesSlides/notesSlide12.xml" Id="R770d38cf4c7c46a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f15d8f8feb49f8" /><Relationship Type="http://schemas.openxmlformats.org/officeDocument/2006/relationships/notesSlide" Target="/ppt/notesSlides/notesSlide13.xml" Id="R7c80a23e3c7743d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84cc92b982486a" /><Relationship Type="http://schemas.openxmlformats.org/officeDocument/2006/relationships/image" Target="/ppt/media/image11.png" Id="Rce0d1b6b8f1246f8" /><Relationship Type="http://schemas.openxmlformats.org/officeDocument/2006/relationships/image" Target="/ppt/media/image12.png" Id="Rd6b3e4a2828f4b88" /><Relationship Type="http://schemas.openxmlformats.org/officeDocument/2006/relationships/image" Target="/ppt/media/image13.png" Id="Rdf5c3ca28af14356" /><Relationship Type="http://schemas.openxmlformats.org/officeDocument/2006/relationships/notesSlide" Target="/ppt/notesSlides/notesSlide14.xml" Id="R2f2f179674914f2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bb785df5e64e7d" /><Relationship Type="http://schemas.openxmlformats.org/officeDocument/2006/relationships/notesSlide" Target="/ppt/notesSlides/notesSlide15.xml" Id="R9b89a3b9fd90443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c10a7f34614224" /><Relationship Type="http://schemas.openxmlformats.org/officeDocument/2006/relationships/image" Target="/ppt/media/image14.png" Id="Rccfe8ab049914e01" /><Relationship Type="http://schemas.openxmlformats.org/officeDocument/2006/relationships/notesSlide" Target="/ppt/notesSlides/notesSlide16.xml" Id="Rb3c34ba99e0849b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16DDC2-445A-4471-A4B9-1E4543E5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98795A-030A-4E7A-96B4-D6818599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-114300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E2CC"/>
          </a:solidFill>
          <a:ln xmlns:a="http://schemas.openxmlformats.org/drawingml/2006/main" w="0">
            <a:solidFill>
              <a:srgbClr val="EFE2CC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a10eb06e0e4f11"/>
          <a:stretch xmlns:a="http://schemas.openxmlformats.org/drawingml/2006/main"/>
        </p:blipFill>
        <p:spPr>
          <a:xfrm xmlns:a="http://schemas.openxmlformats.org/drawingml/2006/main">
            <a:off x="10525125" y="495300"/>
            <a:ext cx="781050" cy="781050"/>
          </a:xfrm>
          <a:prstGeom xmlns:a="http://schemas.openxmlformats.org/drawingml/2006/main" prst="roundRect">
            <a:avLst>
              <a:gd name="adj" fmla="val 9756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46113-2035-4618-8E43-9DABFEEB5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 i="0">
                <a:solidFill>
                  <a:srgbClr val="FFFFFF"/>
                </a:solidFill>
              </a:defRPr>
            </a:pPr>
            <a:r>
              <a:rPr sz="3900" b="1" i="0">
                <a:solidFill>
                  <a:srgbClr val="FFFFFF"/>
                </a:solidFill>
              </a:rPr>
              <a:t>SpatialScope Agent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77CC65-1170-4464-BA9A-9D811BFD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FFFFFF"/>
                </a:solidFill>
              </a:defRPr>
            </a:pPr>
            <a:r>
              <a:rPr sz="1800" b="0" i="0">
                <a:solidFill>
                  <a:srgbClr val="FFFFFF"/>
                </a:solidFill>
              </a:rPr>
              <a:t>基于 LangGraph 的空间转录组分析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A196F0-6897-4A4B-A69F-A962EDB4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D8F2ED"/>
                </a:solidFill>
              </a:defRPr>
            </a:pPr>
            <a:r>
              <a:rPr sz="1275" b="0" i="0">
                <a:solidFill>
                  <a:srgbClr val="D8F2ED"/>
                </a:solidFill>
              </a:rPr>
              <a:t>顾兴均  ·  11323112  ·  计算生物学期末大作业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0bd8fe87cd41c3"/>
          <a:srcRect xmlns:a="http://schemas.openxmlformats.org/drawingml/2006/main" l="0" t="10358" r="0" b="103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3950" y="2876550"/>
            <a:ext cx="6381750" cy="3162300"/>
          </a:xfrm>
          <a:prstGeom xmlns:a="http://schemas.openxmlformats.org/drawingml/2006/main" prst="roundRect">
            <a:avLst>
              <a:gd name="adj" fmla="val 3614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2BEE60-549D-44F6-8766-070CE2F1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00375"/>
            <a:ext cx="3143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114F44-6061-4392-BC50-B39B5964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7182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汇报逻辑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94C71C-B4F7-4322-B859-FE7498B08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24250"/>
            <a:ext cx="2762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63" b="0" i="0">
                <a:solidFill>
                  <a:srgbClr val="475569"/>
                </a:solidFill>
              </a:defRPr>
            </a:pPr>
            <a:r>
              <a:rPr sz="1163" b="0" i="0">
                <a:solidFill>
                  <a:srgbClr val="475569"/>
                </a:solidFill>
              </a:rPr>
              <a:t>先讲空间转录组数据结构与常规流程，再说明如何把这个流程做成可审阅、可追踪、证据约束的科研 Agent。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17E8C2-EDD1-441C-8727-6D1ABEF8A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815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0F766E"/>
                </a:solidFill>
              </a:defRPr>
            </a:pPr>
            <a:r>
              <a:rPr sz="863" b="1">
                <a:solidFill>
                  <a:srgbClr val="0F766E"/>
                </a:solidFill>
              </a:rPr>
              <a:t>GitHub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3595CB-03ED-4FCE-A390-2451AF2D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781550"/>
            <a:ext cx="10668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0F766E"/>
                </a:solidFill>
              </a:defRPr>
            </a:pPr>
            <a:r>
              <a:rPr sz="863" b="1">
                <a:solidFill>
                  <a:srgbClr val="0F766E"/>
                </a:solidFill>
              </a:rPr>
              <a:t>Streamlit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05264-A579-434C-8272-51FCB0A62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781550"/>
            <a:ext cx="1257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0F766E"/>
                </a:solidFill>
              </a:defRPr>
            </a:pPr>
            <a:r>
              <a:rPr sz="863" b="1">
                <a:solidFill>
                  <a:srgbClr val="0F766E"/>
                </a:solidFill>
              </a:rPr>
              <a:t>GitHub Pages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374760-1830-443D-B19D-7C24B0B0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00650"/>
            <a:ext cx="342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 i="0">
                <a:solidFill>
                  <a:srgbClr val="475569"/>
                </a:solidFill>
              </a:defRPr>
            </a:pPr>
            <a:r>
              <a:rPr sz="1088" b="0" i="0">
                <a:solidFill>
                  <a:srgbClr val="475569"/>
                </a:solidFill>
              </a:rPr>
              <a:t>github.com/seu-yolo/spatialscope-agent</a:t>
            </a:r>
          </a:p>
          <a:p xmlns:a="http://schemas.openxmlformats.org/drawingml/2006/main">
            <a:pPr algn="l">
              <a:defRPr sz="1088" b="0" i="0">
                <a:solidFill>
                  <a:srgbClr val="475569"/>
                </a:solidFill>
              </a:defRPr>
            </a:pPr>
            <a:r>
              <a:rPr sz="1088" b="0" i="0">
                <a:solidFill>
                  <a:srgbClr val="475569"/>
                </a:solidFill>
              </a:rPr>
              <a:t>spatialscope-seu.streamlit.app</a:t>
            </a:r>
          </a:p>
          <a:p xmlns:a="http://schemas.openxmlformats.org/drawingml/2006/main">
            <a:pPr algn="l">
              <a:defRPr sz="1088" b="0" i="0">
                <a:solidFill>
                  <a:srgbClr val="475569"/>
                </a:solidFill>
              </a:defRPr>
            </a:pPr>
            <a:r>
              <a:rPr sz="1088" b="0" i="0">
                <a:solidFill>
                  <a:srgbClr val="475569"/>
                </a:solidFill>
              </a:rPr>
              <a:t>seu-yolo.github.io/spatialscope-agent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FEC236-8E88-486E-BE72-77541B6CE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6C8FCA-4330-4A9D-8241-9144FB7E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C1D42A-1719-45FA-993C-981C3846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646991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402503-F488-4A56-8853-ABE0068CC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BACKGROUND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FF53B1-F370-429D-B3D0-D361DAD8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212B"/>
                </a:solidFill>
              </a:defRPr>
            </a:pPr>
            <a:r>
              <a:rPr sz="2550" b="1" i="0">
                <a:solidFill>
                  <a:srgbClr val="17212B"/>
                </a:solidFill>
              </a:rPr>
              <a:t>空间转录组解决什么问题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042B17-26D5-4DC7-A8FB-9B53FF8AE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475569"/>
                </a:solidFill>
              </a:defRPr>
            </a:pPr>
            <a:r>
              <a:rPr sz="1650" b="0" i="0">
                <a:solidFill>
                  <a:srgbClr val="475569"/>
                </a:solidFill>
              </a:rPr>
              <a:t>从“表达了什么”到“在组织中哪里表达”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A4F967-5F60-4694-AACD-66EAC553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821DDC-2EEC-4996-B0C2-4DD3C309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717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普通转录组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E51FFC-DDDB-46E2-900B-9364A36D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24125"/>
            <a:ext cx="2286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63" b="0" i="0">
                <a:solidFill>
                  <a:srgbClr val="475569"/>
                </a:solidFill>
              </a:defRPr>
            </a:pPr>
            <a:r>
              <a:rPr sz="1163" b="0" i="0">
                <a:solidFill>
                  <a:srgbClr val="475569"/>
                </a:solidFill>
              </a:rPr>
              <a:t>哪些基因表达了？</a:t>
            </a:r>
          </a:p>
          <a:p xmlns:a="http://schemas.openxmlformats.org/drawingml/2006/main">
            <a:pPr algn="l">
              <a:defRPr sz="1163" b="0" i="0">
                <a:solidFill>
                  <a:srgbClr val="475569"/>
                </a:solidFill>
              </a:defRPr>
            </a:pPr>
            <a:r>
              <a:rPr sz="1163" b="0" i="0">
                <a:solidFill>
                  <a:srgbClr val="475569"/>
                </a:solidFill>
              </a:rPr>
              <a:t>表达量如何变化？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10EDC8-94C4-4614-9CDE-77F669CB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A7FFE4-860D-459F-9469-E44C21008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717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单细胞转录组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FC4D99-C6B4-4B0E-86FF-7071470A0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24125"/>
            <a:ext cx="2286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63" b="0" i="0">
                <a:solidFill>
                  <a:srgbClr val="475569"/>
                </a:solidFill>
              </a:defRPr>
            </a:pPr>
            <a:r>
              <a:rPr sz="1163" b="0" i="0">
                <a:solidFill>
                  <a:srgbClr val="475569"/>
                </a:solidFill>
              </a:rPr>
              <a:t>有哪些细胞类型或状态？</a:t>
            </a:r>
          </a:p>
          <a:p xmlns:a="http://schemas.openxmlformats.org/drawingml/2006/main">
            <a:pPr algn="l">
              <a:defRPr sz="1163" b="0" i="0">
                <a:solidFill>
                  <a:srgbClr val="475569"/>
                </a:solidFill>
              </a:defRPr>
            </a:pPr>
            <a:r>
              <a:rPr sz="1163" b="0" i="0">
                <a:solidFill>
                  <a:srgbClr val="475569"/>
                </a:solidFill>
              </a:rPr>
              <a:t>细胞之间如何分群？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112DE7-1E50-40FE-BE3E-8E84258B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2DEF71-76CA-4C74-B4CC-7FFA6D42A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717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空间转录组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8A473F-4F99-4644-9A26-E899F02A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24125"/>
            <a:ext cx="2286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63" b="0" i="0">
                <a:solidFill>
                  <a:srgbClr val="475569"/>
                </a:solidFill>
              </a:defRPr>
            </a:pPr>
            <a:r>
              <a:rPr sz="1163" b="0" i="0">
                <a:solidFill>
                  <a:srgbClr val="475569"/>
                </a:solidFill>
              </a:rPr>
              <a:t>这些表达和状态在组织中位于哪里？</a:t>
            </a:r>
          </a:p>
          <a:p xmlns:a="http://schemas.openxmlformats.org/drawingml/2006/main">
            <a:pPr algn="l">
              <a:defRPr sz="1163" b="0" i="0">
                <a:solidFill>
                  <a:srgbClr val="475569"/>
                </a:solidFill>
              </a:defRPr>
            </a:pPr>
            <a:r>
              <a:rPr sz="1163" b="0" i="0">
                <a:solidFill>
                  <a:srgbClr val="475569"/>
                </a:solidFill>
              </a:rPr>
              <a:t>是否形成空间区域和邻域？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71069E-F619-4008-BA84-01E5766C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81250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F99AAA-2CA0-4EB5-B44D-ACD7FF229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81250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3E5887-EEE9-474F-AB36-49EFE90DB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4FE725-E43D-4E7B-8133-8E6B8DD5C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3058D8-E879-4D37-AA58-7AAEC8A6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7AAA71-2011-4ADE-8012-AC273E67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872005-1BCE-441F-AA3E-5EB194E5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47FEC7-6893-45F4-8FD7-C2A01867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3C112E-9347-4CFD-AE6F-38F503934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675C46-EFE5-4731-AB64-5E3A8C4B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BCF6C3-6D14-447D-8824-10967AB0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6EF32B-FCBA-4C3F-BEA1-AA07460B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C530A9-5FDB-4D20-B6A8-CAF36FA5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F89CD6-3C7C-4E41-9456-5F5F6739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5ABB41-0A77-4FD8-9C2A-20544CC5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51FF27-A315-4321-B15D-0A47952DC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960FEE-FCBC-41A9-B711-C62CCE5D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42B80A-C587-44B2-9B30-DA0E55227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A6C5B00-4C3C-4B94-BE18-80DB5909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405A824-90E8-4968-A0A1-A679A06D3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DAD2ED-9686-4CBB-942C-ABB729CE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D55F8F-21DC-46AA-BBE9-8FD5A0D89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59BA1C-3BC7-495B-A75B-BF01B07E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99587D-A9AD-4AB3-A97E-573C5C75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BC9F2FA-042C-423C-B08A-2CEA499B2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6D93F0C-DDB9-49C5-B36D-7A0834429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600F028-3DE6-4FB1-82E8-F4C2C140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241091C-1B1A-4FD5-A698-60CDC244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A43F1CC-9298-453F-9509-3B1C825E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E574711-448A-410E-B959-ADAE9638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D504814-11C4-4ED3-A3B4-CBFA08C1C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26F5FFC-7B20-402D-B16C-6F9708F8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BDD2FAB-99CF-46E3-B81E-BBD373C2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2107584-3C90-46EE-9CC5-625DDDFA5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129A2F1-877A-411D-9DF3-11E19C3E0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F2E065F-AD35-4947-AAD7-FA900E97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AEFC53-6C16-402E-B68A-CB717886C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11EECF9-CED9-4D39-897B-3DE5DC17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A856251-E7F7-4E8E-BB8D-2C2CAC4C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5B7FBB2-23FA-4874-A4EA-76BF75DA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84DF791-76BE-4D68-8C85-5314E22EB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5D76173-6252-44D6-84AA-855931C7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012909B-1634-4300-B815-3F9F1636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F1AB967-A61D-4F6D-A16F-F9D613FAE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5336ECD-4068-47AD-839F-4BA7ACAD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857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0399B47-4877-4F52-AF6A-27CB31F8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57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9ECDFB6-D040-4FEB-84AD-AB59205D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752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D4146CF-51DC-42A2-AB11-829829E46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6345884-CDF6-4C0C-98A0-C290A1AB3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543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343BA40-8160-463E-98F4-AA685F88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38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BE155DA-6040-4920-A076-8E5C2DDDD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4333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82643AB-16C1-49DE-8A52-12EB2D97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4040D3A-C487-4026-9B4E-4B4455CA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AC39010-8861-412C-BA0A-36C8132A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929287B-2A24-46C2-A46F-457D79DB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05A17AA-9B33-495A-A258-07C07EE2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8631CF0-3539-4137-B204-C780123B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ABEDE80-B61C-4AF4-99D0-E5B4C95DF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26BFE30-C3D9-4BB1-8CE4-600BF07A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BEC149B-218F-4623-92D6-9BBFE9BDB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3A62C8D-87AF-49ED-B7DC-4414A0AB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5A032A1-92F0-4949-BD21-BB9077C5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2460F1A-8F7C-47F1-B9C1-3EE982B3E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458508C-33E3-4576-AE7C-DDC14EE8E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5A8EB0F-D789-47E2-9086-4B600C0B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E87A869-2B6D-4D7B-9B49-CB53CBD5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3E3AD29-1BD2-4EC4-A5CD-397B60B2A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0AFFD1B-F8AF-4420-BD70-E16EBD12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7AB30DC-5C52-45FF-B804-011DA6FB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A33970E-73F8-421E-997E-2F10AF94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0A61369-2704-451C-8EEE-4F764A66B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093C407-DAA5-4089-AFD4-75180250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205FCCD-2570-4419-B248-56586567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7AD998E5-7356-43EC-A878-02AEF47F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2ABC9CC-ECF8-417C-9D42-2CB1E9E77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99DD3F2-25E8-46FC-B856-819E182E1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737F966-399E-4597-8C30-C192694ED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793BBCD-0A11-4F18-A47C-0117F105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96299F4-464F-402D-977B-6DDC150A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B664C56-C8ED-4641-8359-1B224E10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A535B42-5142-48A7-AC24-CDD7F3C83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FA5A0B0-4EA9-41D5-9495-ECF37DD3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D0F2ADE-E0D7-4F24-9AAA-7E2857F2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019FF6B-FC38-4CF3-BB46-1341BF14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5B0C6F1-52E5-4AC0-85BD-A979CE4D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E25001A-FCCC-495C-A32B-A87C7357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AECFA14-3459-40CC-862A-B8A61A05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61C21ED-58C8-4EC6-876C-A066095ED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9EEDFFBC-B3D4-4A6D-8D76-711B1C80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EF1CCC4-E8DC-4BA7-997B-90FD2062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10B5F04-CAEA-4761-B244-704CFE30C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4CDFC224-6C4F-4069-901B-663F13F62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C771AB5-5E12-487F-B1B6-6DE6D9D61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461E043-5DA3-40A3-91A9-58ECA6A8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2506F496-C28F-446C-990E-63BD8276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A67BE700-BEB1-4312-90A4-E9928F39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C2BC4F8-F243-435A-8F74-95E56AC7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8F802BDA-89BD-417A-9BEE-B1A15DAF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F7923A98-BA66-477F-81CD-E39A0DF8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1D46F40E-77D2-4E10-B7DF-27EC79F7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223CF1D5-E504-401B-A40D-30BD038C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508B8D4-AF4B-469C-9801-AAF7F4D93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62E37374-A0CF-427E-911E-2CB3B5012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04350CB8-343F-4264-871D-995D172F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B434E988-9164-4E8A-AD28-A2B43C11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2542F03F-9834-4617-B294-C4088BA85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BD444289-BE77-4909-8FC6-B7674F3C1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C5355089-E097-431A-AEAC-A0943AE9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D8F951B-DE0D-4ADE-91D2-66CD0BE1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A3AB2A12-6E2C-4F23-B91C-704C5028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D9ED38C5-303C-4500-9982-0974971D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227FEB31-85FE-4019-AB80-7F2476BF4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02B81A91-738D-4F91-8D78-85D645DE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840FBEDA-1AA9-4621-98A1-ECE77F04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91AED8D7-3665-458A-9AA8-0F91CBE21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4C3CEA86-54BC-4679-8E92-C441E4EF0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166EB2A8-6AF4-43EC-AEA5-FAA64F3E4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8C31AB26-C1BF-4434-BEF2-89B63D9D2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F146999E-7EB9-4753-9F9F-0A87DA23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93207CFB-8461-48D6-BF8B-C6804D17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3129474D-9690-41F9-ADCB-FCC567C3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29020E75-2355-4A47-A2BA-70C464A64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E26391CD-5522-4C17-BED4-64932896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2DDCCA76-AE3D-4553-9350-FEFBA8FC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F3D7D883-8340-4D22-A676-A5F42A3ED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3D6C7481-A376-4D4F-B854-C82CC353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64975114-BB83-4BB2-9700-8F1063D1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D5870A32-3B84-4C11-B06E-0F26FCA15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385C3704-BB7D-45AF-B3B5-7A06F1CEB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00780B98-DFFE-4115-B24F-A37A29E1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CCDC2BE9-0880-4163-AC42-CC1FCD0E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31A5963E-8BD6-4762-898F-BCE16763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7DDE45AF-DDF4-403C-AFF9-C331094B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A961163C-8F4B-4FFF-89E7-A88C7028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52311F78-1C00-4235-B148-6E1F1D7AE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770DD4E8-480E-4EE6-9B00-DEC26A92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857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65A56870-AC64-4267-A3D9-3A9CE29D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57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BD83F028-0250-4C89-B0D5-C1AE61AC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752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0350F398-F8BD-4A56-BAA9-2E7B7F58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9EC8961C-AA35-4241-908B-38DFBACF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543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0E2A60A1-453A-46DA-958A-17D1442B1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838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89A24AA4-7899-4AC8-9882-9A710F07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333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6392D4EE-E1BA-4774-8B21-17F30D69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899DBCF2-15D0-458F-963D-1AEAA8F3B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CB0CD3F1-34FE-4BE3-9D22-D04F5D775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9A6A2547-C77D-4B0F-B00C-C6CE5B7F7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E9D6583C-AB95-48DE-92E7-7BCE3C63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143AFBDE-1545-4C15-8CC7-C35A148B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5C7BE774-AE18-4D62-A975-91EC2A35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E58FFB5C-A870-4B08-AFB3-3B146690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B65BFBB4-7D81-4380-AC53-D622D669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7EEA1E12-C772-496E-884A-F4AE9A984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E85C9CD1-B152-49A7-8D6F-0C8C6403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30172309-FAD8-45D2-9486-D7095E576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6856E64E-38D6-4336-8C64-ED2B12924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E3BC47C0-E1DF-45E9-AEAA-7683D2C5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87BEFCAE-4168-4EEC-BB96-255D623F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E867790E-AC58-4B85-AAB8-FD08ACEA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00480343-2CDE-4639-8D60-0CD920C14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6C15C889-C6BF-4D58-B4E5-9AAB0253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0A978E9B-CC7D-4119-9F45-431D04CCA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F978C171-8BCA-4DC0-96CB-08F3D786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D5D760A7-46F5-4534-9F14-6EB2DAA1E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CB7E9116-AC34-4D23-A469-FAA0395F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E763ED2A-E39C-427C-BB9C-3434B235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C1F2C453-1B14-4F13-AE06-40E7AD6D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EC78B0B1-45CB-4DB2-B37F-1704CEA1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8AB2915C-DF46-42DA-90A5-2E7D14A93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A75ACE51-6768-43E6-AFE6-D691BC421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B7ECBA88-0BDA-4FA7-B95B-833719C2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0A9087DE-9226-4209-918F-9D5DB4B7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226064B6-4A31-4DC4-A48D-AEDDF3117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15CA829E-424E-4A55-8338-494ADC31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B5269117-16D7-4020-ACEF-08966775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B382BE71-B90A-4C51-8F22-468A89E0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56552FE2-43D8-49EA-91AF-5722C88D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1DC1C637-39C5-448A-8570-B8468FB0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CC6883AC-264C-450D-B54C-8B9761DC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E7C37BA1-A403-4065-A0E5-BC98A954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A5584D04-73FA-4381-97BB-21A88698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368F6E65-8AFC-49E5-A4D1-373FE663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192A4359-A6B8-4854-A8F1-79948C1F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59A5A124-5F65-4060-8058-16898675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14D94661-9F1D-4B26-874B-D6C634EA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489D8A08-F57B-4783-8B2A-99D43535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5955F203-BE2C-4A45-867F-F6B6CDAB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610D6B8D-4724-44A1-A208-160E7723F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5243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64968823-687E-4B70-8922-7219B508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8196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AC830D90-261D-452E-BD41-B084EE07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4314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546602A0-D136-4F99-9511-56756989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6579F666-C509-4AFA-A937-AFA91137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9053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4B03046F-78EA-4D98-87A9-F9E55AD7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4005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34DB5F8D-B546-4629-BE4D-098484EB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800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8DC59D83-3D71-4890-8811-2D9A54561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0FAB457F-AD87-45BC-822F-79A9926F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591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D3ABAA92-634B-4488-9CEB-78C576D8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8863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A7288C20-6F74-4519-B404-74BCC761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4381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2986FE7D-222F-4694-A693-A840B995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EB0BEA60-F6C1-404B-B6E7-5B5234699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972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C816A256-7FAD-49EA-B720-918E2BEB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572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FEDEFE68-1542-4EF3-8315-E88038035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67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D39FC47F-D558-4AFB-BB2D-972AD8278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5D6A747D-5FBE-4D32-8C33-EF41A628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6577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24A4130E-FDC6-4F1B-91B6-493BC25A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953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D99FDDB2-E02C-46D4-9740-315C81B4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4448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E9CBC680-6A4E-4A92-A577-53735F47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57258C45-A813-443D-A37F-61DF0BBA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3434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23628A5C-3E5D-4D47-93DF-5C43DB7E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638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30CF1511-CA6A-42A5-A43A-6D800938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33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D73A2880-34FC-4A48-9BB5-218490B9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B612E0C2-E78B-4085-AF3A-46DB3568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244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5BD5B489-D925-4BCC-99B5-76E625385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019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AC36CD61-CC2A-4D6F-BA81-F6FABF82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514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F7F60D5E-2FD7-445E-8E5C-1495A61B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6619423A-ECED-4586-BE8F-A90ADC52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4100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11701E3A-6412-4588-9455-7B30B5A2C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7053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33760B26-1D02-4D6B-879C-CB9093C7B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000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F5CAD856-64A6-4F1C-B6B3-9C1FFCDA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9B14A076-0B73-4A45-8023-942FD7774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47910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914FD15F-5F70-4E21-B456-ED87F224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862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7246C25B-B851-40AB-B02C-DE9CC848A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686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101A077B-B36B-4049-B2A9-518D4C0E6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51E7494B-8ACB-465C-8D09-A77428A9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476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57B6E632-DA7E-4595-8A3D-E09762D33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7720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3B7D6B31-81CB-4F40-B1F4-CD3E2E78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267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4C05B95D-087A-4335-85AA-D4A7B529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6B9DED80-EEEC-493D-8EE8-29E8D387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857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8D06306E-20A3-42E5-A77D-272D68F3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57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AEE2FA68-E2D6-4A82-899A-07F3595E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752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B0C0967A-9BA5-4F99-86FD-C3AC5F0D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060B08E1-929F-430D-8368-0831330E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45434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B82374FB-9C7E-457C-8F8A-2A66E434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838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B0856B0B-2D99-46E7-AC3C-DDEF1E14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4333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1EB1E8B7-C737-4E3A-BF17-21E0D295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55E1B91A-A6D7-42CD-9BD3-CC11E2A9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4229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B8E2090B-42F8-4B9F-852D-F63754FE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524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939E5DA2-E8EC-4D8C-8EB3-BBC1B698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8B16544E-C49E-41C9-9853-33ACD701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85CE2DC2-4D85-49A6-91BA-D558B47B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4610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F24BC9E8-A69B-4DC2-B0AB-D23C5BD6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05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52B1F124-E167-4B19-A8AD-B644861CD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400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9E41ADD5-710B-49C0-A304-1E839F9A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14C80A2A-7380-4CDD-BDCE-9DBA20AD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2957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6CF56923-FFF4-4F41-8FAE-E21C6AF3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591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E452FACC-9576-4A6E-88C2-80EE712B9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886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9F6D8541-D573-4307-B22D-AA08ACCB9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B134D21F-B9CB-452B-90AD-CE8771130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46767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140B2F08-9E6A-4B10-9864-D1BB8CD3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972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D6F7D4BF-6DC9-40C4-8232-2AB767D60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572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D993D886-02D2-4F9D-8505-2CF317AF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03BDCE66-6082-455C-962D-8ED2CD9A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43624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B5166634-D7FE-4FE6-BA5B-CAC550C9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6577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F6F48B87-6B7C-4FC5-9652-D5F232BB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953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E4A65054-169A-4D86-B4FF-44F3CFE4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04C82032-F096-4481-920E-90596F34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7434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DB1583F7-688E-4C2D-A616-22C4FB623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343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1A1B5BF1-84AF-4748-A72A-22133452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638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74A07249-B4D1-482B-80CF-0EDC0C1CF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B5AD0937-384B-45AF-A3D8-E019C3F1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3675" y="44291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AE1E06BD-4BC7-4120-BCFF-BBC26D0F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724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2989034E-8241-41FB-B8BA-A0828A8A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019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E57B4D6A-D473-4E69-A838-95C19ECC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36F47B3E-4C7C-44D7-88C2-656AC2BF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9149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CBCAA964-90E9-40F9-BD6A-FF18722D4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100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B839A81E-B674-4C15-AF12-24080E9D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4705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A298E2CA-8144-4037-81C2-2A6533730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FA869593-CEAD-4513-B802-85355514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4958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97B9569E-1CC0-46EA-B957-0C701308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47910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5ABE4F11-0615-4039-8CFE-24520C89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286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0E295405-923A-4BC2-A101-9F5E62C5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3E87072D-9C95-4FF2-A52E-ED3F49E2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49815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BDBA5720-E474-47C3-9A13-304EDD65A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476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9C5EF385-5E74-43F5-8019-4886CE3F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772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C0B24085-97B5-4D1E-8606-E634D207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90BF4F72-C167-4AB5-B357-4072E84CA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5624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94BBAC8A-F7AB-4B78-AC89-6B08FD8CD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05450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32027609-6A0A-4415-804A-43FA32DD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F766E"/>
                </a:solidFill>
              </a:defRPr>
            </a:pPr>
            <a:r>
              <a:rPr sz="1125" b="1" i="0">
                <a:solidFill>
                  <a:srgbClr val="0F766E"/>
                </a:solidFill>
              </a:rPr>
              <a:t>空间信息让表达矩阵重新回到组织结构中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B1CC0D98-C2C5-48ED-AB46-F4A7F58A5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EFA84B49-2060-4A28-9138-E0C41F4A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 i="0">
                <a:solidFill>
                  <a:srgbClr val="475569"/>
                </a:solidFill>
              </a:defRPr>
            </a:pPr>
            <a:r>
              <a:rPr sz="788" b="0" i="0">
                <a:solidFill>
                  <a:srgbClr val="475569"/>
                </a:solidFill>
              </a:rPr>
              <a:t>Conceptual framing based on spatial omics workflows; Squidpy, Nature Methods 2022.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53AE466F-888E-471B-A28D-1A8AE561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355152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DC1001-6D4E-4653-9C8B-F0B4AC66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DATA STRUCTURE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1E9E6A-A3A1-46F8-8742-C49B1FDDC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212B"/>
                </a:solidFill>
              </a:defRPr>
            </a:pPr>
            <a:r>
              <a:rPr sz="2550" b="1" i="0">
                <a:solidFill>
                  <a:srgbClr val="17212B"/>
                </a:solidFill>
              </a:rPr>
              <a:t>空间转录组数据长什么样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5CA6CD-5514-4C4E-879F-B66F000B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475569"/>
                </a:solidFill>
              </a:defRPr>
            </a:pPr>
            <a:r>
              <a:rPr sz="1500" b="0" i="0">
                <a:solidFill>
                  <a:srgbClr val="475569"/>
                </a:solidFill>
              </a:rPr>
              <a:t>典型对象同时包含表达矩阵、空间坐标、metadata、raw/layers 与可选组织图像。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010B96-C84E-4443-A748-918A22C0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00250"/>
            <a:ext cx="3524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124B31-D7C5-4870-995F-A964C698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B86698-3BC0-48FA-B66D-CDC97AEA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07D45C-D173-46B7-A2A3-E076BB4FC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E62B4B-96BF-4EBF-9EEC-1CEF718F3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351268-F458-4C23-AF24-30ABE1FD1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036637-7D7F-461E-BDFC-F7A21149C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D96464-C089-4111-971C-09DB70EC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DB254B-C538-4EED-BC97-380C3CEF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EB4A09-BDCB-4EC1-BE1B-3A95E301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0A8E05-914F-4ECC-9241-F0893ADC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BC9989-3ACF-4DE7-9BA0-E8A1331E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AFB97A-6546-4CD0-A6D5-E8F6346D2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E41FBB-542E-4C25-9679-26F6410F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2BD12F-87DE-44AF-97F1-81930218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4D7AD8-B0F2-43AF-BA2B-163153E4C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0BA02A-0F9C-4887-B335-339CA936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5D0FC7-F97E-4FC2-ABDC-0BDD0C08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02E6AE-2D95-4940-9B9E-151973C5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6B826B-B36C-45D4-9C9E-AB6BBF794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D0D66A-2C53-41A6-BBF6-5E9FC9D6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FC9E23-2C3A-4FE2-949F-9F9CCF177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46220F-A8B2-4569-BF2D-1B8407694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0ABB07-04FB-4A3C-808A-74020F97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BC4F8B-C99C-487A-8AB7-686311D6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0D3073-E79D-4EED-AD3A-066EB212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FE7CC3-192F-4882-9D35-4DFE2D75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DCD0C2-CC6B-4714-B385-873892DC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9C2700-0612-458D-BE94-1D1767CBC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DBA046-6485-4EB6-BD91-989657D1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CF4D7F-AB20-493F-8E89-8E8E6B25E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2B94B5E-0CFF-4E0D-A329-4C1E8C1AE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50BDACB-78F9-4F7F-95B5-2D50BF97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5E466BB-907A-4C51-BE93-3C284022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CF986AF-BE28-4B78-8387-DE609EE6A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11E84C-8F4C-4507-A2C7-881CAB8A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A13CF7B-BC67-414E-8070-5790BE297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A8CA5D8-A18C-480C-AC3B-89C299B0F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3B0A996-21A6-40D2-A047-AB89B7C2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041E2FD-782C-418A-8088-041441C6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9198B08-AC55-471D-BA36-5DC55866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1FFE6BF-8D39-42E8-899F-C93B90E7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4081D4E-E122-410B-8E26-0EE5AF8D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079F585-9885-41F0-AD3E-32667DDC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E1D61B0-FEDF-4066-9FC3-817D4B0C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5026181-97FA-412E-BA63-3B020C1B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7B01534-E6AC-4D14-9A21-B65D6773F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052C559-15C4-4938-B11D-295DB3A7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6E7942E-C1C2-4CD5-BF41-639D4E67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34B6983-2624-4273-8DB4-07C96E0E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2BDC618-E942-4952-8E2B-36F8298A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E675468-545E-4225-8D1D-4BC07C47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34ACF04-2284-4653-B597-F4F7FFC1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0439A7A-E6EF-4401-AE77-DD8F1D25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B262692-2C0D-4D80-8FD5-8E641F32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F48B11D-8E66-4FD1-B82B-1DE00EA0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A8AE453-A5E8-4D75-B7CF-8B70EAB6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930C153-0D25-4B03-9983-D82805C3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6220914-94B6-4C6B-BAC3-08F9C5B2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803947F-C29F-4A17-AF09-C9F39BD32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1C8610B-AE8D-4189-A493-C4DA71EB0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FB3470E-B7BB-4C7B-9BC4-370F710C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3198DBD-9E8F-451C-86DB-2B5976987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C795D8E-0CD0-4000-8637-0DAF2B47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F37365A-4C58-43CA-AF9C-8FBCC3A6C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145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475569"/>
                </a:solidFill>
              </a:defRPr>
            </a:pPr>
            <a:r>
              <a:rPr sz="900" b="0" i="0">
                <a:solidFill>
                  <a:srgbClr val="475569"/>
                </a:solidFill>
              </a:rPr>
              <a:t>genes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4C54BB8-7A8B-40E4-833F-71FEB7A9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8384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475569"/>
                </a:solidFill>
              </a:defRPr>
            </a:pPr>
            <a:r>
              <a:rPr sz="900" b="0" i="0">
                <a:solidFill>
                  <a:srgbClr val="475569"/>
                </a:solidFill>
              </a:rPr>
              <a:t>spots / cells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7AF4950-DB3C-4C7B-A32D-505D05DC4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57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0F766E"/>
                </a:solidFill>
              </a:defRPr>
            </a:pPr>
            <a:r>
              <a:rPr sz="1275" b="1" i="0">
                <a:solidFill>
                  <a:srgbClr val="0F766E"/>
                </a:solidFill>
              </a:rPr>
              <a:t>X: spots/cells × genes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9FA193C-25DA-4190-8BE0-B4BDF93D4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AD0F6A3-3DE0-424D-851F-D7C20C47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obs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B809657-9548-48A3-9653-3C5BB5F08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62225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 i="0">
                <a:solidFill>
                  <a:srgbClr val="475569"/>
                </a:solidFill>
              </a:defRPr>
            </a:pPr>
            <a:r>
              <a:rPr sz="1088" b="0" i="0">
                <a:solidFill>
                  <a:srgbClr val="475569"/>
                </a:solidFill>
              </a:rPr>
              <a:t>spot/cell metadata</a:t>
            </a:r>
          </a:p>
          <a:p xmlns:a="http://schemas.openxmlformats.org/drawingml/2006/main">
            <a:pPr algn="l">
              <a:defRPr sz="1088" b="0" i="0">
                <a:solidFill>
                  <a:srgbClr val="475569"/>
                </a:solidFill>
              </a:defRPr>
            </a:pPr>
            <a:r>
              <a:rPr sz="1088" b="0" i="0">
                <a:solidFill>
                  <a:srgbClr val="475569"/>
                </a:solidFill>
              </a:rPr>
              <a:t>total counts, cluster, cell type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77442CD-73DA-4DBA-BB7D-C6BBF9BA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17E4C9F-97C7-41D3-81C6-1FE6A5CB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var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EBE0E7B-518E-451E-8587-F8C1D9D9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67175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 i="0">
                <a:solidFill>
                  <a:srgbClr val="475569"/>
                </a:solidFill>
              </a:defRPr>
            </a:pPr>
            <a:r>
              <a:rPr sz="1088" b="0" i="0">
                <a:solidFill>
                  <a:srgbClr val="475569"/>
                </a:solidFill>
              </a:rPr>
              <a:t>gene metadata</a:t>
            </a:r>
          </a:p>
          <a:p xmlns:a="http://schemas.openxmlformats.org/drawingml/2006/main">
            <a:pPr algn="l">
              <a:defRPr sz="1088" b="0" i="0">
                <a:solidFill>
                  <a:srgbClr val="475569"/>
                </a:solidFill>
              </a:defRPr>
            </a:pPr>
            <a:r>
              <a:rPr sz="1088" b="0" i="0">
                <a:solidFill>
                  <a:srgbClr val="475569"/>
                </a:solidFill>
              </a:rPr>
              <a:t>symbols, IDs, features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178B4E4-B239-406A-A3FD-DF3E59C20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38350"/>
            <a:ext cx="2571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CB8CC69-C421-49D1-93D5-1A997C836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2098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obsm["spatial"]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136F707-4924-48D5-B681-3A1F8A73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62225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 i="0">
                <a:solidFill>
                  <a:srgbClr val="475569"/>
                </a:solidFill>
              </a:defRPr>
            </a:pPr>
            <a:r>
              <a:rPr sz="1088" b="0" i="0">
                <a:solidFill>
                  <a:srgbClr val="475569"/>
                </a:solidFill>
              </a:rPr>
              <a:t>二维空间坐标</a:t>
            </a:r>
          </a:p>
          <a:p xmlns:a="http://schemas.openxmlformats.org/drawingml/2006/main">
            <a:pPr algn="l">
              <a:defRPr sz="1088" b="0" i="0">
                <a:solidFill>
                  <a:srgbClr val="475569"/>
                </a:solidFill>
              </a:defRPr>
            </a:pPr>
            <a:r>
              <a:rPr sz="1088" b="0" i="0">
                <a:solidFill>
                  <a:srgbClr val="475569"/>
                </a:solidFill>
              </a:rPr>
              <a:t>x / y positions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17D6C0E-6AB8-4FE0-85DB-C0AB7E50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43300"/>
            <a:ext cx="2571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D1A1917-410B-4F84-8946-9B845B4E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147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8A5A12"/>
                </a:solidFill>
              </a:defRPr>
            </a:pPr>
            <a:r>
              <a:rPr sz="1350" b="1" i="0">
                <a:solidFill>
                  <a:srgbClr val="8A5A12"/>
                </a:solidFill>
              </a:rPr>
              <a:t>raw / layers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BE6DAF9-4815-4DF1-BB87-73EE4050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67175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 i="0">
                <a:solidFill>
                  <a:srgbClr val="475569"/>
                </a:solidFill>
              </a:defRPr>
            </a:pPr>
            <a:r>
              <a:rPr sz="1088" b="0" i="0">
                <a:solidFill>
                  <a:srgbClr val="475569"/>
                </a:solidFill>
              </a:rPr>
              <a:t>counts, normalized,</a:t>
            </a:r>
          </a:p>
          <a:p xmlns:a="http://schemas.openxmlformats.org/drawingml/2006/main">
            <a:pPr algn="l">
              <a:defRPr sz="1088" b="0" i="0">
                <a:solidFill>
                  <a:srgbClr val="475569"/>
                </a:solidFill>
              </a:defRPr>
            </a:pPr>
            <a:r>
              <a:rPr sz="1088" b="0" i="0">
                <a:solidFill>
                  <a:srgbClr val="475569"/>
                </a:solidFill>
              </a:rPr>
              <a:t>log-transformed, scaled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2EED70E-73DE-41AF-86F9-58B2583B5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004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75" name=""/>
          <p:cNvCxnSpPr>
            <a:stCxn xmlns:a="http://schemas.openxmlformats.org/drawingml/2006/main" id="71" idx="3"/>
            <a:endCxn xmlns:a="http://schemas.openxmlformats.org/drawingml/2006/main" id="83" idx="1"/>
          </p:cNvCxnSpPr>
          <p:nvPr/>
        </p:nvCxnSpPr>
        <p:spPr>
          <a:xfrm xmlns:a="http://schemas.openxmlformats.org/drawingml/2006/main">
            <a:off x="3257550" y="2600325"/>
            <a:ext cx="2076450" cy="604838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cxnSp>
        <p:nvCxnSpPr>
          <p:cNvPr id="176" name=""/>
          <p:cNvCxnSpPr>
            <a:stCxn xmlns:a="http://schemas.openxmlformats.org/drawingml/2006/main" id="74" idx="3"/>
            <a:endCxn xmlns:a="http://schemas.openxmlformats.org/drawingml/2006/main" id="83" idx="1"/>
          </p:cNvCxnSpPr>
          <p:nvPr/>
        </p:nvCxnSpPr>
        <p:spPr>
          <a:xfrm xmlns:a="http://schemas.openxmlformats.org/drawingml/2006/main" flipV="1">
            <a:off x="3257550" y="3205163"/>
            <a:ext cx="2076450" cy="90011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cxnSp>
        <p:nvCxnSpPr>
          <p:cNvPr id="177" name=""/>
          <p:cNvCxnSpPr>
            <a:stCxn xmlns:a="http://schemas.openxmlformats.org/drawingml/2006/main" id="83" idx="3"/>
            <a:endCxn xmlns:a="http://schemas.openxmlformats.org/drawingml/2006/main" id="77" idx="1"/>
          </p:cNvCxnSpPr>
          <p:nvPr/>
        </p:nvCxnSpPr>
        <p:spPr>
          <a:xfrm xmlns:a="http://schemas.openxmlformats.org/drawingml/2006/main" flipV="1">
            <a:off x="5343525" y="2600325"/>
            <a:ext cx="3228975" cy="604838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cxnSp>
        <p:nvCxnSpPr>
          <p:cNvPr id="178" name=""/>
          <p:cNvCxnSpPr>
            <a:stCxn xmlns:a="http://schemas.openxmlformats.org/drawingml/2006/main" id="83" idx="3"/>
            <a:endCxn xmlns:a="http://schemas.openxmlformats.org/drawingml/2006/main" id="80" idx="1"/>
          </p:cNvCxnSpPr>
          <p:nvPr/>
        </p:nvCxnSpPr>
        <p:spPr>
          <a:xfrm xmlns:a="http://schemas.openxmlformats.org/drawingml/2006/main">
            <a:off x="5343525" y="3205163"/>
            <a:ext cx="3228975" cy="90011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A8DA02E-4129-478B-B5A7-874BDCF39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7212B"/>
                </a:solidFill>
              </a:defRPr>
            </a:pPr>
            <a:r>
              <a:rPr sz="1650" b="1" i="0">
                <a:solidFill>
                  <a:srgbClr val="17212B"/>
                </a:solidFill>
              </a:rPr>
              <a:t>Agent 必须先 inspect dataset，因为不同数据的坐标字段、表达层和 metadata 可能完全不同。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CB03C6A-192B-4004-B8F1-DF5A7E66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25001B9-07D9-4B3F-8606-C317FB82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 i="0">
                <a:solidFill>
                  <a:srgbClr val="475569"/>
                </a:solidFill>
              </a:defRPr>
            </a:pPr>
            <a:r>
              <a:rPr sz="788" b="0" i="0">
                <a:solidFill>
                  <a:srgbClr val="475569"/>
                </a:solidFill>
              </a:rPr>
              <a:t>AnnData / SpatialExperiment data structures; SpatialExperiment, 2022.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F7ECBC7-B224-4734-87ED-3C007BF2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060647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A6D338-19F5-421E-B4B4-0F40F3A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DATA PLATFORMS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C0D210-DE22-4A6E-A9A3-D5F65501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212B"/>
                </a:solidFill>
              </a:defRPr>
            </a:pPr>
            <a:r>
              <a:rPr sz="2550" b="1" i="0">
                <a:solidFill>
                  <a:srgbClr val="17212B"/>
                </a:solidFill>
              </a:rPr>
              <a:t>不同技术平台的数据差异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B88DAC-6E46-4898-8E58-CEAE126CE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529231-2AC7-4ADB-9DB2-63F8A75C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287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Resolution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1AE68F-BBAC-4BBD-8DEF-209398CA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4287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Data object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9A9941-84E0-4E4C-A036-EEAD939E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28750"/>
            <a:ext cx="3524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Analysis challenge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1BD808-D194-427C-AC94-0371A1ECE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476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4F49"/>
                </a:solidFill>
              </a:defRPr>
            </a:pPr>
            <a:r>
              <a:rPr sz="1275" b="1">
                <a:solidFill>
                  <a:srgbClr val="0B4F49"/>
                </a:solidFill>
              </a:rPr>
              <a:t>10x Visium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D365C8-92C0-471A-9D68-D63B7392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28800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212B"/>
                </a:solidFill>
              </a:defRPr>
            </a:pPr>
            <a:r>
              <a:rPr sz="1125" b="0">
                <a:solidFill>
                  <a:srgbClr val="17212B"/>
                </a:solidFill>
              </a:rPr>
              <a:t>spot-based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76814D-0628-4822-99CB-52B4D927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828800"/>
            <a:ext cx="2381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212B"/>
                </a:solidFill>
              </a:defRPr>
            </a:pPr>
            <a:r>
              <a:rPr sz="1125" b="0">
                <a:solidFill>
                  <a:srgbClr val="17212B"/>
                </a:solidFill>
              </a:rPr>
              <a:t>组织图像 + spots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108EFF-0345-4C7A-B247-5DA3D859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28800"/>
            <a:ext cx="3524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212B"/>
                </a:solidFill>
              </a:defRPr>
            </a:pPr>
            <a:r>
              <a:rPr sz="1125" b="0">
                <a:solidFill>
                  <a:srgbClr val="17212B"/>
                </a:solidFill>
              </a:rPr>
              <a:t>分辨率较粗，spot 混合多个细胞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97CC15-DF30-4035-B26E-C644FFA4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43200"/>
            <a:ext cx="2476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4F49"/>
                </a:solidFill>
              </a:defRPr>
            </a:pPr>
            <a:r>
              <a:rPr sz="1275" b="1">
                <a:solidFill>
                  <a:srgbClr val="0B4F49"/>
                </a:solidFill>
              </a:rPr>
              <a:t>Stereo-seq / Slide-seq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28ED66-ABF3-499F-95F4-D9A9C0DE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43200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212B"/>
                </a:solidFill>
              </a:defRPr>
            </a:pPr>
            <a:r>
              <a:rPr sz="1125" b="0">
                <a:solidFill>
                  <a:srgbClr val="17212B"/>
                </a:solidFill>
              </a:rPr>
              <a:t>high-resolution spots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04CB21-8A9C-4795-8413-4D64A3B73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43200"/>
            <a:ext cx="2381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212B"/>
                </a:solidFill>
              </a:defRPr>
            </a:pPr>
            <a:r>
              <a:rPr sz="1125" b="0">
                <a:solidFill>
                  <a:srgbClr val="17212B"/>
                </a:solidFill>
              </a:rPr>
              <a:t>大量 spots + 坐标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8F32D5-BBA9-4C37-B18A-00D9891A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43200"/>
            <a:ext cx="3524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212B"/>
                </a:solidFill>
              </a:defRPr>
            </a:pPr>
            <a:r>
              <a:rPr sz="1125" b="0">
                <a:solidFill>
                  <a:srgbClr val="17212B"/>
                </a:solidFill>
              </a:rPr>
              <a:t>数据规模更大，坐标字段差异明显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927725-56E8-4AA8-89E3-CD94E6522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2476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4F49"/>
                </a:solidFill>
              </a:defRPr>
            </a:pPr>
            <a:r>
              <a:rPr sz="1275" b="1">
                <a:solidFill>
                  <a:srgbClr val="0B4F49"/>
                </a:solidFill>
              </a:rPr>
              <a:t>MERFISH / Xenium / CosMx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0F1DBC-DCEE-4E7F-8B31-F6582AA9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212B"/>
                </a:solidFill>
              </a:defRPr>
            </a:pPr>
            <a:r>
              <a:rPr sz="1125" b="0">
                <a:solidFill>
                  <a:srgbClr val="17212B"/>
                </a:solidFill>
              </a:rPr>
              <a:t>imaging-based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A16874-DD33-4B45-A731-6B552F0F8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57600"/>
            <a:ext cx="2381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212B"/>
                </a:solidFill>
              </a:defRPr>
            </a:pPr>
            <a:r>
              <a:rPr sz="1125" b="0">
                <a:solidFill>
                  <a:srgbClr val="17212B"/>
                </a:solidFill>
              </a:rPr>
              <a:t>cell-level + fixed panel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2A1BB2-BA3F-4587-8378-F7F036AC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57600"/>
            <a:ext cx="3524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212B"/>
                </a:solidFill>
              </a:defRPr>
            </a:pPr>
            <a:r>
              <a:rPr sz="1125" b="0">
                <a:solidFill>
                  <a:srgbClr val="17212B"/>
                </a:solidFill>
              </a:rPr>
              <a:t>基因 panel 固定，QC 指标不同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3A4992-621F-4777-9504-A43C05EB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4191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3AD000-57E5-4FE7-95D7-84900A3D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816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共同抽象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81978C-B902-4775-B8C0-811BBE70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34025"/>
            <a:ext cx="381000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475569"/>
                </a:solidFill>
              </a:defRPr>
            </a:pPr>
            <a:r>
              <a:rPr sz="1350" b="0" i="0">
                <a:solidFill>
                  <a:srgbClr val="475569"/>
                </a:solidFill>
              </a:rPr>
              <a:t>表达矩阵 + 空间坐标 + metadata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2C9E6F-5B89-423C-9039-9DC010B7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010150"/>
            <a:ext cx="4762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F40E7B-17E9-4AD7-BD0A-CAF8FC45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18160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8A5A12"/>
                </a:solidFill>
              </a:defRPr>
            </a:pPr>
            <a:r>
              <a:rPr sz="1350" b="1" i="0">
                <a:solidFill>
                  <a:srgbClr val="8A5A12"/>
                </a:solidFill>
              </a:rPr>
              <a:t>谨慎边界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7AF15C-A3DF-4929-AA38-A8ED65E0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534025"/>
            <a:ext cx="438150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475569"/>
                </a:solidFill>
              </a:defRPr>
            </a:pPr>
            <a:r>
              <a:rPr sz="1350" b="0" i="0">
                <a:solidFill>
                  <a:srgbClr val="475569"/>
                </a:solidFill>
              </a:rPr>
              <a:t>坐标字段、表达层、QC 指标和图像信息因平台而异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C9D1E2-DD6A-4F85-972A-38396956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40F7ED-795B-4977-AD11-006BECF73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 i="0">
                <a:solidFill>
                  <a:srgbClr val="475569"/>
                </a:solidFill>
              </a:defRPr>
            </a:pPr>
            <a:r>
              <a:rPr sz="788" b="0" i="0">
                <a:solidFill>
                  <a:srgbClr val="475569"/>
                </a:solidFill>
              </a:rPr>
              <a:t>Platform categories summarized from spatial transcriptomics literature and OSTA workflows.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CFCF8C-F337-4310-9603-5B904C4D1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756540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9A1BB8-C81E-44FB-A28D-07A1FEBD8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STANDARD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CB737C-FFEC-4864-9B94-0DE27508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212B"/>
                </a:solidFill>
              </a:defRPr>
            </a:pPr>
            <a:r>
              <a:rPr sz="2550" b="1" i="0">
                <a:solidFill>
                  <a:srgbClr val="17212B"/>
                </a:solidFill>
              </a:rPr>
              <a:t>常规空间转录组处理流程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2234A0-76E1-4AAF-B081-97C5A0BF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269206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7212B"/>
                </a:solidFill>
              </a:defRPr>
            </a:pPr>
            <a:r>
              <a:rPr sz="1013" b="1">
                <a:solidFill>
                  <a:srgbClr val="17212B"/>
                </a:solidFill>
              </a:rPr>
              <a:t>读取与检查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F286AF-EF59-470F-8E54-3C61FAE0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0256" y="1714500"/>
            <a:ext cx="1269206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7212B"/>
                </a:solidFill>
              </a:defRPr>
            </a:pPr>
            <a:r>
              <a:rPr sz="1013" b="1">
                <a:solidFill>
                  <a:srgbClr val="17212B"/>
                </a:solidFill>
              </a:rPr>
              <a:t>QC 与过滤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7A478A-EB31-4AD4-A07B-E21B937A9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4713" y="1714500"/>
            <a:ext cx="1269206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7212B"/>
                </a:solidFill>
              </a:defRPr>
            </a:pPr>
            <a:r>
              <a:rPr sz="1013" b="1">
                <a:solidFill>
                  <a:srgbClr val="17212B"/>
                </a:solidFill>
              </a:rPr>
              <a:t>归一化</a:t>
            </a:r>
          </a:p>
          <a:p xmlns:a="http://schemas.openxmlformats.org/drawingml/2006/main">
            <a:pPr algn="ctr">
              <a:defRPr sz="1013" b="1">
                <a:solidFill>
                  <a:srgbClr val="17212B"/>
                </a:solidFill>
              </a:defRPr>
            </a:pPr>
            <a:r>
              <a:rPr sz="1013" b="1">
                <a:solidFill>
                  <a:srgbClr val="17212B"/>
                </a:solidFill>
              </a:rPr>
              <a:t>log1p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62B72E-081A-4CE0-A8BB-545E4A9D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9169" y="1714500"/>
            <a:ext cx="1269206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7212B"/>
                </a:solidFill>
              </a:defRPr>
            </a:pPr>
            <a:r>
              <a:rPr sz="1013" b="1">
                <a:solidFill>
                  <a:srgbClr val="17212B"/>
                </a:solidFill>
              </a:rPr>
              <a:t>特征选择</a:t>
            </a:r>
          </a:p>
          <a:p xmlns:a="http://schemas.openxmlformats.org/drawingml/2006/main">
            <a:pPr algn="ctr">
              <a:defRPr sz="1013" b="1">
                <a:solidFill>
                  <a:srgbClr val="17212B"/>
                </a:solidFill>
              </a:defRPr>
            </a:pPr>
            <a:r>
              <a:rPr sz="1013" b="1">
                <a:solidFill>
                  <a:srgbClr val="17212B"/>
                </a:solidFill>
              </a:rPr>
              <a:t>PCA/UMAP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821DE3-7308-4B7C-8097-2392DBDF5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714500"/>
            <a:ext cx="1269206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7212B"/>
                </a:solidFill>
              </a:defRPr>
            </a:pPr>
            <a:r>
              <a:rPr sz="1013" b="1">
                <a:solidFill>
                  <a:srgbClr val="17212B"/>
                </a:solidFill>
              </a:rPr>
              <a:t>Leiden</a:t>
            </a:r>
          </a:p>
          <a:p xmlns:a="http://schemas.openxmlformats.org/drawingml/2006/main">
            <a:pPr algn="ctr">
              <a:defRPr sz="1013" b="1">
                <a:solidFill>
                  <a:srgbClr val="17212B"/>
                </a:solidFill>
              </a:defRPr>
            </a:pPr>
            <a:r>
              <a:rPr sz="1013" b="1">
                <a:solidFill>
                  <a:srgbClr val="17212B"/>
                </a:solidFill>
              </a:rPr>
              <a:t>聚类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5FA65F-80BF-4288-B73B-269FAEAC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8081" y="1714500"/>
            <a:ext cx="1269206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7212B"/>
                </a:solidFill>
              </a:defRPr>
            </a:pPr>
            <a:r>
              <a:rPr sz="1013" b="1">
                <a:solidFill>
                  <a:srgbClr val="17212B"/>
                </a:solidFill>
              </a:rPr>
              <a:t>空间可视化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E9B8EC-C090-4E76-8816-DD6D53D2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2538" y="1714500"/>
            <a:ext cx="1269206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7212B"/>
                </a:solidFill>
              </a:defRPr>
            </a:pPr>
            <a:r>
              <a:rPr sz="1013" b="1">
                <a:solidFill>
                  <a:srgbClr val="17212B"/>
                </a:solidFill>
              </a:rPr>
              <a:t>marker/SVG</a:t>
            </a:r>
          </a:p>
          <a:p xmlns:a="http://schemas.openxmlformats.org/drawingml/2006/main">
            <a:pPr algn="ctr">
              <a:defRPr sz="1013" b="1">
                <a:solidFill>
                  <a:srgbClr val="17212B"/>
                </a:solidFill>
              </a:defRPr>
            </a:pPr>
            <a:r>
              <a:rPr sz="1013" b="1">
                <a:solidFill>
                  <a:srgbClr val="17212B"/>
                </a:solidFill>
              </a:rPr>
              <a:t>邻域分析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01432E-2845-44AA-BC9D-F79B78C85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6994" y="1714500"/>
            <a:ext cx="1269206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7212B"/>
                </a:solidFill>
              </a:defRPr>
            </a:pPr>
            <a:r>
              <a:rPr sz="1013" b="1">
                <a:solidFill>
                  <a:srgbClr val="17212B"/>
                </a:solidFill>
              </a:rPr>
              <a:t>解释 + caveats</a:t>
            </a:r>
          </a:p>
        </p:txBody>
      </p:sp>
      <p:cxnSp>
        <p:nvCxnSpPr>
          <p:cNvPr id="38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1955006" y="212407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3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319462" y="2124075"/>
            <a:ext cx="95251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4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683919" y="212407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4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048375" y="212407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4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412831" y="212407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43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777287" y="2124075"/>
            <a:ext cx="95251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44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10141744" y="212407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1B98FD-7F4A-4493-A6AD-170DB3B73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14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841867-6AD4-416B-9925-1B0C60F22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385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212B"/>
                </a:solidFill>
              </a:defRPr>
            </a:pPr>
            <a:r>
              <a:rPr sz="1650" b="0" i="0">
                <a:solidFill>
                  <a:srgbClr val="17212B"/>
                </a:solidFill>
              </a:rPr>
              <a:t>继承单细胞分析的预处理、降维、聚类和 marker gene 思路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F86870-B730-42D0-B0D6-9F9E4860A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52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23C74C-9056-4A5C-822D-3F3A9621A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212B"/>
                </a:solidFill>
              </a:defRPr>
            </a:pPr>
            <a:r>
              <a:rPr sz="1650" b="0" i="0">
                <a:solidFill>
                  <a:srgbClr val="17212B"/>
                </a:solidFill>
              </a:rPr>
              <a:t>加入空间坐标后，需要观察 cluster 和基因表达是否对应组织空间结构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5C3686-3732-4C8C-AFB8-8AEFA48D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CC018B-B5CB-45E2-B120-AD7C3206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148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212B"/>
                </a:solidFill>
              </a:defRPr>
            </a:pPr>
            <a:r>
              <a:rPr sz="1650" b="0" i="0">
                <a:solidFill>
                  <a:srgbClr val="17212B"/>
                </a:solidFill>
              </a:rPr>
              <a:t>解释阶段必须回到图表、统计摘要和数据质量边界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471116-BC7E-4A9B-9FB6-ADBEDB701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475569"/>
                </a:solidFill>
              </a:defRPr>
            </a:pPr>
            <a:r>
              <a:rPr sz="1275" b="0" i="0">
                <a:solidFill>
                  <a:srgbClr val="475569"/>
                </a:solidFill>
              </a:rPr>
              <a:t>Scanpy 提供 preprocessing / visualization / clustering；Squidpy 在此基础上扩展空间统计与空间可视化；OSTA 系统整理了 QC、normalization、feature selection 和 downstream workflow。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7F8E5F-EFF8-438D-BAE5-AD4F1D333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DCFDA6-A891-4B23-842D-47AFCE24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 i="0">
                <a:solidFill>
                  <a:srgbClr val="475569"/>
                </a:solidFill>
              </a:defRPr>
            </a:pPr>
            <a:r>
              <a:rPr sz="788" b="0" i="0">
                <a:solidFill>
                  <a:srgbClr val="475569"/>
                </a:solidFill>
              </a:rPr>
              <a:t>Sources: Scanpy (Genome Biology 2018), Squidpy (Nature Methods 2022), Bioconductor OSTA.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5CADEB-6621-4A70-8426-77E910CA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094831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FA7D31-012B-478C-9477-DF072444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QUALITY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E8E418-EE4E-4E4E-A744-DCD6AFE8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212B"/>
                </a:solidFill>
              </a:defRPr>
            </a:pPr>
            <a:r>
              <a:rPr sz="2550" b="1" i="0">
                <a:solidFill>
                  <a:srgbClr val="17212B"/>
                </a:solidFill>
              </a:rPr>
              <a:t>QC 为什么重要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46c8fb53004b45"/>
          <a:stretch xmlns:a="http://schemas.openxmlformats.org/drawingml/2006/main"/>
        </p:blipFill>
        <p:spPr>
          <a:xfrm xmlns:a="http://schemas.openxmlformats.org/drawingml/2006/main">
            <a:off x="723900" y="2378726"/>
            <a:ext cx="4514850" cy="1509998"/>
          </a:xfrm>
          <a:prstGeom xmlns:a="http://schemas.openxmlformats.org/drawingml/2006/main" prst="roundRect">
            <a:avLst>
              <a:gd name="adj" fmla="val 3871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E7F70B-576D-4754-8819-2555BF504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19250"/>
            <a:ext cx="4476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CB725D-6C07-45ED-95DF-0638CC700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907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QC 检查对象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3CB728-DE00-41AE-9C7A-D695FAC3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43125"/>
            <a:ext cx="40957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475569"/>
                </a:solidFill>
              </a:defRPr>
            </a:pPr>
            <a:r>
              <a:rPr sz="1575" b="0" i="0">
                <a:solidFill>
                  <a:srgbClr val="475569"/>
                </a:solidFill>
              </a:rPr>
              <a:t>• total counts</a:t>
            </a:r>
          </a:p>
          <a:p xmlns:a="http://schemas.openxmlformats.org/drawingml/2006/main">
            <a:pPr algn="l">
              <a:defRPr sz="1575" b="0" i="0">
                <a:solidFill>
                  <a:srgbClr val="475569"/>
                </a:solidFill>
              </a:defRPr>
            </a:pPr>
            <a:r>
              <a:rPr sz="1575" b="0" i="0">
                <a:solidFill>
                  <a:srgbClr val="475569"/>
                </a:solidFill>
              </a:rPr>
              <a:t>• detected genes</a:t>
            </a:r>
          </a:p>
          <a:p xmlns:a="http://schemas.openxmlformats.org/drawingml/2006/main">
            <a:pPr algn="l">
              <a:defRPr sz="1575" b="0" i="0">
                <a:solidFill>
                  <a:srgbClr val="475569"/>
                </a:solidFill>
              </a:defRPr>
            </a:pPr>
            <a:r>
              <a:rPr sz="1575" b="0" i="0">
                <a:solidFill>
                  <a:srgbClr val="475569"/>
                </a:solidFill>
              </a:rPr>
              <a:t>• mitochondrial fraction</a:t>
            </a:r>
          </a:p>
          <a:p xmlns:a="http://schemas.openxmlformats.org/drawingml/2006/main">
            <a:pPr algn="l">
              <a:defRPr sz="1575" b="0" i="0">
                <a:solidFill>
                  <a:srgbClr val="475569"/>
                </a:solidFill>
              </a:defRPr>
            </a:pPr>
            <a:r>
              <a:rPr sz="1575" b="0" i="0">
                <a:solidFill>
                  <a:srgbClr val="475569"/>
                </a:solidFill>
              </a:rPr>
              <a:t>• spatial coordinates</a:t>
            </a:r>
          </a:p>
          <a:p xmlns:a="http://schemas.openxmlformats.org/drawingml/2006/main">
            <a:pPr algn="l">
              <a:defRPr sz="1575" b="0" i="0">
                <a:solidFill>
                  <a:srgbClr val="475569"/>
                </a:solidFill>
              </a:defRPr>
            </a:pPr>
            <a:r>
              <a:rPr sz="1575" b="0" i="0">
                <a:solidFill>
                  <a:srgbClr val="475569"/>
                </a:solidFill>
              </a:rPr>
              <a:t>• expression matrix state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162222-08CF-4741-ADF9-87A61705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14800"/>
            <a:ext cx="44767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A612F9-5F57-4D28-9639-D209E732F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8A5A12"/>
                </a:solidFill>
              </a:defRPr>
            </a:pPr>
            <a:r>
              <a:rPr sz="1350" b="1" i="0">
                <a:solidFill>
                  <a:srgbClr val="8A5A12"/>
                </a:solidFill>
              </a:rPr>
              <a:t>表达层安全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270727-6FCB-4135-A62D-CB8B4E6D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3867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475569"/>
                </a:solidFill>
              </a:defRPr>
            </a:pPr>
            <a:r>
              <a:rPr sz="1500" b="0" i="0">
                <a:solidFill>
                  <a:srgbClr val="475569"/>
                </a:solidFill>
              </a:rPr>
              <a:t>count-like、log-normalized、scaled、unknown 会决定 marker 和 gene interpretation 是否安全。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DC13B6-AB12-4A97-B92C-372E2E59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81625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7212B"/>
                </a:solidFill>
              </a:defRPr>
            </a:pPr>
            <a:r>
              <a:rPr sz="1575" b="1" i="0">
                <a:solidFill>
                  <a:srgbClr val="17212B"/>
                </a:solidFill>
              </a:rPr>
              <a:t>如果把 scaled matrix 当作 raw counts 解释，后续 marker gene 和空间表达结论可能出现系统性偏差。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E3A760-8C69-4A50-9B1D-3C02F1F5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6A86B8-6C62-4F00-ABAC-CE184AF6B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 i="0">
                <a:solidFill>
                  <a:srgbClr val="475569"/>
                </a:solidFill>
              </a:defRPr>
            </a:pPr>
            <a:r>
              <a:rPr sz="788" b="0" i="0">
                <a:solidFill>
                  <a:srgbClr val="475569"/>
                </a:solidFill>
              </a:rPr>
              <a:t>Source: OSTA Quality Control chapter; SpatialScope expression-source guardrails.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325C45-78D3-42CC-A26A-5C931B70B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752765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B9BDCE-A4AB-4098-97FF-5024BC5E5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VISUAL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006E69-E061-4561-9C2D-35BC2B3F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212B"/>
                </a:solidFill>
              </a:defRPr>
            </a:pPr>
            <a:r>
              <a:rPr sz="2550" b="1" i="0">
                <a:solidFill>
                  <a:srgbClr val="17212B"/>
                </a:solidFill>
              </a:rPr>
              <a:t>降维、聚类和空间可视化如何配合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212a86f9dc4a63"/>
          <a:stretch xmlns:a="http://schemas.openxmlformats.org/drawingml/2006/main"/>
        </p:blipFill>
        <p:spPr>
          <a:xfrm xmlns:a="http://schemas.openxmlformats.org/drawingml/2006/main">
            <a:off x="819150" y="1818738"/>
            <a:ext cx="3143250" cy="1944174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adcf821d7540f4"/>
          <a:stretch xmlns:a="http://schemas.openxmlformats.org/drawingml/2006/main"/>
        </p:blipFill>
        <p:spPr>
          <a:xfrm xmlns:a="http://schemas.openxmlformats.org/drawingml/2006/main">
            <a:off x="4514850" y="1893420"/>
            <a:ext cx="3143250" cy="1794810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56924ebb6846f3"/>
          <a:stretch xmlns:a="http://schemas.openxmlformats.org/drawingml/2006/main"/>
        </p:blipFill>
        <p:spPr>
          <a:xfrm xmlns:a="http://schemas.openxmlformats.org/drawingml/2006/main">
            <a:off x="8210550" y="1751809"/>
            <a:ext cx="3143250" cy="2078032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079507-02CA-4E00-A2EA-90B3999C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6A2161-7B42-4F9D-A5EE-6038CECE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33900"/>
            <a:ext cx="2343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UMAP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183173-487B-4CED-AF82-444C6589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86325"/>
            <a:ext cx="23431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475569"/>
                </a:solidFill>
              </a:defRPr>
            </a:pPr>
            <a:r>
              <a:rPr sz="1350" b="0" i="0">
                <a:solidFill>
                  <a:srgbClr val="475569"/>
                </a:solidFill>
              </a:rPr>
              <a:t>表达空间相似性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6A067A-7E33-4E15-8025-4D14518A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72E380-793C-452A-8D58-3788B1776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533900"/>
            <a:ext cx="2343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Spatial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BD65C8-1F84-4FD2-8C4B-751CA2AE6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886325"/>
            <a:ext cx="23431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475569"/>
                </a:solidFill>
              </a:defRPr>
            </a:pPr>
            <a:r>
              <a:rPr sz="1350" b="0" i="0">
                <a:solidFill>
                  <a:srgbClr val="475569"/>
                </a:solidFill>
              </a:rPr>
              <a:t>组织空间位置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95C87A-251A-4BF2-A5AA-9413124C5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FA679C-873E-4350-BA3E-7B3A9483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533900"/>
            <a:ext cx="2343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Gene panel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6F18A5-92CA-461B-B081-E8849590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886325"/>
            <a:ext cx="23431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475569"/>
                </a:solidFill>
              </a:defRPr>
            </a:pPr>
            <a:r>
              <a:rPr sz="1350" b="0" i="0">
                <a:solidFill>
                  <a:srgbClr val="475569"/>
                </a:solidFill>
              </a:rPr>
              <a:t>目标基因空间分布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E4260C-764E-44B2-BC7A-412E69C6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6735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7212B"/>
                </a:solidFill>
              </a:defRPr>
            </a:pPr>
            <a:r>
              <a:rPr sz="1650" b="1" i="0">
                <a:solidFill>
                  <a:srgbClr val="17212B"/>
                </a:solidFill>
              </a:rPr>
              <a:t>UMAP 回答“表达状态是否相似”；Spatial 图回答“这些状态在组织中在哪里”。两者必须一起看。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B77023-88F4-41F2-B78F-E7BCFB16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3A6CD1-9FE3-4F29-8B5A-6B23E7A0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 i="0">
                <a:solidFill>
                  <a:srgbClr val="475569"/>
                </a:solidFill>
              </a:defRPr>
            </a:pPr>
            <a:r>
              <a:rPr sz="788" b="0" i="0">
                <a:solidFill>
                  <a:srgbClr val="475569"/>
                </a:solidFill>
              </a:rPr>
              <a:t>Demo embryo dataset generated for SpatialScope smoke tests.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CE9EF9-9EF7-4CF5-A042-FF80F7BC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0342259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666BC1-C701-43FC-8E60-9DA2E00B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INTERPRETATION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6D2771-33C2-4D00-A834-0A3BC764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212B"/>
                </a:solidFill>
              </a:defRPr>
            </a:pPr>
            <a:r>
              <a:rPr sz="2550" b="1" i="0">
                <a:solidFill>
                  <a:srgbClr val="17212B"/>
                </a:solidFill>
              </a:rPr>
              <a:t>从图到生物学解释的风险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148AF2-FE30-4010-9411-28EF8767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133600"/>
            <a:ext cx="17907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7791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图表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6D1A7B-FED6-4E21-B987-2DE961AF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133600"/>
            <a:ext cx="17907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7791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统计摘要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6EFD6B-36CE-4100-AE1B-DC63A436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133600"/>
            <a:ext cx="17907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7791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Evidence ID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003BA4-E6AC-46BA-AB20-48D4E65B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33600"/>
            <a:ext cx="17907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7791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谨慎解释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F2E0CB-89AA-4A20-8209-EAD76516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133600"/>
            <a:ext cx="17907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7791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Caveat</a:t>
            </a:r>
          </a:p>
        </p:txBody>
      </p:sp>
      <p:cxnSp>
        <p:nvCxnSpPr>
          <p:cNvPr id="33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219450" y="25241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B7791F"/>
            </a:solidFill>
            <a:prstDash val="solid"/>
            <a:tailEnd type="arrow" w="med" len="med"/>
          </a:ln>
        </p:spPr>
      </p:cxnSp>
      <p:cxnSp>
        <p:nvCxnSpPr>
          <p:cNvPr id="34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5105400" y="25241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B7791F"/>
            </a:solidFill>
            <a:prstDash val="solid"/>
            <a:tailEnd type="arrow" w="med" len="med"/>
          </a:ln>
        </p:spPr>
      </p:cxnSp>
      <p:cxnSp>
        <p:nvCxnSpPr>
          <p:cNvPr id="35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991350" y="25241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B7791F"/>
            </a:solidFill>
            <a:prstDash val="solid"/>
            <a:tailEnd type="arrow" w="med" len="med"/>
          </a:ln>
        </p:spPr>
      </p:cxnSp>
      <p:cxnSp>
        <p:nvCxnSpPr>
          <p:cNvPr id="36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877300" y="25241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B7791F"/>
            </a:solidFill>
            <a:prstDash val="solid"/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306538-CF24-441F-B59D-06C820BC5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76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211929-2A0B-4827-8E51-43F517A6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6004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7212B"/>
                </a:solidFill>
              </a:defRPr>
            </a:pPr>
            <a:r>
              <a:rPr sz="1575" b="0" i="0">
                <a:solidFill>
                  <a:srgbClr val="17212B"/>
                </a:solidFill>
              </a:rPr>
              <a:t>cluster 不等于细胞类型，需要 marker 和外部知识支撑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B3E06E-F39C-4DC6-90E6-2B3CF0DE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76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F58E5E-C92F-40B9-A855-CCBF7FE0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005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7212B"/>
                </a:solidFill>
              </a:defRPr>
            </a:pPr>
            <a:r>
              <a:rPr sz="1575" b="0" i="0">
                <a:solidFill>
                  <a:srgbClr val="17212B"/>
                </a:solidFill>
              </a:rPr>
              <a:t>marker gene ranking 是候选证据，不是最终注释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0D8879-014F-4270-A2C1-5610B874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58A48B-E50B-41A6-AF5B-DDFD36EA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4005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7212B"/>
                </a:solidFill>
              </a:defRPr>
            </a:pPr>
            <a:r>
              <a:rPr sz="1575" b="0" i="0">
                <a:solidFill>
                  <a:srgbClr val="17212B"/>
                </a:solidFill>
              </a:rPr>
              <a:t>空间表达集中不等于因果机制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E81911-65FE-4A18-9DB7-26C13F16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876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AC6A83-393A-4AFA-B69D-CE618E8B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006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7212B"/>
                </a:solidFill>
              </a:defRPr>
            </a:pPr>
            <a:r>
              <a:rPr sz="1575" b="0" i="0">
                <a:solidFill>
                  <a:srgbClr val="17212B"/>
                </a:solidFill>
              </a:rPr>
              <a:t>LLM 必须被 evidence pack 限制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D0B054-769C-4B6C-A42E-D072FC9D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391150"/>
            <a:ext cx="72009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CECE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4204A6-5679-4007-B15D-D014D5DE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562600"/>
            <a:ext cx="681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B83A4B"/>
                </a:solidFill>
              </a:defRPr>
            </a:pPr>
            <a:r>
              <a:rPr sz="1350" b="1" i="0">
                <a:solidFill>
                  <a:srgbClr val="B83A4B"/>
                </a:solidFill>
              </a:rPr>
              <a:t>SpatialScope 的处理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7470F7-4678-4FD6-9DDE-FAEB4028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915025"/>
            <a:ext cx="6819900" cy="-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475569"/>
                </a:solidFill>
              </a:defRPr>
            </a:pPr>
            <a:r>
              <a:rPr sz="1350" b="0" i="0">
                <a:solidFill>
                  <a:srgbClr val="475569"/>
                </a:solidFill>
              </a:rPr>
              <a:t>每条 finding 绑定 evidence IDs，并显示 quantitative support 与 caveats。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65CE78-6947-4B58-8503-525C2964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21A95F-9592-4788-8A05-0D398CDA9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 i="0">
                <a:solidFill>
                  <a:srgbClr val="475569"/>
                </a:solidFill>
              </a:defRPr>
            </a:pPr>
            <a:r>
              <a:rPr sz="788" b="0" i="0">
                <a:solidFill>
                  <a:srgbClr val="475569"/>
                </a:solidFill>
              </a:rPr>
              <a:t>Scientific interpretation principle: figures are evidence, not conclusions by themselves.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09339C-6C9A-402C-B34F-F6192235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845197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A83A82-1169-4756-9D85-A19F6D30F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FROM WORKFLOW TO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B78ADC-51DD-45BC-A0B1-AE4E5B2E0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212B"/>
                </a:solidFill>
              </a:defRPr>
            </a:pPr>
            <a:r>
              <a:rPr sz="2550" b="1" i="0">
                <a:solidFill>
                  <a:srgbClr val="17212B"/>
                </a:solidFill>
              </a:rPr>
              <a:t>为什么把流程做成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CCA9D-38C9-488E-B800-36E9D2AB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4095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B3FA73-E3E1-4783-8CBB-2B8D5F02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288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475569"/>
                </a:solidFill>
              </a:defRPr>
            </a:pPr>
            <a:r>
              <a:rPr sz="1350" b="1" i="0">
                <a:solidFill>
                  <a:srgbClr val="475569"/>
                </a:solidFill>
              </a:rPr>
              <a:t>传统 notebook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4A3AA-5CD9-4894-A96E-CD5663797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81225"/>
            <a:ext cx="371475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475569"/>
                </a:solidFill>
              </a:defRPr>
            </a:pPr>
            <a:r>
              <a:rPr sz="1650" b="0" i="0">
                <a:solidFill>
                  <a:srgbClr val="475569"/>
                </a:solidFill>
              </a:rPr>
              <a:t>研究问题需要手动翻译成代码</a:t>
            </a:r>
          </a:p>
          <a:p xmlns:a="http://schemas.openxmlformats.org/drawingml/2006/main">
            <a:pPr algn="l">
              <a:defRPr sz="1650" b="0" i="0">
                <a:solidFill>
                  <a:srgbClr val="475569"/>
                </a:solidFill>
              </a:defRPr>
            </a:pPr>
            <a:r>
              <a:rPr sz="1650" b="0" i="0">
                <a:solidFill>
                  <a:srgbClr val="475569"/>
                </a:solidFill>
              </a:rPr>
              <a:t>字段和表达层容易误用</a:t>
            </a:r>
          </a:p>
          <a:p xmlns:a="http://schemas.openxmlformats.org/drawingml/2006/main">
            <a:pPr algn="l">
              <a:defRPr sz="1650" b="0" i="0">
                <a:solidFill>
                  <a:srgbClr val="475569"/>
                </a:solidFill>
              </a:defRPr>
            </a:pPr>
            <a:r>
              <a:rPr sz="1650" b="0" i="0">
                <a:solidFill>
                  <a:srgbClr val="475569"/>
                </a:solidFill>
              </a:rPr>
              <a:t>失败后需要人工排查</a:t>
            </a:r>
          </a:p>
          <a:p xmlns:a="http://schemas.openxmlformats.org/drawingml/2006/main">
            <a:pPr algn="l">
              <a:defRPr sz="1650" b="0" i="0">
                <a:solidFill>
                  <a:srgbClr val="475569"/>
                </a:solidFill>
              </a:defRPr>
            </a:pPr>
            <a:r>
              <a:rPr sz="1650" b="0" i="0">
                <a:solidFill>
                  <a:srgbClr val="475569"/>
                </a:solidFill>
              </a:rPr>
              <a:t>解释容易脱离证据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99057C-DC1F-4A67-A1CD-E278DB2DE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657350"/>
            <a:ext cx="4095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F7A1D0-8BDE-44D7-9CBF-F9FC3C77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288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SpatialScope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91A6B2-5CDC-4DD3-A6B0-6013B2A8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81225"/>
            <a:ext cx="371475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475569"/>
                </a:solidFill>
              </a:defRPr>
            </a:pPr>
            <a:r>
              <a:rPr sz="1650" b="0" i="0">
                <a:solidFill>
                  <a:srgbClr val="475569"/>
                </a:solidFill>
              </a:rPr>
              <a:t>先检查数据</a:t>
            </a:r>
          </a:p>
          <a:p xmlns:a="http://schemas.openxmlformats.org/drawingml/2006/main">
            <a:pPr algn="l">
              <a:defRPr sz="1650" b="0" i="0">
                <a:solidFill>
                  <a:srgbClr val="475569"/>
                </a:solidFill>
              </a:defRPr>
            </a:pPr>
            <a:r>
              <a:rPr sz="1650" b="0" i="0">
                <a:solidFill>
                  <a:srgbClr val="475569"/>
                </a:solidFill>
              </a:rPr>
              <a:t>生成可审阅计划</a:t>
            </a:r>
          </a:p>
          <a:p xmlns:a="http://schemas.openxmlformats.org/drawingml/2006/main">
            <a:pPr algn="l">
              <a:defRPr sz="1650" b="0" i="0">
                <a:solidFill>
                  <a:srgbClr val="475569"/>
                </a:solidFill>
              </a:defRPr>
            </a:pPr>
            <a:r>
              <a:rPr sz="1650" b="0" i="0">
                <a:solidFill>
                  <a:srgbClr val="475569"/>
                </a:solidFill>
              </a:rPr>
              <a:t>用确定性工具执行</a:t>
            </a:r>
          </a:p>
          <a:p xmlns:a="http://schemas.openxmlformats.org/drawingml/2006/main">
            <a:pPr algn="l">
              <a:defRPr sz="1650" b="0" i="0">
                <a:solidFill>
                  <a:srgbClr val="475569"/>
                </a:solidFill>
              </a:defRPr>
            </a:pPr>
            <a:r>
              <a:rPr sz="1650" b="0" i="0">
                <a:solidFill>
                  <a:srgbClr val="475569"/>
                </a:solidFill>
              </a:rPr>
              <a:t>校验结果和表达层</a:t>
            </a:r>
          </a:p>
          <a:p xmlns:a="http://schemas.openxmlformats.org/drawingml/2006/main">
            <a:pPr algn="l">
              <a:defRPr sz="1650" b="0" i="0">
                <a:solidFill>
                  <a:srgbClr val="475569"/>
                </a:solidFill>
              </a:defRPr>
            </a:pPr>
            <a:r>
              <a:rPr sz="1650" b="0" i="0">
                <a:solidFill>
                  <a:srgbClr val="475569"/>
                </a:solidFill>
              </a:rPr>
              <a:t>基于 evidence pack 解释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A612AD-B155-4456-B042-7ACF81DF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857500"/>
            <a:ext cx="1143000" cy="666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11B7EF-AA93-4647-8118-D630E603D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448300"/>
            <a:ext cx="9105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7212B"/>
                </a:solidFill>
              </a:defRPr>
            </a:pPr>
            <a:r>
              <a:rPr sz="1725" b="1" i="0">
                <a:solidFill>
                  <a:srgbClr val="17212B"/>
                </a:solidFill>
              </a:rPr>
              <a:t>Agent 的价值不是替代分析方法，而是把分析方法组织成可审阅、可追踪、可复现的流程。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C1CB6D-7BE8-4328-8C4C-00F13FF1D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EC1E78-3FEC-412D-8A42-00EB0419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 i="0">
                <a:solidFill>
                  <a:srgbClr val="475569"/>
                </a:solidFill>
              </a:defRPr>
            </a:pPr>
            <a:r>
              <a:rPr sz="788" b="0" i="0">
                <a:solidFill>
                  <a:srgbClr val="475569"/>
                </a:solidFill>
              </a:rPr>
              <a:t>Design goal of SpatialScope Agent.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D99058-BF45-4818-ADCE-B4EC9FC8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59817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E2438F-F679-46A1-BA6D-04DAE3C3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LANGGRAPH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BFF37-CCC1-419D-AF53-E2B69891C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212B"/>
                </a:solidFill>
              </a:defRPr>
            </a:pPr>
            <a:r>
              <a:rPr sz="2550" b="1" i="0">
                <a:solidFill>
                  <a:srgbClr val="17212B"/>
                </a:solidFill>
              </a:rPr>
              <a:t>SpatialScope Agent 架构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B37D38-DF0C-4A12-9C9D-0049B30C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1603375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输入与检查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F44BE2-ED20-404F-A979-20B204025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6375" y="2381250"/>
            <a:ext cx="1603375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任务解析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AE35C7-DBAE-4B4B-898D-43528EAE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381250"/>
            <a:ext cx="1603375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方案审阅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C76294-6FFA-431C-A017-F1E80D6D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381250"/>
            <a:ext cx="1603375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工具执行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26F63A-9237-4976-9DE3-F8032A18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2250" y="2381250"/>
            <a:ext cx="1603375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校验修复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1AD6B9-7DD9-4F51-91EB-89E1AD315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875" y="2381250"/>
            <a:ext cx="1603375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证据报告</a:t>
            </a:r>
          </a:p>
        </p:txBody>
      </p:sp>
      <p:cxnSp>
        <p:nvCxnSpPr>
          <p:cNvPr id="35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651125" y="27432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36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349750" y="27432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37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048375" y="27432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38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747000" y="27432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39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445625" y="27432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8B3F99-851B-4788-8B0A-FEB2BD5F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409700"/>
            <a:ext cx="4000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116B56-EF32-4ED6-B1E6-DD157B08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58115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76C9E"/>
                </a:solidFill>
              </a:defRPr>
            </a:pPr>
            <a:r>
              <a:rPr sz="1350" b="1" i="0">
                <a:solidFill>
                  <a:srgbClr val="276C9E"/>
                </a:solidFill>
              </a:rPr>
              <a:t>LLM sidecar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525E1A-B7B1-4925-B0C1-FA9603EE5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933575"/>
            <a:ext cx="361950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475569"/>
                </a:solidFill>
              </a:defRPr>
            </a:pPr>
            <a:r>
              <a:rPr sz="1275" b="0" i="0">
                <a:solidFill>
                  <a:srgbClr val="475569"/>
                </a:solidFill>
              </a:rPr>
              <a:t>理解问题、补全计划、解释 evidence pack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9E48E4-6E87-4774-A6E1-9FCED7F52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09700"/>
            <a:ext cx="4000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BC99A8-AC0A-4A8B-82EA-4DDB175E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8115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475569"/>
                </a:solidFill>
              </a:defRPr>
            </a:pPr>
            <a:r>
              <a:rPr sz="1350" b="1" i="0">
                <a:solidFill>
                  <a:srgbClr val="475569"/>
                </a:solidFill>
              </a:rPr>
              <a:t>状态与证据层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6334F0-CBFF-49B3-A94E-2A341C2F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33575"/>
            <a:ext cx="361950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475569"/>
                </a:solidFill>
              </a:defRPr>
            </a:pPr>
            <a:r>
              <a:rPr sz="1275" b="0" i="0">
                <a:solidFill>
                  <a:srgbClr val="475569"/>
                </a:solidFill>
              </a:rPr>
              <a:t>trace、metadata、parameters、evidence IDs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D0DC46-0243-415D-B08E-E487B66A3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33800"/>
            <a:ext cx="4000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640135-4F8E-4222-8FBD-B821AA15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0525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8A5A12"/>
                </a:solidFill>
              </a:defRPr>
            </a:pPr>
            <a:r>
              <a:rPr sz="1350" b="1" i="0">
                <a:solidFill>
                  <a:srgbClr val="8A5A12"/>
                </a:solidFill>
              </a:rPr>
              <a:t>确定性工具层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FE6E6D-A212-476D-800A-18B1DBC0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57675"/>
            <a:ext cx="361950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475569"/>
                </a:solidFill>
              </a:defRPr>
            </a:pPr>
            <a:r>
              <a:rPr sz="1275" b="0" i="0">
                <a:solidFill>
                  <a:srgbClr val="475569"/>
                </a:solidFill>
              </a:rPr>
              <a:t>Scanpy / AnnData / figures / tables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CA27F8-97D9-42D5-AADB-54929081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00650"/>
            <a:ext cx="941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7212B"/>
                </a:solidFill>
              </a:defRPr>
            </a:pPr>
            <a:r>
              <a:rPr sz="1725" b="1" i="0">
                <a:solidFill>
                  <a:srgbClr val="17212B"/>
                </a:solidFill>
              </a:rPr>
              <a:t>LLM 不直接读取完整表达矩阵；数值计算由工具层完成；解释必须回到 evidence pack。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5DAAE9-5093-424C-90EF-E941E7DFC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6125B9-B8A4-4A47-B6D7-423822839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 i="0">
                <a:solidFill>
                  <a:srgbClr val="475569"/>
                </a:solidFill>
              </a:defRPr>
            </a:pPr>
            <a:r>
              <a:rPr sz="788" b="0" i="0">
                <a:solidFill>
                  <a:srgbClr val="475569"/>
                </a:solidFill>
              </a:rPr>
              <a:t>SpatialScope architecture implemented with LangGraph state machine.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7C8DC8-D27D-4193-8C5A-DA65C315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616450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FED43E-DF68-4F1D-8605-67968748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TOOL CONTRACTS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397A48-2B74-4A45-B31D-58F67FA97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212B"/>
                </a:solidFill>
              </a:defRPr>
            </a:pPr>
            <a:r>
              <a:rPr sz="2550" b="1" i="0">
                <a:solidFill>
                  <a:srgbClr val="17212B"/>
                </a:solidFill>
              </a:rPr>
              <a:t>Agent 如何映射常规流程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322868-7622-4144-9597-63306428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143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Standard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E8165A-1080-40C5-8AD3-3D4F0E59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43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Agent tool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4A0534-9796-4F7A-A557-1F5F0C8E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4287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17212B"/>
                </a:solidFill>
              </a:defRPr>
            </a:pPr>
            <a:r>
              <a:rPr sz="1275">
                <a:solidFill>
                  <a:srgbClr val="17212B"/>
                </a:solidFill>
              </a:rPr>
              <a:t>数据结构检查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645A2F-1320-4748-817D-5700C3AA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0B4F49"/>
                </a:solidFill>
              </a:defRPr>
            </a:pPr>
            <a:r>
              <a:rPr sz="1238" b="1">
                <a:solidFill>
                  <a:srgbClr val="0B4F49"/>
                </a:solidFill>
              </a:rPr>
              <a:t>inspect_dataset</a:t>
            </a:r>
          </a:p>
        </p:txBody>
      </p:sp>
      <p:cxnSp>
        <p:nvCxnSpPr>
          <p:cNvPr id="3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048250" y="16002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0888B2-D3FD-4406-B98E-D7CDFB45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9240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17212B"/>
                </a:solidFill>
              </a:defRPr>
            </a:pPr>
            <a:r>
              <a:rPr sz="1275">
                <a:solidFill>
                  <a:srgbClr val="17212B"/>
                </a:solidFill>
              </a:rPr>
              <a:t>QC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3D13AE-604F-4C0C-8570-32ACB5F3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240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0B4F49"/>
                </a:solidFill>
              </a:defRPr>
            </a:pPr>
            <a:r>
              <a:rPr sz="1238" b="1">
                <a:solidFill>
                  <a:srgbClr val="0B4F49"/>
                </a:solidFill>
              </a:rPr>
              <a:t>quality_control</a:t>
            </a:r>
          </a:p>
        </p:txBody>
      </p:sp>
      <p:cxnSp>
        <p:nvCxnSpPr>
          <p:cNvPr id="41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048250" y="20955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A3F130-DEDB-47D1-8A08-36CDFD36D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4193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17212B"/>
                </a:solidFill>
              </a:defRPr>
            </a:pPr>
            <a:r>
              <a:rPr sz="1275">
                <a:solidFill>
                  <a:srgbClr val="17212B"/>
                </a:solidFill>
              </a:rPr>
              <a:t>normalization / log1p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1C2843-A099-4103-84F6-AB6115F6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193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0B4F49"/>
                </a:solidFill>
              </a:defRPr>
            </a:pPr>
            <a:r>
              <a:rPr sz="1238" b="1">
                <a:solidFill>
                  <a:srgbClr val="0B4F49"/>
                </a:solidFill>
              </a:rPr>
              <a:t>preprocess</a:t>
            </a:r>
          </a:p>
        </p:txBody>
      </p:sp>
      <p:cxnSp>
        <p:nvCxnSpPr>
          <p:cNvPr id="44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048250" y="25908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E8D26B-C703-4B5A-ACC7-F4207BA6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146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17212B"/>
                </a:solidFill>
              </a:defRPr>
            </a:pPr>
            <a:r>
              <a:rPr sz="1275">
                <a:solidFill>
                  <a:srgbClr val="17212B"/>
                </a:solidFill>
              </a:rPr>
              <a:t>PCA / UMAP / Leiden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4F80E3-28EB-478E-8E18-6576AFFB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146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0B4F49"/>
                </a:solidFill>
              </a:defRPr>
            </a:pPr>
            <a:r>
              <a:rPr sz="1238" b="1">
                <a:solidFill>
                  <a:srgbClr val="0B4F49"/>
                </a:solidFill>
              </a:rPr>
              <a:t>cluster</a:t>
            </a:r>
          </a:p>
        </p:txBody>
      </p:sp>
      <p:cxnSp>
        <p:nvCxnSpPr>
          <p:cNvPr id="47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048250" y="30861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EEEACC-C15D-4009-A756-EC445D33D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099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17212B"/>
                </a:solidFill>
              </a:defRPr>
            </a:pPr>
            <a:r>
              <a:rPr sz="1275">
                <a:solidFill>
                  <a:srgbClr val="17212B"/>
                </a:solidFill>
              </a:rPr>
              <a:t>空间结构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3AC0C0-666E-4902-B530-FB61D2A5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099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0B4F49"/>
                </a:solidFill>
              </a:defRPr>
            </a:pPr>
            <a:r>
              <a:rPr sz="1238" b="1">
                <a:solidFill>
                  <a:srgbClr val="0B4F49"/>
                </a:solidFill>
              </a:rPr>
              <a:t>spatial_plot</a:t>
            </a:r>
          </a:p>
        </p:txBody>
      </p:sp>
      <p:cxnSp>
        <p:nvCxnSpPr>
          <p:cNvPr id="50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5048250" y="35814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F909E4-7241-4737-91AA-328A949A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052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17212B"/>
                </a:solidFill>
              </a:defRPr>
            </a:pPr>
            <a:r>
              <a:rPr sz="1275">
                <a:solidFill>
                  <a:srgbClr val="17212B"/>
                </a:solidFill>
              </a:rPr>
              <a:t>基因空间表达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089A61-0AEF-4604-8D98-EBD13BA8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052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0B4F49"/>
                </a:solidFill>
              </a:defRPr>
            </a:pPr>
            <a:r>
              <a:rPr sz="1238" b="1">
                <a:solidFill>
                  <a:srgbClr val="0B4F49"/>
                </a:solidFill>
              </a:rPr>
              <a:t>gene_panel</a:t>
            </a:r>
          </a:p>
        </p:txBody>
      </p:sp>
      <p:cxnSp>
        <p:nvCxnSpPr>
          <p:cNvPr id="53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5048250" y="40767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DE1B9E-C3B4-461E-86B5-45BD7A98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005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17212B"/>
                </a:solidFill>
              </a:defRPr>
            </a:pPr>
            <a:r>
              <a:rPr sz="1275">
                <a:solidFill>
                  <a:srgbClr val="17212B"/>
                </a:solidFill>
              </a:rPr>
              <a:t>marker gene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07AEF6-655F-467D-A537-6DC1F9BE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005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0B4F49"/>
                </a:solidFill>
              </a:defRPr>
            </a:pPr>
            <a:r>
              <a:rPr sz="1238" b="1">
                <a:solidFill>
                  <a:srgbClr val="0B4F49"/>
                </a:solidFill>
              </a:rPr>
              <a:t>rank_markers</a:t>
            </a:r>
          </a:p>
        </p:txBody>
      </p:sp>
      <p:cxnSp>
        <p:nvCxnSpPr>
          <p:cNvPr id="56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048250" y="45720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A9C1E1-9FB8-4CAF-BC4D-2FAB9DB4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958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17212B"/>
                </a:solidFill>
              </a:defRPr>
            </a:pPr>
            <a:r>
              <a:rPr sz="1275">
                <a:solidFill>
                  <a:srgbClr val="17212B"/>
                </a:solidFill>
              </a:rPr>
              <a:t>证据报告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E0BCF8-FCE5-42B3-9D22-07E8D73C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958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0B4F49"/>
                </a:solidFill>
              </a:defRPr>
            </a:pPr>
            <a:r>
              <a:rPr sz="1238" b="1">
                <a:solidFill>
                  <a:srgbClr val="0B4F49"/>
                </a:solidFill>
              </a:rPr>
              <a:t>interpret / report</a:t>
            </a:r>
          </a:p>
        </p:txBody>
      </p:sp>
      <p:cxnSp>
        <p:nvCxnSpPr>
          <p:cNvPr id="59" name=""/>
          <p:cNvCxnSpPr>
            <a:stCxn xmlns:a="http://schemas.openxmlformats.org/drawingml/2006/main" id="26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5048250" y="50673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E22859-9D93-4C60-A59E-36E2A405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630BB1-15AC-45A0-ABD1-C500C886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 i="0">
                <a:solidFill>
                  <a:srgbClr val="475569"/>
                </a:solidFill>
              </a:defRPr>
            </a:pPr>
            <a:r>
              <a:rPr sz="788" b="0" i="0">
                <a:solidFill>
                  <a:srgbClr val="475569"/>
                </a:solidFill>
              </a:rPr>
              <a:t>SpatialScope tool contracts map standard workflow steps into executable nodes.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5D5F9E-6805-4A8A-BBBD-D0CE45E75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807421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EFF5C9-7C81-4026-A494-D093472E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PRODUCT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67AC8E-A9E7-4846-8DD4-F0FB248DE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212B"/>
                </a:solidFill>
              </a:defRPr>
            </a:pPr>
            <a:r>
              <a:rPr sz="2550" b="1" i="0">
                <a:solidFill>
                  <a:srgbClr val="17212B"/>
                </a:solidFill>
              </a:rPr>
              <a:t>浏览器产品流程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cf03e6c7e45ea"/>
          <a:srcRect xmlns:a="http://schemas.openxmlformats.org/drawingml/2006/main" l="0" t="17059" r="0" b="170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0100" y="1447800"/>
            <a:ext cx="485775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94a15ad5ad4753"/>
          <a:srcRect xmlns:a="http://schemas.openxmlformats.org/drawingml/2006/main" l="0" t="17059" r="0" b="170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4150" y="1447800"/>
            <a:ext cx="485775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1e69e9fe954151"/>
          <a:srcRect xmlns:a="http://schemas.openxmlformats.org/drawingml/2006/main" l="0" t="17059" r="0" b="170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0100" y="3905250"/>
            <a:ext cx="485775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c7d4349ab44db8"/>
          <a:srcRect xmlns:a="http://schemas.openxmlformats.org/drawingml/2006/main" l="0" t="17059" r="0" b="170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4150" y="3905250"/>
            <a:ext cx="485775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751E17-ACA4-416B-ADB6-79832AE6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2001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0F766E"/>
                </a:solidFill>
              </a:defRPr>
            </a:pPr>
            <a:r>
              <a:rPr sz="863" b="1">
                <a:solidFill>
                  <a:srgbClr val="0F766E"/>
                </a:solidFill>
              </a:rPr>
              <a:t>Project: 数据 + 问题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57DB74-42DC-4343-B6D4-DB426398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2001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0F766E"/>
                </a:solidFill>
              </a:defRPr>
            </a:pPr>
            <a:r>
              <a:rPr sz="863" b="1">
                <a:solidFill>
                  <a:srgbClr val="0F766E"/>
                </a:solidFill>
              </a:rPr>
              <a:t>Run: live events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0E9CAC-DE84-442E-B658-A1E7A8274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57600"/>
            <a:ext cx="1809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0F766E"/>
                </a:solidFill>
              </a:defRPr>
            </a:pPr>
            <a:r>
              <a:rPr sz="863" b="1">
                <a:solidFill>
                  <a:srgbClr val="0F766E"/>
                </a:solidFill>
              </a:rPr>
              <a:t>Explore: Spatial + UMAP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D2FD09-39FF-42AF-8207-36403125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57600"/>
            <a:ext cx="2000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0F766E"/>
                </a:solidFill>
              </a:defRPr>
            </a:pPr>
            <a:r>
              <a:rPr sz="863" b="1">
                <a:solidFill>
                  <a:srgbClr val="0F766E"/>
                </a:solidFill>
              </a:rPr>
              <a:t>Report: evidence + caveats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07DE7-078D-4097-9909-F6FE9F880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CCC451-BBD2-4E5E-BC9E-773146CF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 i="0">
                <a:solidFill>
                  <a:srgbClr val="475569"/>
                </a:solidFill>
              </a:defRPr>
            </a:pPr>
            <a:r>
              <a:rPr sz="788" b="0" i="0">
                <a:solidFill>
                  <a:srgbClr val="475569"/>
                </a:solidFill>
              </a:rPr>
              <a:t>Browser-visible workflow in Streamlit.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E904B0-97C5-44C0-B9F9-880340A4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647061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BBE295-7C3B-42DC-A599-493F0C8EC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LIVE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996080-4D98-494F-ADD3-E4E80FDC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212B"/>
                </a:solidFill>
              </a:defRPr>
            </a:pPr>
            <a:r>
              <a:rPr sz="2550" b="1" i="0">
                <a:solidFill>
                  <a:srgbClr val="17212B"/>
                </a:solidFill>
              </a:rPr>
              <a:t>课堂 demo 怎么讲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08DFE7-9A78-46DF-9956-0ACC6EC2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7212B"/>
                </a:solidFill>
              </a:defRPr>
            </a:pPr>
            <a:r>
              <a:rPr sz="1163" b="1">
                <a:solidFill>
                  <a:srgbClr val="17212B"/>
                </a:solidFill>
              </a:rPr>
              <a:t>打开 app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23ABD2-D9AC-4432-A82B-73A60E74D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48590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7212B"/>
                </a:solidFill>
              </a:defRPr>
            </a:pPr>
            <a:r>
              <a:rPr sz="1163" b="1">
                <a:solidFill>
                  <a:srgbClr val="17212B"/>
                </a:solidFill>
              </a:rPr>
              <a:t>使用胚胎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FA9659-A291-47C9-88FD-C700F099B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8590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7212B"/>
                </a:solidFill>
              </a:defRPr>
            </a:pPr>
            <a:r>
              <a:rPr sz="1163" b="1">
                <a:solidFill>
                  <a:srgbClr val="17212B"/>
                </a:solidFill>
              </a:rPr>
              <a:t>生成方案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CCE05-63B2-4D3A-8C51-D64CA22C5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48590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7212B"/>
                </a:solidFill>
              </a:defRPr>
            </a:pPr>
            <a:r>
              <a:rPr sz="1163" b="1">
                <a:solidFill>
                  <a:srgbClr val="17212B"/>
                </a:solidFill>
              </a:rPr>
              <a:t>批准运行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297168-D9B9-4C66-A387-F98C2125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8590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7212B"/>
                </a:solidFill>
              </a:defRPr>
            </a:pPr>
            <a:r>
              <a:rPr sz="1163" b="1">
                <a:solidFill>
                  <a:srgbClr val="17212B"/>
                </a:solidFill>
              </a:rPr>
              <a:t>Explore 提问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DCD7C3-54F8-4724-B4E7-6464EDBE8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148590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7212B"/>
                </a:solidFill>
              </a:defRPr>
            </a:pPr>
            <a:r>
              <a:rPr sz="1163" b="1">
                <a:solidFill>
                  <a:srgbClr val="17212B"/>
                </a:solidFill>
              </a:rPr>
              <a:t>Report 复核</a:t>
            </a:r>
          </a:p>
        </p:txBody>
      </p:sp>
      <p:cxnSp>
        <p:nvCxnSpPr>
          <p:cNvPr id="38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524125" y="18288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3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286250" y="18288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4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048375" y="18288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4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810500" y="18288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4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572625" y="1828800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5EC455-81E4-4466-AB50-23994DD1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7815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B18D6F-799F-40BD-BB83-D12E14FB7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57500"/>
            <a:ext cx="440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讲数据卡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7B172E-564C-4C23-9B29-B8998433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09925"/>
            <a:ext cx="4400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475569"/>
                </a:solidFill>
              </a:defRPr>
            </a:pPr>
            <a:r>
              <a:rPr sz="1350" b="0" i="0">
                <a:solidFill>
                  <a:srgbClr val="475569"/>
                </a:solidFill>
              </a:rPr>
              <a:t>240 spots · 80 genes · spatial coordinates · count-like expression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2F42AF-F716-4AE4-9F84-E9B88B85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47815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549DE5-5060-4F1B-B197-2FE8E1B29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857500"/>
            <a:ext cx="440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讲计划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96B810-5278-4F07-A945-78DDC8185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09925"/>
            <a:ext cx="4400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475569"/>
                </a:solidFill>
              </a:defRPr>
            </a:pPr>
            <a:r>
              <a:rPr sz="1350" b="0" i="0">
                <a:solidFill>
                  <a:srgbClr val="475569"/>
                </a:solidFill>
              </a:rPr>
              <a:t>QC -&gt; preprocess -&gt; PCA/UMAP/Leiden -&gt; spatial plot -&gt; gene panel -&gt; marker ranking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3957B4-8185-42F7-80AC-77C0B818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19550"/>
            <a:ext cx="47815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266ABE-756D-4EB7-BCA0-44AF8DA10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91000"/>
            <a:ext cx="440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76C9E"/>
                </a:solidFill>
              </a:defRPr>
            </a:pPr>
            <a:r>
              <a:rPr sz="1350" b="1" i="0">
                <a:solidFill>
                  <a:srgbClr val="276C9E"/>
                </a:solidFill>
              </a:rPr>
              <a:t>Copilot question 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DCB2AE-1D1D-4259-8FE6-B5B6DEA7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43425"/>
            <a:ext cx="44005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475569"/>
                </a:solidFill>
              </a:defRPr>
            </a:pPr>
            <a:r>
              <a:rPr sz="1425" b="0" i="0">
                <a:solidFill>
                  <a:srgbClr val="475569"/>
                </a:solidFill>
              </a:rPr>
              <a:t>哪个 cluster 的 Sox17 平均表达最高？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0BF936-87A0-42F3-95D6-CD3675849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19550"/>
            <a:ext cx="47815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0F829A-55E5-4C10-9EB1-AEB07CCB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191000"/>
            <a:ext cx="440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76C9E"/>
                </a:solidFill>
              </a:defRPr>
            </a:pPr>
            <a:r>
              <a:rPr sz="1350" b="1" i="0">
                <a:solidFill>
                  <a:srgbClr val="276C9E"/>
                </a:solidFill>
              </a:rPr>
              <a:t>Copilot question 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7F07F8-BE1B-4B4E-AEF2-2AA84B27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43425"/>
            <a:ext cx="44005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475569"/>
                </a:solidFill>
              </a:defRPr>
            </a:pPr>
            <a:r>
              <a:rPr sz="1350" b="0" i="0">
                <a:solidFill>
                  <a:srgbClr val="475569"/>
                </a:solidFill>
              </a:rPr>
              <a:t>Pou5f1 的表达是否更像集中在某些 cluster？请给出证据和局限。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FDA95D-A7BD-490B-8F4E-44F61C562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948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7212B"/>
                </a:solidFill>
              </a:defRPr>
            </a:pPr>
            <a:r>
              <a:rPr sz="1650" b="1" i="0">
                <a:solidFill>
                  <a:srgbClr val="17212B"/>
                </a:solidFill>
              </a:rPr>
              <a:t>每一步都对应前面讲过的标准分析流程，而不是只演示按钮。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7FE3D5-7BCF-4320-A59A-F3B1DFCB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8C3E3E-FAC6-43D5-B0C7-3AC6098D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 i="0">
                <a:solidFill>
                  <a:srgbClr val="475569"/>
                </a:solidFill>
              </a:defRPr>
            </a:pPr>
            <a:r>
              <a:rPr sz="788" b="0" i="0">
                <a:solidFill>
                  <a:srgbClr val="475569"/>
                </a:solidFill>
              </a:rPr>
              <a:t>Live app: https://spatialscope-seu.streamlit.app/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3C4663-973E-408F-BE63-CAF0BCC4E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9184011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B3DF7A-6F31-48DE-9FB6-CF8E295B4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REAL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592DD9-7144-4696-B613-A6C68A88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212B"/>
                </a:solidFill>
              </a:defRPr>
            </a:pPr>
            <a:r>
              <a:rPr sz="2550" b="1" i="0">
                <a:solidFill>
                  <a:srgbClr val="17212B"/>
                </a:solidFill>
              </a:rPr>
              <a:t>真实数据验证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20E541-8648-4F18-92AF-34B4C128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3619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F6395D-F897-4BB8-AA5E-7BAB2D7CB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954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GSE278603 E7.5 mouse embryo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72C9AB-4BBB-4E92-9D23-E9EE9576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47875"/>
            <a:ext cx="3238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475569"/>
                </a:solidFill>
              </a:defRPr>
            </a:pPr>
            <a:r>
              <a:rPr sz="1425" b="0" i="0">
                <a:solidFill>
                  <a:srgbClr val="475569"/>
                </a:solidFill>
              </a:rPr>
              <a:t>GSM9046244_Embryo_E7.5_stereo_rep2.h5ad</a:t>
            </a:r>
          </a:p>
          <a:p xmlns:a="http://schemas.openxmlformats.org/drawingml/2006/main">
            <a:pPr algn="l">
              <a:defRPr sz="1425" b="0" i="0">
                <a:solidFill>
                  <a:srgbClr val="475569"/>
                </a:solidFill>
              </a:defRPr>
            </a:pPr>
            <a:r>
              <a:rPr sz="1425" b="0" i="0">
                <a:solidFill>
                  <a:srgbClr val="475569"/>
                </a:solidFill>
              </a:rPr>
              <a:t>8190 spots · 16364 genes</a:t>
            </a:r>
          </a:p>
          <a:p xmlns:a="http://schemas.openxmlformats.org/drawingml/2006/main">
            <a:pPr algn="l">
              <a:defRPr sz="1425" b="0" i="0">
                <a:solidFill>
                  <a:srgbClr val="475569"/>
                </a:solidFill>
              </a:defRPr>
            </a:pPr>
            <a:r>
              <a:rPr sz="1425" b="0" i="0">
                <a:solidFill>
                  <a:srgbClr val="475569"/>
                </a:solidFill>
              </a:rPr>
              <a:t>X_spatial -&gt; spatial</a:t>
            </a:r>
          </a:p>
          <a:p xmlns:a="http://schemas.openxmlformats.org/drawingml/2006/main">
            <a:pPr algn="l">
              <a:defRPr sz="1425" b="0" i="0">
                <a:solidFill>
                  <a:srgbClr val="475569"/>
                </a:solidFill>
              </a:defRPr>
            </a:pPr>
            <a:r>
              <a:rPr sz="1425" b="0" i="0">
                <a:solidFill>
                  <a:srgbClr val="475569"/>
                </a:solidFill>
              </a:rPr>
              <a:t>7 Leiden clusters · 0 warnings · 0 errors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0d1b6b8f1246f8"/>
          <a:stretch xmlns:a="http://schemas.openxmlformats.org/drawingml/2006/main"/>
        </p:blipFill>
        <p:spPr>
          <a:xfrm xmlns:a="http://schemas.openxmlformats.org/drawingml/2006/main">
            <a:off x="4868130" y="1428750"/>
            <a:ext cx="2741490" cy="2190750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b3e4a2828f4b88"/>
          <a:stretch xmlns:a="http://schemas.openxmlformats.org/drawingml/2006/main"/>
        </p:blipFill>
        <p:spPr>
          <a:xfrm xmlns:a="http://schemas.openxmlformats.org/drawingml/2006/main">
            <a:off x="8096250" y="1612983"/>
            <a:ext cx="2952750" cy="1822284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5c3ca28af14356"/>
          <a:stretch xmlns:a="http://schemas.openxmlformats.org/drawingml/2006/main"/>
        </p:blipFill>
        <p:spPr>
          <a:xfrm xmlns:a="http://schemas.openxmlformats.org/drawingml/2006/main">
            <a:off x="6652289" y="4000500"/>
            <a:ext cx="2506922" cy="1657350"/>
          </a:xfrm>
          <a:prstGeom xmlns:a="http://schemas.openxmlformats.org/drawingml/2006/main" prst="roundRect">
            <a:avLst>
              <a:gd name="adj" fmla="val 6897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2A97C2-FEA6-4C62-A959-F6548614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323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212B"/>
                </a:solidFill>
              </a:defRPr>
            </a:pPr>
            <a:r>
              <a:rPr sz="1575" b="1" i="0">
                <a:solidFill>
                  <a:srgbClr val="17212B"/>
                </a:solidFill>
              </a:rPr>
              <a:t>真实数据验证证明系统能处理真实 AnnData、真实坐标字段和更复杂的表达层状态。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B7D12E-4885-4E32-B238-979AC4CF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52F1BC-2DDF-4E9F-AE64-98E2C0A1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 i="0">
                <a:solidFill>
                  <a:srgbClr val="475569"/>
                </a:solidFill>
              </a:defRPr>
            </a:pPr>
            <a:r>
              <a:rPr sz="788" b="0" i="0">
                <a:solidFill>
                  <a:srgbClr val="475569"/>
                </a:solidFill>
              </a:rPr>
              <a:t>Real data source: NCBI GEO GSE278603; quick run generated locally.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EEDC6D-3849-4B36-A616-BB36AD9FC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2696036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4107BE-C8CF-42E0-8244-7602A23C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RESEARCH USE CASES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59B02B-8759-4324-B479-340823140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212B"/>
                </a:solidFill>
              </a:defRPr>
            </a:pPr>
            <a:r>
              <a:rPr sz="2550" b="1" i="0">
                <a:solidFill>
                  <a:srgbClr val="17212B"/>
                </a:solidFill>
              </a:rPr>
              <a:t>面向真实科研场景的应用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9FE1A5-6ECE-4A38-A16F-F15DD7AA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E58C29-F15B-42A0-B6DA-DC2BD407E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526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发育生物学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65BF07-F157-4BF4-A24C-065D0B79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05025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475569"/>
                </a:solidFill>
              </a:defRPr>
            </a:pPr>
            <a:r>
              <a:rPr sz="1275" b="0" i="0">
                <a:solidFill>
                  <a:srgbClr val="475569"/>
                </a:solidFill>
              </a:rPr>
              <a:t>比较胚胎阶段空间区域</a:t>
            </a:r>
          </a:p>
          <a:p xmlns:a="http://schemas.openxmlformats.org/drawingml/2006/main">
            <a:pPr algn="l">
              <a:defRPr sz="1275" b="0" i="0">
                <a:solidFill>
                  <a:srgbClr val="475569"/>
                </a:solidFill>
              </a:defRPr>
            </a:pPr>
            <a:r>
              <a:rPr sz="1275" b="0" i="0">
                <a:solidFill>
                  <a:srgbClr val="475569"/>
                </a:solidFill>
              </a:rPr>
              <a:t>查看 Sox17、T、Mesp1 等基因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70706D-97B6-4E96-9D3E-DC2916862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9E79A6-6A7C-4483-8369-16DC86327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7526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肿瘤微环境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A960AD-B791-4235-ACEF-174DB9B7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105025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475569"/>
                </a:solidFill>
              </a:defRPr>
            </a:pPr>
            <a:r>
              <a:rPr sz="1275" b="0" i="0">
                <a:solidFill>
                  <a:srgbClr val="475569"/>
                </a:solidFill>
              </a:rPr>
              <a:t>识别 tumor / immune / stromal regions</a:t>
            </a:r>
          </a:p>
          <a:p xmlns:a="http://schemas.openxmlformats.org/drawingml/2006/main">
            <a:pPr algn="l">
              <a:defRPr sz="1275" b="0" i="0">
                <a:solidFill>
                  <a:srgbClr val="475569"/>
                </a:solidFill>
              </a:defRPr>
            </a:pPr>
            <a:r>
              <a:rPr sz="1275" b="0" i="0">
                <a:solidFill>
                  <a:srgbClr val="475569"/>
                </a:solidFill>
              </a:rPr>
              <a:t>分析 marker 与邻域富集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2E97CB-1174-4CB3-B0D1-9AB3E05E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BDEDBA-BBC8-4C26-9C17-B557B4BF6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526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病理切片探索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C0AF17-2DEF-4F8D-AB13-4177CCF89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05025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475569"/>
                </a:solidFill>
              </a:defRPr>
            </a:pPr>
            <a:r>
              <a:rPr sz="1275" b="0" i="0">
                <a:solidFill>
                  <a:srgbClr val="475569"/>
                </a:solidFill>
              </a:rPr>
              <a:t>整合组织结构、空间表达和 cluster</a:t>
            </a:r>
          </a:p>
          <a:p xmlns:a="http://schemas.openxmlformats.org/drawingml/2006/main">
            <a:pPr algn="l">
              <a:defRPr sz="1275" b="0" i="0">
                <a:solidFill>
                  <a:srgbClr val="475569"/>
                </a:solidFill>
              </a:defRPr>
            </a:pPr>
            <a:r>
              <a:rPr sz="1275" b="0" i="0">
                <a:solidFill>
                  <a:srgbClr val="475569"/>
                </a:solidFill>
              </a:rPr>
              <a:t>支持初步探索与复核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73AF85-FA50-4C76-B054-A100034B5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581150"/>
            <a:ext cx="22860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42BC1D-9477-4D81-AA0D-16083341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526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教学与复现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370B1D-50BA-4379-9909-3C5457E2C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105025"/>
            <a:ext cx="190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475569"/>
                </a:solidFill>
              </a:defRPr>
            </a:pPr>
            <a:r>
              <a:rPr sz="1275" b="0" i="0">
                <a:solidFill>
                  <a:srgbClr val="475569"/>
                </a:solidFill>
              </a:rPr>
              <a:t>自然语言提出问题</a:t>
            </a:r>
          </a:p>
          <a:p xmlns:a="http://schemas.openxmlformats.org/drawingml/2006/main">
            <a:pPr algn="l">
              <a:defRPr sz="1275" b="0" i="0">
                <a:solidFill>
                  <a:srgbClr val="475569"/>
                </a:solidFill>
              </a:defRPr>
            </a:pPr>
            <a:r>
              <a:rPr sz="1275" b="0" i="0">
                <a:solidFill>
                  <a:srgbClr val="475569"/>
                </a:solidFill>
              </a:rPr>
              <a:t>自动生成计划、图表、报告和 trace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CB17EC-26ED-47CB-804E-4C2A89ED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10000"/>
            <a:ext cx="7810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C48816-5530-4124-B845-EDB91EFEA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814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8A5A12"/>
                </a:solidFill>
              </a:defRPr>
            </a:pPr>
            <a:r>
              <a:rPr sz="1350" b="1" i="0">
                <a:solidFill>
                  <a:srgbClr val="8A5A12"/>
                </a:solidFill>
              </a:rPr>
              <a:t>边界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56740E-FC1D-4137-9170-988809792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33387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475569"/>
                </a:solidFill>
              </a:defRPr>
            </a:pPr>
            <a:r>
              <a:rPr sz="1500" b="0" i="0">
                <a:solidFill>
                  <a:srgbClr val="475569"/>
                </a:solidFill>
              </a:rPr>
              <a:t>不能替代专家注释；不能把 marker ranking 当作机制证明；大型真实数据需要更强计算后端。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775CBD-8F4A-43C1-B3BB-0D00A9C26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334000"/>
            <a:ext cx="941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7212B"/>
                </a:solidFill>
              </a:defRPr>
            </a:pPr>
            <a:r>
              <a:rPr sz="1650" b="1" i="0">
                <a:solidFill>
                  <a:srgbClr val="17212B"/>
                </a:solidFill>
              </a:rPr>
              <a:t>定位：真实科研中的 exploratory analysis workspace，让研究者更快进入问题，同时保留证据和可复核性。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2B4A65-227B-4FB2-AA7D-6C3E7058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D031AB-82FC-4F9C-A60E-CF8935A4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 i="0">
                <a:solidFill>
                  <a:srgbClr val="475569"/>
                </a:solidFill>
              </a:defRPr>
            </a:pPr>
            <a:r>
              <a:rPr sz="788" b="0" i="0">
                <a:solidFill>
                  <a:srgbClr val="475569"/>
                </a:solidFill>
              </a:rPr>
              <a:t>Application scenarios derived from common spatial transcriptomics research use cases.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D5D6AF-E231-4CB6-8187-E79241F81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546406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fe8ab049914e01"/>
          <a:stretch xmlns:a="http://schemas.openxmlformats.org/drawingml/2006/main"/>
        </p:blipFill>
        <p:spPr>
          <a:xfrm xmlns:a="http://schemas.openxmlformats.org/drawingml/2006/main">
            <a:off x="742950" y="533400"/>
            <a:ext cx="666750" cy="666750"/>
          </a:xfrm>
          <a:prstGeom xmlns:a="http://schemas.openxmlformats.org/drawingml/2006/main" prst="roundRect">
            <a:avLst>
              <a:gd name="adj" fmla="val 11429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5C58BD-BD0D-45DF-9290-BF79BB745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0550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7212B"/>
                </a:solidFill>
              </a:defRPr>
            </a:pPr>
            <a:r>
              <a:rPr sz="3150" b="1" i="0">
                <a:solidFill>
                  <a:srgbClr val="17212B"/>
                </a:solidFill>
              </a:rPr>
              <a:t>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1B171E-F1A3-4B1A-A547-0D8354980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95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D3B45E-4837-48DD-AA35-47AAAB12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619250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212B"/>
                </a:solidFill>
              </a:defRPr>
            </a:pPr>
            <a:r>
              <a:rPr sz="1800" b="0" i="0">
                <a:solidFill>
                  <a:srgbClr val="17212B"/>
                </a:solidFill>
              </a:rPr>
              <a:t>理解空间转录组数据结构和标准分析流程是项目基础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06CE5B-640E-49A3-AB91-9F0DBB1CB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47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B94A92-FAE8-4EF6-8CD0-630439DD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71700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212B"/>
                </a:solidFill>
              </a:defRPr>
            </a:pPr>
            <a:r>
              <a:rPr sz="1800" b="0" i="0">
                <a:solidFill>
                  <a:srgbClr val="17212B"/>
                </a:solidFill>
              </a:rPr>
              <a:t>SpatialScope 将流程转化为 LangGraph Agent，支持计划、执行、校验、修复和报告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103529-F17F-414B-AEAC-8855E56A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9B1B2A-9B2F-4960-AAAD-614B5E535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24150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212B"/>
                </a:solidFill>
              </a:defRPr>
            </a:pPr>
            <a:r>
              <a:rPr sz="1800" b="0" i="0">
                <a:solidFill>
                  <a:srgbClr val="17212B"/>
                </a:solidFill>
              </a:rPr>
              <a:t>LLM 被限制在 evidence pack 内，用于解释和问答，而不是替代数值分析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144C18-55FD-44AD-902B-DE0E90C3C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43350"/>
            <a:ext cx="80962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BCFF35-CE57-46D9-BF26-DCC437BAC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114800"/>
            <a:ext cx="771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66E"/>
                </a:solidFill>
              </a:defRPr>
            </a:pPr>
            <a:r>
              <a:rPr sz="1350" b="1" i="0">
                <a:solidFill>
                  <a:srgbClr val="0F766E"/>
                </a:solidFill>
              </a:rPr>
              <a:t>交付与验证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839457-9B16-4E2B-B912-FA33E184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467225"/>
            <a:ext cx="7715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475569"/>
                </a:solidFill>
              </a:defRPr>
            </a:pPr>
            <a:r>
              <a:rPr sz="1650" b="0" i="0">
                <a:solidFill>
                  <a:srgbClr val="475569"/>
                </a:solidFill>
              </a:rPr>
              <a:t>GitHub repo · Streamlit app · GitHub Pages · final PDF report · 99 passed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A9FD1A-CEEF-413F-8B51-A9ADA3F7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200650"/>
            <a:ext cx="6057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475569"/>
                </a:solidFill>
              </a:defRPr>
            </a:pPr>
            <a:r>
              <a:rPr sz="1500" b="0" i="0">
                <a:solidFill>
                  <a:srgbClr val="475569"/>
                </a:solidFill>
              </a:rPr>
              <a:t>github.com/seu-yolo/spatialscope-agent</a:t>
            </a:r>
          </a:p>
          <a:p xmlns:a="http://schemas.openxmlformats.org/drawingml/2006/main">
            <a:pPr algn="ctr">
              <a:defRPr sz="1500" b="0" i="0">
                <a:solidFill>
                  <a:srgbClr val="475569"/>
                </a:solidFill>
              </a:defRPr>
            </a:pPr>
            <a:r>
              <a:rPr sz="1500" b="0" i="0">
                <a:solidFill>
                  <a:srgbClr val="475569"/>
                </a:solidFill>
              </a:rPr>
              <a:t>spatialscope-seu.streamlit.app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6819B5-FBD7-4CB5-9C38-E24FF98AA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B01EF5-A178-4419-80AE-936B96C6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219487-CE43-4FDF-9D59-329985545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31112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2026-06-25T14:42:28.7670000Z</dcterms:created>
  <dcterms:modified xsi:type="dcterms:W3CDTF">2026-06-25T14:42:28.7670000Z</dcterms:modified>
</coreProperties>
</file>